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Prompt &amp; Pray</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Galih Anggi Satriawan</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and ordinary shoppers can find and buy from, with every order landing back in the seller's chat.</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shopping is arriving. Google's UCP checkout is live in the US, started with select retailers in Australia and is in limited test in India. Indonesia has no date; there, AI discovery is live but agent checkout is not. Morgan Stanley's US scenario: US$190–385B by 2030.</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the UCP checkout API and a store link that works today without an agent, reserves stock, takes QRIS payments and holds the payout through a return window. The seller confirms and ships from WhatsApp or Telegram.</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use chat apps such as WhatsApp to sell; only 18% use marketplaces (BPS 2023, multiple answers)</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1.8%</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e-commerce businesses sell through their own website, so few have a structured catalog (BPS, 2023)</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businesses can use several channels); PYMNTS × Visa, 2026 Global Digital Shopping Index (Sep 2026, global vendor survey); Morgan Stanley, “Here Come the Shopping Bots” (US only).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Chat tools (Meta AI, cshub, Mayar) serve human buyers; we found none that builds the catalog from photos</a:t>
            </a:r>
          </a:p>
          <a:p>
            <a:pPr algn="l" marL="128016" indent="-128016">
              <a:spcAft>
                <a:spcPts val="600"/>
              </a:spcAft>
              <a:buClr>
                <a:srgbClr val="1A73E8"/>
              </a:buClr>
              <a:buFont typeface="Arial"/>
              <a:buChar char="•"/>
            </a:pPr>
            <a:r>
              <a:rPr sz="1050" b="1" i="0">
                <a:solidFill>
                  <a:srgbClr val="202124"/>
                </a:solidFill>
                <a:latin typeface="Google Sans Flex"/>
              </a:rPr>
              <a:t>Etalase serves chat sellers with no store of their own: photos to catalog, a store link, MCP and UCP</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and as a store link anyone can open</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courier rates, and a payout held until the return window ends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(or Telegram),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with Gemini, no store of your own needed</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has its own address, speaks MCP, UCP and schema.org, scores 0–100 for agent readiness, and has a store link for buyers without an agent.</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updates stock, prices and orders on WhatsApp or Telegram, and new sellers sign up in chat.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 cart of up to 10 products is reserved all or nothing; uncertain stock is confirmed with the seller before payment. 0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the payout waits out a return window, then is released minus commission. Biteship and Xendit are wired; the demo uses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Payout after the return window</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A buyer without an agent opens the store link and follows the same steps from 5. 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the return window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 UCP checkout · store link</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Gemini or any UCP / MCP client</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Telegram</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and checkout API (/ucp/v1)</a:t>
            </a:r>
          </a:p>
          <a:p>
            <a:pPr algn="l" marL="128016" indent="-128016">
              <a:spcAft>
                <a:spcPts val="400"/>
              </a:spcAft>
              <a:buClr>
                <a:srgbClr val="B06000"/>
              </a:buClr>
              <a:buFont typeface="Arial"/>
              <a:buChar char="•"/>
            </a:pPr>
            <a:r>
              <a:rPr sz="1000" b="0" i="0">
                <a:solidFill>
                  <a:srgbClr val="202124"/>
                </a:solidFill>
                <a:latin typeface="Google Sans Flex"/>
              </a:rPr>
              <a:t>schema.org data and store link</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Cloud API and Telegram Bot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One-time-code sign-in over chat</a:t>
            </a:r>
          </a:p>
          <a:p>
            <a:pPr algn="l" marL="128016" indent="-128016">
              <a:spcAft>
                <a:spcPts val="400"/>
              </a:spcAft>
              <a:buClr>
                <a:srgbClr val="5F6368"/>
              </a:buClr>
              <a:buFont typeface="Arial"/>
              <a:buChar char="•"/>
            </a:pPr>
            <a:r>
              <a:rPr sz="1000" b="0" i="0">
                <a:solidFill>
                  <a:srgbClr val="202124"/>
                </a:solidFill>
                <a:latin typeface="Google Sans Flex"/>
              </a:rPr>
              <a:t>Readiness, orders, returns,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743200"/>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templates + 3–5 charged replies per order × 1,000 orders at ~IDR 357–460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~US$160–260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Grow plan from 2 Nov 2026: Rp149,000 per month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~US$9</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Payment-platform account</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Xendit xenPlatform: Rp25,000 per active seller per month (unconfirmed)</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~US$155</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MDR 0% to Rp100k (all) or Rp500k (micro), else 0.7%; fixed gateway fee, if any,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US$350–520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5–7.6k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at 10 orders per seller, accounts included</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Break-even is about 20 orders per seller per month, so we are testing a minimum fee.</a:t>
            </a:r>
          </a:p>
        </p:txBody>
      </p:sp>
      <p:sp>
        <p:nvSpPr>
          <p:cNvPr id="136" name="TextBox 135"/>
          <p:cNvSpPr txBox="1"/>
          <p:nvPr/>
        </p:nvSpPr>
        <p:spPr>
          <a:xfrm>
            <a:off x="356616" y="4600000"/>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pricing (service and in-window utility replies charged from 1 Oct 2026 per Meta's newer page, to be re-confirmed; Indonesian rate via Qontak); Biteship and Xendit price pages (account fee unconfirmed); Bank Indonesia QRIS MDR release; Vertex AI Gemini list prices. FX: US$1 ≈ IDR 16,000. Our arithmetic; Telegram has no per-message fee.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Screenshots of the running prototype with mock payment and courier. Chat sign-up is built, the payment provider's identity check is not; the demo seller is ours. Product photos are synthetic samples.</a:t>
            </a:r>
          </a:p>
        </p:txBody>
      </p:sp>
      <p:sp>
        <p:nvSpPr>
          <p:cNvPr id="138" name="TextBox 137"/>
          <p:cNvSpPr txBox="1"/>
          <p:nvPr/>
        </p:nvSpPr>
        <p:spPr>
          <a:xfrm>
            <a:off x="356616"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Store link</a:t>
            </a:r>
          </a:p>
        </p:txBody>
      </p:sp>
      <p:sp>
        <p:nvSpPr>
          <p:cNvPr id="140" name="TextBox 139"/>
          <p:cNvSpPr txBox="1"/>
          <p:nvPr/>
        </p:nvSpPr>
        <p:spPr>
          <a:xfrm>
            <a:off x="1852808"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Product page</a:t>
            </a:r>
          </a:p>
        </p:txBody>
      </p:sp>
      <p:sp>
        <p:nvSpPr>
          <p:cNvPr id="142" name="TextBox 141"/>
          <p:cNvSpPr txBox="1"/>
          <p:nvPr/>
        </p:nvSpPr>
        <p:spPr>
          <a:xfrm>
            <a:off x="3349000" y="4370832"/>
            <a:ext cx="1267592"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Pay with QRIS</a:t>
            </a:r>
          </a:p>
        </p:txBody>
      </p:sp>
      <p:sp>
        <p:nvSpPr>
          <p:cNvPr id="147" name="Caption dashboard"/>
          <p:cNvSpPr txBox="1"/>
          <p:nvPr/>
        </p:nvSpPr>
        <p:spPr>
          <a:xfrm>
            <a:off x="4845192" y="4370832"/>
            <a:ext cx="3942191"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dashboard</a:t>
            </a:r>
          </a:p>
        </p:txBody>
      </p:sp>
      <p:pic>
        <p:nvPicPr>
          <p:cNvPr id="143" name="Screenshot Store link" descr="Store link of the Etalase prototype"/>
          <p:cNvPicPr>
            <a:picLocks noChangeAspect="1"/>
          </p:cNvPicPr>
          <p:nvPr/>
        </p:nvPicPr>
        <p:blipFill>
          <a:blip r:embed="rId5"/>
          <a:stretch>
            <a:fillRect/>
          </a:stretch>
        </p:blipFill>
        <p:spPr>
          <a:xfrm>
            <a:off x="356616" y="1554480"/>
            <a:ext cx="1267592" cy="2743200"/>
          </a:xfrm>
          <a:prstGeom prst="rect">
            <a:avLst/>
          </a:prstGeom>
          <a:ln w="9525">
            <a:solidFill>
              <a:srgbClr val="C9D1D5"/>
            </a:solidFill>
          </a:ln>
        </p:spPr>
      </p:pic>
      <p:pic>
        <p:nvPicPr>
          <p:cNvPr id="144" name="Screenshot Product page" descr="Product page of the Etalase prototype"/>
          <p:cNvPicPr>
            <a:picLocks noChangeAspect="1"/>
          </p:cNvPicPr>
          <p:nvPr/>
        </p:nvPicPr>
        <p:blipFill>
          <a:blip r:embed="rId6"/>
          <a:stretch>
            <a:fillRect/>
          </a:stretch>
        </p:blipFill>
        <p:spPr>
          <a:xfrm>
            <a:off x="1852808" y="1554480"/>
            <a:ext cx="1267592" cy="2743200"/>
          </a:xfrm>
          <a:prstGeom prst="rect">
            <a:avLst/>
          </a:prstGeom>
          <a:ln w="9525">
            <a:solidFill>
              <a:srgbClr val="C9D1D5"/>
            </a:solidFill>
          </a:ln>
        </p:spPr>
      </p:pic>
      <p:pic>
        <p:nvPicPr>
          <p:cNvPr id="145" name="Screenshot Pay with QRIS" descr="Pay with QRIS of the Etalase prototype"/>
          <p:cNvPicPr>
            <a:picLocks noChangeAspect="1"/>
          </p:cNvPicPr>
          <p:nvPr/>
        </p:nvPicPr>
        <p:blipFill>
          <a:blip r:embed="rId7"/>
          <a:stretch>
            <a:fillRect/>
          </a:stretch>
        </p:blipFill>
        <p:spPr>
          <a:xfrm>
            <a:off x="3349000" y="1554480"/>
            <a:ext cx="1267592" cy="2743200"/>
          </a:xfrm>
          <a:prstGeom prst="rect">
            <a:avLst/>
          </a:prstGeom>
          <a:ln w="9525">
            <a:solidFill>
              <a:srgbClr val="C9D1D5"/>
            </a:solidFill>
          </a:ln>
        </p:spPr>
      </p:pic>
      <p:pic>
        <p:nvPicPr>
          <p:cNvPr id="146" name="Screenshot Seller dashboard" descr="Seller dashboard of the Etalase prototype"/>
          <p:cNvPicPr>
            <a:picLocks noChangeAspect="1"/>
          </p:cNvPicPr>
          <p:nvPr/>
        </p:nvPicPr>
        <p:blipFill>
          <a:blip r:embed="rId8"/>
          <a:stretch>
            <a:fillRect/>
          </a:stretch>
        </p:blipFill>
        <p:spPr>
          <a:xfrm>
            <a:off x="4845192" y="1806899"/>
            <a:ext cx="3942191" cy="2238362"/>
          </a:xfrm>
          <a:prstGeom prst="rect">
            <a:avLst/>
          </a:prstGeom>
          <a:ln w="9525">
            <a:solidFill>
              <a:srgbClr val="C9D1D5"/>
            </a:solid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666 automated tests pass (stock races, payments, returns, webhooks, OTP abuse), plus an end-to-end run over real HTTP and the official UCP conformance suite: 30 passed, 21 failed, 26 skipped. “Not measured” cells need the Gemini run on Cloud Run, which has not happened yet.</a:t>
            </a:r>
          </a:p>
        </p:txBody>
      </p:sp>
      <p:graphicFrame>
        <p:nvGraphicFramePr>
          <p:cNvPr id="145" name="Table 144"/>
          <p:cNvGraphicFramePr>
            <a:graphicFrameLocks noGrp="1"/>
          </p:cNvGraphicFramePr>
          <p:nvPr/>
        </p:nvGraphicFramePr>
        <p:xfrm>
          <a:off x="356616" y="1536192"/>
          <a:ext cx="8430767" cy="3383280"/>
        </p:xfrm>
        <a:graphic>
          <a:graphicData uri="http://schemas.openxmlformats.org/drawingml/2006/table">
            <a:tbl>
              <a:tblPr/>
              <a:tblGrid>
                <a:gridCol w="1874519"/>
                <a:gridCol w="2743200"/>
                <a:gridCol w="1664208"/>
                <a:gridCol w="214884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43 labelled seller messages: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Rules only: 21/43 fully correct. Gemini not run</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Returns and the payout hold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before the payout; silent seller; parcel returned or lost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Refund never depends on the seller</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seller stock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Not measured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Telegram, Instagram, CSV</a:t>
            </a:r>
          </a:p>
          <a:p>
            <a:pPr algn="l" marL="128016" indent="-128016">
              <a:spcAft>
                <a:spcPts val="500"/>
              </a:spcAft>
              <a:buClr>
                <a:srgbClr val="1A73E8"/>
              </a:buClr>
              <a:buFont typeface="Arial"/>
              <a:buChar char="•"/>
            </a:pPr>
            <a:r>
              <a:rPr sz="1000" b="0" i="0">
                <a:solidFill>
                  <a:srgbClr val="202124"/>
                </a:solidFill>
                <a:latin typeface="Google Sans Flex"/>
              </a:rPr>
              <a:t>MCP, UCP checkout, store links</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Payout hold and returns; mock QRIS and courier</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More chat adapters: Instagram DMs, LINE, Zalo</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Ten seller interviews: willingness to pay and to wait for the payout, orders per month (break-even ≈ 20), return rates · whether the payment provider can enforce the payout hold, and its legal classification · which door buyers use (recorded per order: store link, MCP, UCP) · UCP timing in Indonesia · extraction quality with Gemini</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github.com/galihsatriawan/etalase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Cloud Run URL]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