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sz="1800" b="1">
                <a:latin typeface="Google Sans Flex"/>
              </a:rPr>
              <a:t>[Your team name]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sz="1800" b="1">
                <a:latin typeface="Google Sans Flex"/>
              </a:rPr>
              <a:t>[Your full name]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sz="1800" b="1">
                <a:latin typeface="Google Sans Flex"/>
              </a:rPr>
              <a:t>Retail &amp; Commerce: Intelligent Customer and Business Experiences. Etalase makes WhatsApp &amp; Instagram sellers discoverable and buyable by AI shopping agents</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56616" y="1161288"/>
            <a:ext cx="5074920" cy="749808"/>
          </a:xfrm>
          <a:prstGeom prst="rect">
            <a:avLst/>
          </a:prstGeom>
          <a:noFill/>
        </p:spPr>
        <p:txBody>
          <a:bodyPr wrap="square" lIns="18288" rIns="18288" tIns="18288" bIns="18288" anchor="t">
            <a:noAutofit/>
          </a:bodyPr>
          <a:lstStyle/>
          <a:p>
            <a:pPr algn="l"/>
            <a:r>
              <a:rPr sz="1200" b="1" i="0">
                <a:solidFill>
                  <a:srgbClr val="202124"/>
                </a:solidFill>
                <a:latin typeface="Google Sans Flex"/>
              </a:rPr>
              <a:t>Etalase turns a WhatsApp seller's product photos and chats into a storefront that AI shopping agents can find, check stock on and buy from, with every order landing back in WhatsApp.</a:t>
            </a:r>
          </a:p>
        </p:txBody>
      </p:sp>
      <p:sp>
        <p:nvSpPr>
          <p:cNvPr id="73" name="TextBox 72"/>
          <p:cNvSpPr txBox="1"/>
          <p:nvPr/>
        </p:nvSpPr>
        <p:spPr>
          <a:xfrm>
            <a:off x="356616" y="1965960"/>
            <a:ext cx="5074920" cy="896112"/>
          </a:xfrm>
          <a:prstGeom prst="rect">
            <a:avLst/>
          </a:prstGeom>
          <a:noFill/>
        </p:spPr>
        <p:txBody>
          <a:bodyPr wrap="square" lIns="18288" rIns="18288" tIns="18288" bIns="18288" anchor="t">
            <a:noAutofit/>
          </a:bodyPr>
          <a:lstStyle/>
          <a:p>
            <a:pPr algn="l">
              <a:spcAft>
                <a:spcPts val="100"/>
              </a:spcAft>
            </a:pPr>
            <a:r>
              <a:rPr sz="1000" b="1" i="0">
                <a:solidFill>
                  <a:srgbClr val="B06000"/>
                </a:solidFill>
                <a:latin typeface="Google Sans Flex"/>
              </a:rPr>
              <a:t>Why now</a:t>
            </a:r>
          </a:p>
          <a:p>
            <a:pPr algn="l"/>
            <a:r>
              <a:rPr sz="950" b="0" i="0">
                <a:solidFill>
                  <a:srgbClr val="202124"/>
                </a:solidFill>
                <a:latin typeface="Google Sans Flex"/>
              </a:rPr>
              <a:t>AI agents already check out through Google's Universal Commerce Protocol (UCP) in the US and Australia, with India in testing. Morgan Stanley expects US$190–385B of US online spending to go through shopping agents by 2030. Platforms are making their own merchants agent-ready; independent chat sellers have no path in.</a:t>
            </a:r>
          </a:p>
        </p:txBody>
      </p:sp>
      <p:sp>
        <p:nvSpPr>
          <p:cNvPr id="74" name="TextBox 73"/>
          <p:cNvSpPr txBox="1"/>
          <p:nvPr/>
        </p:nvSpPr>
        <p:spPr>
          <a:xfrm>
            <a:off x="356616" y="2889504"/>
            <a:ext cx="5074920" cy="896112"/>
          </a:xfrm>
          <a:prstGeom prst="rect">
            <a:avLst/>
          </a:prstGeom>
          <a:noFill/>
        </p:spPr>
        <p:txBody>
          <a:bodyPr wrap="square" lIns="18288" rIns="18288" tIns="18288" bIns="18288" anchor="t">
            <a:noAutofit/>
          </a:bodyPr>
          <a:lstStyle/>
          <a:p>
            <a:pPr algn="l">
              <a:spcAft>
                <a:spcPts val="100"/>
              </a:spcAft>
            </a:pPr>
            <a:r>
              <a:rPr sz="1000" b="1" i="0">
                <a:solidFill>
                  <a:srgbClr val="1A73E8"/>
                </a:solidFill>
                <a:latin typeface="Google Sans Flex"/>
              </a:rPr>
              <a:t>The problem</a:t>
            </a:r>
          </a:p>
          <a:p>
            <a:pPr algn="l"/>
            <a:r>
              <a:rPr sz="950" b="0" i="0">
                <a:solidFill>
                  <a:srgbClr val="202124"/>
                </a:solidFill>
                <a:latin typeface="Google Sans Flex"/>
              </a:rPr>
              <a:t>Agents only read structured catalogs. Across Southeast Asia, small sellers run on chat apps such as WhatsApp, LINE, Zalo and Messenger, with catalogs in photos and messages, so agents cannot see them. When agent checkout arrives, that demand flows to marketplaces and big brands instead.</a:t>
            </a:r>
          </a:p>
        </p:txBody>
      </p:sp>
      <p:sp>
        <p:nvSpPr>
          <p:cNvPr id="75" name="TextBox 74"/>
          <p:cNvSpPr txBox="1"/>
          <p:nvPr/>
        </p:nvSpPr>
        <p:spPr>
          <a:xfrm>
            <a:off x="356616" y="3813048"/>
            <a:ext cx="5074920" cy="868680"/>
          </a:xfrm>
          <a:prstGeom prst="rect">
            <a:avLst/>
          </a:prstGeom>
          <a:noFill/>
        </p:spPr>
        <p:txBody>
          <a:bodyPr wrap="square" lIns="18288" rIns="18288" tIns="18288" bIns="18288" anchor="t">
            <a:noAutofit/>
          </a:bodyPr>
          <a:lstStyle/>
          <a:p>
            <a:pPr algn="l">
              <a:spcAft>
                <a:spcPts val="100"/>
              </a:spcAft>
            </a:pPr>
            <a:r>
              <a:rPr sz="1000" b="1" i="0">
                <a:solidFill>
                  <a:srgbClr val="188038"/>
                </a:solidFill>
                <a:latin typeface="Google Sans Flex"/>
              </a:rPr>
              <a:t>Our solution</a:t>
            </a:r>
          </a:p>
          <a:p>
            <a:pPr algn="l"/>
            <a:r>
              <a:rPr sz="950" b="0" i="0">
                <a:solidFill>
                  <a:srgbClr val="202124"/>
                </a:solidFill>
                <a:latin typeface="Google Sans Flex"/>
              </a:rPr>
              <a:t>Gemini builds the catalog from photos, voice notes and spreadsheets. Etalase publishes it over MCP and the UCP checkout API, reserves stock at checkout and takes QRIS payments. The seller confirms and ships from WhatsApp, with no new app to learn.</a:t>
            </a:r>
          </a:p>
        </p:txBody>
      </p:sp>
      <p:sp>
        <p:nvSpPr>
          <p:cNvPr id="76" name="Stat card 1"/>
          <p:cNvSpPr/>
          <p:nvPr/>
        </p:nvSpPr>
        <p:spPr>
          <a:xfrm>
            <a:off x="5669280" y="1161288"/>
            <a:ext cx="3118104" cy="786384"/>
          </a:xfrm>
          <a:prstGeom prst="roundRect">
            <a:avLst>
              <a:gd name="adj" fmla="val 9302"/>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779008" y="1207008"/>
            <a:ext cx="2926080" cy="347472"/>
          </a:xfrm>
          <a:prstGeom prst="rect">
            <a:avLst/>
          </a:prstGeom>
          <a:noFill/>
        </p:spPr>
        <p:txBody>
          <a:bodyPr wrap="square" lIns="18288" rIns="18288" tIns="18288" bIns="18288" anchor="t">
            <a:noAutofit/>
          </a:bodyPr>
          <a:lstStyle/>
          <a:p>
            <a:pPr algn="l"/>
            <a:r>
              <a:rPr sz="1900" b="1" i="0">
                <a:solidFill>
                  <a:srgbClr val="1A73E8"/>
                </a:solidFill>
                <a:latin typeface="Google Sans Flex"/>
              </a:rPr>
              <a:t>US$185B</a:t>
            </a:r>
          </a:p>
        </p:txBody>
      </p:sp>
      <p:sp>
        <p:nvSpPr>
          <p:cNvPr id="78" name="TextBox 77"/>
          <p:cNvSpPr txBox="1"/>
          <p:nvPr/>
        </p:nvSpPr>
        <p:spPr>
          <a:xfrm>
            <a:off x="5779008" y="1545336"/>
            <a:ext cx="2926080" cy="384048"/>
          </a:xfrm>
          <a:prstGeom prst="rect">
            <a:avLst/>
          </a:prstGeom>
          <a:noFill/>
        </p:spPr>
        <p:txBody>
          <a:bodyPr wrap="square" lIns="18288" rIns="18288" tIns="18288" bIns="18288" anchor="t">
            <a:noAutofit/>
          </a:bodyPr>
          <a:lstStyle/>
          <a:p>
            <a:pPr algn="l"/>
            <a:r>
              <a:rPr sz="850" b="0" i="0">
                <a:solidFill>
                  <a:srgbClr val="202124"/>
                </a:solidFill>
                <a:latin typeface="Google Sans Flex"/>
              </a:rPr>
              <a:t>Southeast Asia e-commerce GMV in 2025; consumer interest in AI is 3× the global average</a:t>
            </a:r>
          </a:p>
        </p:txBody>
      </p:sp>
      <p:sp>
        <p:nvSpPr>
          <p:cNvPr id="79" name="Stat card 2"/>
          <p:cNvSpPr/>
          <p:nvPr/>
        </p:nvSpPr>
        <p:spPr>
          <a:xfrm>
            <a:off x="5669280" y="2066543"/>
            <a:ext cx="3118104" cy="786384"/>
          </a:xfrm>
          <a:prstGeom prst="roundRect">
            <a:avLst>
              <a:gd name="adj" fmla="val 9302"/>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779008" y="2112263"/>
            <a:ext cx="2926080" cy="347472"/>
          </a:xfrm>
          <a:prstGeom prst="rect">
            <a:avLst/>
          </a:prstGeom>
          <a:noFill/>
        </p:spPr>
        <p:txBody>
          <a:bodyPr wrap="square" lIns="18288" rIns="18288" tIns="18288" bIns="18288" anchor="t">
            <a:noAutofit/>
          </a:bodyPr>
          <a:lstStyle/>
          <a:p>
            <a:pPr algn="l"/>
            <a:r>
              <a:rPr sz="1900" b="1" i="0">
                <a:solidFill>
                  <a:srgbClr val="188038"/>
                </a:solidFill>
                <a:latin typeface="Google Sans Flex"/>
              </a:rPr>
              <a:t>95%</a:t>
            </a:r>
          </a:p>
        </p:txBody>
      </p:sp>
      <p:sp>
        <p:nvSpPr>
          <p:cNvPr id="81" name="TextBox 80"/>
          <p:cNvSpPr txBox="1"/>
          <p:nvPr/>
        </p:nvSpPr>
        <p:spPr>
          <a:xfrm>
            <a:off x="5779008" y="2450591"/>
            <a:ext cx="2926080" cy="384048"/>
          </a:xfrm>
          <a:prstGeom prst="rect">
            <a:avLst/>
          </a:prstGeom>
          <a:noFill/>
        </p:spPr>
        <p:txBody>
          <a:bodyPr wrap="square" lIns="18288" rIns="18288" tIns="18288" bIns="18288" anchor="t">
            <a:noAutofit/>
          </a:bodyPr>
          <a:lstStyle/>
          <a:p>
            <a:pPr algn="l"/>
            <a:r>
              <a:rPr sz="850" b="0" i="0">
                <a:solidFill>
                  <a:srgbClr val="202124"/>
                </a:solidFill>
                <a:latin typeface="Google Sans Flex"/>
              </a:rPr>
              <a:t>of Indonesian online businesses sell through chat apps such as WhatsApp; only 18% use marketplaces (BPS, 2023)</a:t>
            </a:r>
          </a:p>
        </p:txBody>
      </p:sp>
      <p:sp>
        <p:nvSpPr>
          <p:cNvPr id="82" name="Stat card 3"/>
          <p:cNvSpPr/>
          <p:nvPr/>
        </p:nvSpPr>
        <p:spPr>
          <a:xfrm>
            <a:off x="5669280" y="2971800"/>
            <a:ext cx="3118104" cy="786384"/>
          </a:xfrm>
          <a:prstGeom prst="roundRect">
            <a:avLst>
              <a:gd name="adj" fmla="val 9302"/>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79008" y="3017520"/>
            <a:ext cx="2926080" cy="347472"/>
          </a:xfrm>
          <a:prstGeom prst="rect">
            <a:avLst/>
          </a:prstGeom>
          <a:noFill/>
        </p:spPr>
        <p:txBody>
          <a:bodyPr wrap="square" lIns="18288" rIns="18288" tIns="18288" bIns="18288" anchor="t">
            <a:noAutofit/>
          </a:bodyPr>
          <a:lstStyle/>
          <a:p>
            <a:pPr algn="l"/>
            <a:r>
              <a:rPr sz="1900" b="1" i="0">
                <a:solidFill>
                  <a:srgbClr val="B06000"/>
                </a:solidFill>
                <a:latin typeface="Google Sans Flex"/>
              </a:rPr>
              <a:t>~1 in 2</a:t>
            </a:r>
          </a:p>
        </p:txBody>
      </p:sp>
      <p:sp>
        <p:nvSpPr>
          <p:cNvPr id="84" name="TextBox 83"/>
          <p:cNvSpPr txBox="1"/>
          <p:nvPr/>
        </p:nvSpPr>
        <p:spPr>
          <a:xfrm>
            <a:off x="5779008" y="3355848"/>
            <a:ext cx="2926080" cy="384048"/>
          </a:xfrm>
          <a:prstGeom prst="rect">
            <a:avLst/>
          </a:prstGeom>
          <a:noFill/>
        </p:spPr>
        <p:txBody>
          <a:bodyPr wrap="square" lIns="18288" rIns="18288" tIns="18288" bIns="18288" anchor="t">
            <a:noAutofit/>
          </a:bodyPr>
          <a:lstStyle/>
          <a:p>
            <a:pPr algn="l"/>
            <a:r>
              <a:rPr sz="850" b="0" i="0">
                <a:solidFill>
                  <a:srgbClr val="202124"/>
                </a:solidFill>
                <a:latin typeface="Google Sans Flex"/>
              </a:rPr>
              <a:t>Southeast Asian shoppers have bought or sold on social media or messaging apps (2019 survey)</a:t>
            </a:r>
          </a:p>
        </p:txBody>
      </p:sp>
      <p:sp>
        <p:nvSpPr>
          <p:cNvPr id="85" name="Stat card 4"/>
          <p:cNvSpPr/>
          <p:nvPr/>
        </p:nvSpPr>
        <p:spPr>
          <a:xfrm>
            <a:off x="5669280" y="3877056"/>
            <a:ext cx="3118104" cy="786384"/>
          </a:xfrm>
          <a:prstGeom prst="roundRect">
            <a:avLst>
              <a:gd name="adj" fmla="val 9302"/>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779008" y="3922776"/>
            <a:ext cx="2926080" cy="347472"/>
          </a:xfrm>
          <a:prstGeom prst="rect">
            <a:avLst/>
          </a:prstGeom>
          <a:noFill/>
        </p:spPr>
        <p:txBody>
          <a:bodyPr wrap="square" lIns="18288" rIns="18288" tIns="18288" bIns="18288" anchor="t">
            <a:noAutofit/>
          </a:bodyPr>
          <a:lstStyle/>
          <a:p>
            <a:pPr algn="l"/>
            <a:r>
              <a:rPr sz="1900" b="1" i="0">
                <a:solidFill>
                  <a:srgbClr val="D93025"/>
                </a:solidFill>
                <a:latin typeface="Google Sans Flex"/>
              </a:rPr>
              <a:t>11%</a:t>
            </a:r>
          </a:p>
        </p:txBody>
      </p:sp>
      <p:sp>
        <p:nvSpPr>
          <p:cNvPr id="87" name="TextBox 86"/>
          <p:cNvSpPr txBox="1"/>
          <p:nvPr/>
        </p:nvSpPr>
        <p:spPr>
          <a:xfrm>
            <a:off x="5779008" y="4261104"/>
            <a:ext cx="2926080" cy="384048"/>
          </a:xfrm>
          <a:prstGeom prst="rect">
            <a:avLst/>
          </a:prstGeom>
          <a:noFill/>
        </p:spPr>
        <p:txBody>
          <a:bodyPr wrap="square" lIns="18288" rIns="18288" tIns="18288" bIns="18288" anchor="t">
            <a:noAutofit/>
          </a:bodyPr>
          <a:lstStyle/>
          <a:p>
            <a:pPr algn="l"/>
            <a:r>
              <a:rPr sz="850" b="0" i="0">
                <a:solidFill>
                  <a:srgbClr val="202124"/>
                </a:solidFill>
                <a:latin typeface="Google Sans Flex"/>
              </a:rPr>
              <a:t>of small and mid-size merchants are ready for AI shopping agents, vs 19% of large merchants (2026)</a:t>
            </a:r>
          </a:p>
        </p:txBody>
      </p:sp>
      <p:sp>
        <p:nvSpPr>
          <p:cNvPr id="88" name="TextBox 87"/>
          <p:cNvSpPr txBox="1"/>
          <p:nvPr/>
        </p:nvSpPr>
        <p:spPr>
          <a:xfrm>
            <a:off x="356616" y="4718304"/>
            <a:ext cx="8430767" cy="274320"/>
          </a:xfrm>
          <a:prstGeom prst="rect">
            <a:avLst/>
          </a:prstGeom>
          <a:noFill/>
        </p:spPr>
        <p:txBody>
          <a:bodyPr wrap="square" lIns="18288" rIns="18288" tIns="18288" bIns="18288" anchor="t">
            <a:noAutofit/>
          </a:bodyPr>
          <a:lstStyle/>
          <a:p>
            <a:pPr algn="l"/>
            <a:r>
              <a:rPr sz="700" b="0" i="0">
                <a:solidFill>
                  <a:srgbClr val="5F6368"/>
                </a:solidFill>
                <a:latin typeface="Google Sans Flex"/>
              </a:rPr>
              <a:t>Sources: e-Conomy SEA 2025 (Google, Temasek, Bain, Nov 2025); BPS Statistik E-Commerce 2023 (pub. Jan 2025); Facebook × BCG conversational commerce study (Nov 2019); PYMNTS × Visa, 2026 Global Digital Shopping Index (Sep 2026); Morgan Stanley, “Here Come the Shopping Bots”. Links in the repo: docs/15-evidence.md.</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80" name="Opportunity card 1"/>
          <p:cNvSpPr/>
          <p:nvPr/>
        </p:nvSpPr>
        <p:spPr>
          <a:xfrm>
            <a:off x="356616" y="1161288"/>
            <a:ext cx="2688336" cy="3502152"/>
          </a:xfrm>
          <a:prstGeom prst="roundRect">
            <a:avLst>
              <a:gd name="adj" fmla="val 2721"/>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Icon bg compare"/>
          <p:cNvSpPr/>
          <p:nvPr/>
        </p:nvSpPr>
        <p:spPr>
          <a:xfrm>
            <a:off x="521208" y="1325880"/>
            <a:ext cx="420624" cy="42062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compare.png"/>
          <p:cNvPicPr>
            <a:picLocks noChangeAspect="1"/>
          </p:cNvPicPr>
          <p:nvPr/>
        </p:nvPicPr>
        <p:blipFill>
          <a:blip r:embed="rId5"/>
          <a:stretch>
            <a:fillRect/>
          </a:stretch>
        </p:blipFill>
        <p:spPr>
          <a:xfrm>
            <a:off x="613745" y="1418417"/>
            <a:ext cx="235549" cy="235549"/>
          </a:xfrm>
          <a:prstGeom prst="rect">
            <a:avLst/>
          </a:prstGeom>
        </p:spPr>
      </p:pic>
      <p:sp>
        <p:nvSpPr>
          <p:cNvPr id="83" name="TextBox 82"/>
          <p:cNvSpPr txBox="1"/>
          <p:nvPr/>
        </p:nvSpPr>
        <p:spPr>
          <a:xfrm>
            <a:off x="1033271" y="1307592"/>
            <a:ext cx="1901952" cy="457200"/>
          </a:xfrm>
          <a:prstGeom prst="rect">
            <a:avLst/>
          </a:prstGeom>
          <a:noFill/>
        </p:spPr>
        <p:txBody>
          <a:bodyPr wrap="square" lIns="18288" rIns="18288" tIns="18288" bIns="18288" anchor="ctr">
            <a:noAutofit/>
          </a:bodyPr>
          <a:lstStyle/>
          <a:p>
            <a:pPr algn="l"/>
            <a:r>
              <a:rPr sz="1150" b="1" i="0">
                <a:solidFill>
                  <a:srgbClr val="202124"/>
                </a:solidFill>
                <a:latin typeface="Google Sans Flex"/>
              </a:rPr>
              <a:t>How is it different?</a:t>
            </a:r>
          </a:p>
        </p:txBody>
      </p:sp>
      <p:sp>
        <p:nvSpPr>
          <p:cNvPr id="84" name="TextBox 83"/>
          <p:cNvSpPr txBox="1"/>
          <p:nvPr/>
        </p:nvSpPr>
        <p:spPr>
          <a:xfrm>
            <a:off x="502920" y="1892808"/>
            <a:ext cx="2414016" cy="2697480"/>
          </a:xfrm>
          <a:prstGeom prst="rect">
            <a:avLst/>
          </a:prstGeom>
          <a:noFill/>
        </p:spPr>
        <p:txBody>
          <a:bodyPr wrap="square" lIns="18288" rIns="18288" tIns="18288" bIns="18288" anchor="t">
            <a:noAutofit/>
          </a:bodyPr>
          <a:lstStyle/>
          <a:p>
            <a:pPr algn="l" marL="128016" indent="-128016">
              <a:spcAft>
                <a:spcPts val="600"/>
              </a:spcAft>
              <a:buClr>
                <a:srgbClr val="1A73E8"/>
              </a:buClr>
              <a:buFont typeface="Arial"/>
              <a:buChar char="•"/>
            </a:pPr>
            <a:r>
              <a:rPr sz="1050" b="0" i="0">
                <a:solidFill>
                  <a:srgbClr val="202124"/>
                </a:solidFill>
                <a:latin typeface="Google Sans Flex"/>
              </a:rPr>
              <a:t>Agent-readiness tools (Era, ShopAgentic, AgentReady) serve Shopify-style stores that already have product data</a:t>
            </a:r>
          </a:p>
          <a:p>
            <a:pPr algn="l" marL="128016" indent="-128016">
              <a:spcAft>
                <a:spcPts val="600"/>
              </a:spcAft>
              <a:buClr>
                <a:srgbClr val="1A73E8"/>
              </a:buClr>
              <a:buFont typeface="Arial"/>
              <a:buChar char="•"/>
            </a:pPr>
            <a:r>
              <a:rPr sz="1050" b="0" i="0">
                <a:solidFill>
                  <a:srgbClr val="202124"/>
                </a:solidFill>
                <a:latin typeface="Google Sans Flex"/>
              </a:rPr>
              <a:t>Marketplaces and platforms make sellers agent-ready only inside their own ecosystem, at their fees</a:t>
            </a:r>
          </a:p>
          <a:p>
            <a:pPr algn="l" marL="128016" indent="-128016">
              <a:spcAft>
                <a:spcPts val="600"/>
              </a:spcAft>
              <a:buClr>
                <a:srgbClr val="1A73E8"/>
              </a:buClr>
              <a:buFont typeface="Arial"/>
              <a:buChar char="•"/>
            </a:pPr>
            <a:r>
              <a:rPr sz="1050" b="0" i="0">
                <a:solidFill>
                  <a:srgbClr val="202124"/>
                </a:solidFill>
                <a:latin typeface="Google Sans Flex"/>
              </a:rPr>
              <a:t>WhatsApp chatbots answer human buyers, not AI agents</a:t>
            </a:r>
          </a:p>
          <a:p>
            <a:pPr algn="l" marL="128016" indent="-128016">
              <a:spcAft>
                <a:spcPts val="600"/>
              </a:spcAft>
              <a:buClr>
                <a:srgbClr val="1A73E8"/>
              </a:buClr>
              <a:buFont typeface="Arial"/>
              <a:buChar char="•"/>
            </a:pPr>
            <a:r>
              <a:rPr sz="1050" b="1" i="0">
                <a:solidFill>
                  <a:srgbClr val="202124"/>
                </a:solidFill>
                <a:latin typeface="Google Sans Flex"/>
              </a:rPr>
              <a:t>Etalase serves sellers with no store system and opens them to any agent via open protocols</a:t>
            </a:r>
          </a:p>
        </p:txBody>
      </p:sp>
      <p:sp>
        <p:nvSpPr>
          <p:cNvPr id="85" name="Opportunity card 2"/>
          <p:cNvSpPr/>
          <p:nvPr/>
        </p:nvSpPr>
        <p:spPr>
          <a:xfrm>
            <a:off x="3227832" y="1161288"/>
            <a:ext cx="2688336" cy="3502152"/>
          </a:xfrm>
          <a:prstGeom prst="roundRect">
            <a:avLst>
              <a:gd name="adj" fmla="val 2721"/>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Icon bg solve"/>
          <p:cNvSpPr/>
          <p:nvPr/>
        </p:nvSpPr>
        <p:spPr>
          <a:xfrm>
            <a:off x="3392424" y="1325880"/>
            <a:ext cx="420624" cy="420624"/>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solve.png"/>
          <p:cNvPicPr>
            <a:picLocks noChangeAspect="1"/>
          </p:cNvPicPr>
          <p:nvPr/>
        </p:nvPicPr>
        <p:blipFill>
          <a:blip r:embed="rId6"/>
          <a:stretch>
            <a:fillRect/>
          </a:stretch>
        </p:blipFill>
        <p:spPr>
          <a:xfrm>
            <a:off x="3484961" y="1418417"/>
            <a:ext cx="235549" cy="235549"/>
          </a:xfrm>
          <a:prstGeom prst="rect">
            <a:avLst/>
          </a:prstGeom>
        </p:spPr>
      </p:pic>
      <p:sp>
        <p:nvSpPr>
          <p:cNvPr id="88" name="TextBox 87"/>
          <p:cNvSpPr txBox="1"/>
          <p:nvPr/>
        </p:nvSpPr>
        <p:spPr>
          <a:xfrm>
            <a:off x="3904488" y="1307592"/>
            <a:ext cx="1901952" cy="457200"/>
          </a:xfrm>
          <a:prstGeom prst="rect">
            <a:avLst/>
          </a:prstGeom>
          <a:noFill/>
        </p:spPr>
        <p:txBody>
          <a:bodyPr wrap="square" lIns="18288" rIns="18288" tIns="18288" bIns="18288" anchor="ctr">
            <a:noAutofit/>
          </a:bodyPr>
          <a:lstStyle/>
          <a:p>
            <a:pPr algn="l"/>
            <a:r>
              <a:rPr sz="1150" b="1" i="0">
                <a:solidFill>
                  <a:srgbClr val="202124"/>
                </a:solidFill>
                <a:latin typeface="Google Sans Flex"/>
              </a:rPr>
              <a:t>How does it solve the problem?</a:t>
            </a:r>
          </a:p>
        </p:txBody>
      </p:sp>
      <p:sp>
        <p:nvSpPr>
          <p:cNvPr id="89" name="TextBox 88"/>
          <p:cNvSpPr txBox="1"/>
          <p:nvPr/>
        </p:nvSpPr>
        <p:spPr>
          <a:xfrm>
            <a:off x="3374136" y="1892808"/>
            <a:ext cx="2414016" cy="2697480"/>
          </a:xfrm>
          <a:prstGeom prst="rect">
            <a:avLst/>
          </a:prstGeom>
          <a:noFill/>
        </p:spPr>
        <p:txBody>
          <a:bodyPr wrap="square" lIns="18288" rIns="18288" tIns="18288" bIns="18288" anchor="t">
            <a:noAutofit/>
          </a:bodyPr>
          <a:lstStyle/>
          <a:p>
            <a:pPr algn="l" marL="128016" indent="-128016">
              <a:spcAft>
                <a:spcPts val="600"/>
              </a:spcAft>
              <a:buClr>
                <a:srgbClr val="188038"/>
              </a:buClr>
              <a:buFont typeface="Arial"/>
              <a:buChar char="•"/>
            </a:pPr>
            <a:r>
              <a:rPr sz="1050" b="0" i="0">
                <a:solidFill>
                  <a:srgbClr val="202124"/>
                </a:solidFill>
                <a:latin typeface="Google Sans Flex"/>
              </a:rPr>
              <a:t>Builds the catalog from what sellers already have: photos, voice notes, chats, spreadsheets</a:t>
            </a:r>
          </a:p>
          <a:p>
            <a:pPr algn="l" marL="128016" indent="-128016">
              <a:spcAft>
                <a:spcPts val="600"/>
              </a:spcAft>
              <a:buClr>
                <a:srgbClr val="188038"/>
              </a:buClr>
              <a:buFont typeface="Arial"/>
              <a:buChar char="•"/>
            </a:pPr>
            <a:r>
              <a:rPr sz="1050" b="0" i="0">
                <a:solidFill>
                  <a:srgbClr val="202124"/>
                </a:solidFill>
                <a:latin typeface="Google Sans Flex"/>
              </a:rPr>
              <a:t>Publishes it in agent-readable form: MCP tools, UCP checkout API, schema.org data</a:t>
            </a:r>
          </a:p>
          <a:p>
            <a:pPr algn="l" marL="128016" indent="-128016">
              <a:spcAft>
                <a:spcPts val="600"/>
              </a:spcAft>
              <a:buClr>
                <a:srgbClr val="188038"/>
              </a:buClr>
              <a:buFont typeface="Arial"/>
              <a:buChar char="•"/>
            </a:pPr>
            <a:r>
              <a:rPr sz="1050" b="0" i="0">
                <a:solidFill>
                  <a:srgbClr val="202124"/>
                </a:solidFill>
                <a:latin typeface="Google Sans Flex"/>
              </a:rPr>
              <a:t>Runs a safe checkout: stock reservation, seller confirmation, QRIS payment, courier rates</a:t>
            </a:r>
          </a:p>
          <a:p>
            <a:pPr algn="l" marL="128016" indent="-128016">
              <a:spcAft>
                <a:spcPts val="600"/>
              </a:spcAft>
              <a:buClr>
                <a:srgbClr val="188038"/>
              </a:buClr>
              <a:buFont typeface="Arial"/>
              <a:buChar char="•"/>
            </a:pPr>
            <a:r>
              <a:rPr sz="1050" b="0" i="0">
                <a:solidFill>
                  <a:srgbClr val="202124"/>
                </a:solidFill>
                <a:latin typeface="Google Sans Flex"/>
              </a:rPr>
              <a:t>Keeps the seller in WhatsApp, with no new app to learn</a:t>
            </a:r>
          </a:p>
        </p:txBody>
      </p:sp>
      <p:sp>
        <p:nvSpPr>
          <p:cNvPr id="90" name="Opportunity card 3"/>
          <p:cNvSpPr/>
          <p:nvPr/>
        </p:nvSpPr>
        <p:spPr>
          <a:xfrm>
            <a:off x="6099048" y="1161288"/>
            <a:ext cx="2688336" cy="3502152"/>
          </a:xfrm>
          <a:prstGeom prst="roundRect">
            <a:avLst>
              <a:gd name="adj" fmla="val 2721"/>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Icon bg star"/>
          <p:cNvSpPr/>
          <p:nvPr/>
        </p:nvSpPr>
        <p:spPr>
          <a:xfrm>
            <a:off x="6263640" y="1325880"/>
            <a:ext cx="420624" cy="420624"/>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Picture 91" descr="star.png"/>
          <p:cNvPicPr>
            <a:picLocks noChangeAspect="1"/>
          </p:cNvPicPr>
          <p:nvPr/>
        </p:nvPicPr>
        <p:blipFill>
          <a:blip r:embed="rId7"/>
          <a:stretch>
            <a:fillRect/>
          </a:stretch>
        </p:blipFill>
        <p:spPr>
          <a:xfrm>
            <a:off x="6356177" y="1418417"/>
            <a:ext cx="235549" cy="235549"/>
          </a:xfrm>
          <a:prstGeom prst="rect">
            <a:avLst/>
          </a:prstGeom>
        </p:spPr>
      </p:pic>
      <p:sp>
        <p:nvSpPr>
          <p:cNvPr id="93" name="TextBox 92"/>
          <p:cNvSpPr txBox="1"/>
          <p:nvPr/>
        </p:nvSpPr>
        <p:spPr>
          <a:xfrm>
            <a:off x="6775704" y="1307592"/>
            <a:ext cx="1901952" cy="457200"/>
          </a:xfrm>
          <a:prstGeom prst="rect">
            <a:avLst/>
          </a:prstGeom>
          <a:noFill/>
        </p:spPr>
        <p:txBody>
          <a:bodyPr wrap="square" lIns="18288" rIns="18288" tIns="18288" bIns="18288" anchor="ctr">
            <a:noAutofit/>
          </a:bodyPr>
          <a:lstStyle/>
          <a:p>
            <a:pPr algn="l"/>
            <a:r>
              <a:rPr sz="1150" b="1" i="0">
                <a:solidFill>
                  <a:srgbClr val="202124"/>
                </a:solidFill>
                <a:latin typeface="Google Sans Flex"/>
              </a:rPr>
              <a:t>USP of the solution</a:t>
            </a:r>
          </a:p>
        </p:txBody>
      </p:sp>
      <p:sp>
        <p:nvSpPr>
          <p:cNvPr id="94" name="TextBox 93"/>
          <p:cNvSpPr txBox="1"/>
          <p:nvPr/>
        </p:nvSpPr>
        <p:spPr>
          <a:xfrm>
            <a:off x="6245352" y="1892808"/>
            <a:ext cx="2414016" cy="2697480"/>
          </a:xfrm>
          <a:prstGeom prst="rect">
            <a:avLst/>
          </a:prstGeom>
          <a:noFill/>
        </p:spPr>
        <p:txBody>
          <a:bodyPr wrap="square" lIns="18288" rIns="18288" tIns="18288" bIns="18288" anchor="t">
            <a:noAutofit/>
          </a:bodyPr>
          <a:lstStyle/>
          <a:p>
            <a:pPr algn="l" marL="128016" indent="-128016">
              <a:spcAft>
                <a:spcPts val="600"/>
              </a:spcAft>
              <a:buClr>
                <a:srgbClr val="D93025"/>
              </a:buClr>
              <a:buFont typeface="Arial"/>
              <a:buChar char="•"/>
            </a:pPr>
            <a:r>
              <a:rPr sz="1050" b="1" i="0">
                <a:solidFill>
                  <a:srgbClr val="202124"/>
                </a:solidFill>
                <a:latin typeface="Google Sans Flex"/>
              </a:rPr>
              <a:t>From WhatsApp photos to an agent-ready catalog in minutes</a:t>
            </a:r>
          </a:p>
          <a:p>
            <a:pPr algn="l" marL="128016" indent="-128016">
              <a:spcAft>
                <a:spcPts val="600"/>
              </a:spcAft>
              <a:buClr>
                <a:srgbClr val="D93025"/>
              </a:buClr>
              <a:buFont typeface="Arial"/>
              <a:buChar char="•"/>
            </a:pPr>
            <a:r>
              <a:rPr sz="1050" b="0" i="0">
                <a:solidFill>
                  <a:srgbClr val="202124"/>
                </a:solidFill>
                <a:latin typeface="Google Sans Flex"/>
              </a:rPr>
              <a:t>Brings chat-first micro-sellers into AI commerce with a channel they own, paid only per order</a:t>
            </a:r>
          </a:p>
          <a:p>
            <a:pPr algn="l" marL="128016" indent="-128016">
              <a:spcAft>
                <a:spcPts val="600"/>
              </a:spcAft>
              <a:buClr>
                <a:srgbClr val="D93025"/>
              </a:buClr>
              <a:buFont typeface="Arial"/>
              <a:buChar char="•"/>
            </a:pPr>
            <a:r>
              <a:rPr sz="1050" b="0" i="0">
                <a:solidFill>
                  <a:srgbClr val="202124"/>
                </a:solidFill>
                <a:latin typeface="Google Sans Flex"/>
              </a:rPr>
              <a:t>One core with pluggable country packs for payment, shipping and OMS</a:t>
            </a:r>
          </a:p>
          <a:p>
            <a:pPr algn="l" marL="128016" indent="-128016">
              <a:spcAft>
                <a:spcPts val="600"/>
              </a:spcAft>
              <a:buClr>
                <a:srgbClr val="D93025"/>
              </a:buClr>
              <a:buFont typeface="Arial"/>
              <a:buChar char="•"/>
            </a:pPr>
            <a:r>
              <a:rPr sz="1050" b="0" i="0">
                <a:solidFill>
                  <a:srgbClr val="202124"/>
                </a:solidFill>
                <a:latin typeface="Google Sans Flex"/>
              </a:rPr>
              <a:t>Privacy by design: tenant-isolated AI and minimal data, built with Indonesia's PDP Law in mind</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Feature card 1"/>
          <p:cNvSpPr/>
          <p:nvPr/>
        </p:nvSpPr>
        <p:spPr>
          <a:xfrm>
            <a:off x="356616" y="11612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Icon bg catalog"/>
          <p:cNvSpPr/>
          <p:nvPr/>
        </p:nvSpPr>
        <p:spPr>
          <a:xfrm>
            <a:off x="521208" y="1325880"/>
            <a:ext cx="420624" cy="42062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Picture 89" descr="catalog.png"/>
          <p:cNvPicPr>
            <a:picLocks noChangeAspect="1"/>
          </p:cNvPicPr>
          <p:nvPr/>
        </p:nvPicPr>
        <p:blipFill>
          <a:blip r:embed="rId5"/>
          <a:stretch>
            <a:fillRect/>
          </a:stretch>
        </p:blipFill>
        <p:spPr>
          <a:xfrm>
            <a:off x="613745" y="1418417"/>
            <a:ext cx="235549" cy="235549"/>
          </a:xfrm>
          <a:prstGeom prst="rect">
            <a:avLst/>
          </a:prstGeom>
        </p:spPr>
      </p:pic>
      <p:sp>
        <p:nvSpPr>
          <p:cNvPr id="91" name="TextBox 90"/>
          <p:cNvSpPr txBox="1"/>
          <p:nvPr/>
        </p:nvSpPr>
        <p:spPr>
          <a:xfrm>
            <a:off x="1033271" y="1307592"/>
            <a:ext cx="1901952" cy="457200"/>
          </a:xfrm>
          <a:prstGeom prst="rect">
            <a:avLst/>
          </a:prstGeom>
          <a:noFill/>
        </p:spPr>
        <p:txBody>
          <a:bodyPr wrap="square" lIns="18288" rIns="18288" tIns="18288" bIns="18288" anchor="ctr">
            <a:noAutofit/>
          </a:bodyPr>
          <a:lstStyle/>
          <a:p>
            <a:pPr algn="l"/>
            <a:r>
              <a:rPr sz="1150" b="1" i="0">
                <a:solidFill>
                  <a:srgbClr val="202124"/>
                </a:solidFill>
                <a:latin typeface="Google Sans Flex"/>
              </a:rPr>
              <a:t>AI catalog builder</a:t>
            </a:r>
          </a:p>
        </p:txBody>
      </p:sp>
      <p:sp>
        <p:nvSpPr>
          <p:cNvPr id="92" name="Status 1"/>
          <p:cNvSpPr/>
          <p:nvPr/>
        </p:nvSpPr>
        <p:spPr>
          <a:xfrm>
            <a:off x="502920" y="1837943"/>
            <a:ext cx="429768" cy="201168"/>
          </a:xfrm>
          <a:prstGeom prst="roundRect">
            <a:avLst>
              <a:gd name="adj" fmla="val 50000"/>
            </a:avLst>
          </a:prstGeom>
          <a:solidFill>
            <a:srgbClr val="E6F4EA"/>
          </a:solidFill>
          <a:ln w="6350">
            <a:solidFill>
              <a:srgbClr val="18803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750" b="1" i="0">
                <a:solidFill>
                  <a:srgbClr val="188038"/>
                </a:solidFill>
                <a:latin typeface="Google Sans Flex"/>
              </a:rPr>
              <a:t>Built</a:t>
            </a:r>
          </a:p>
        </p:txBody>
      </p:sp>
      <p:sp>
        <p:nvSpPr>
          <p:cNvPr id="93" name="TextBox 92"/>
          <p:cNvSpPr txBox="1"/>
          <p:nvPr/>
        </p:nvSpPr>
        <p:spPr>
          <a:xfrm>
            <a:off x="502920" y="2093976"/>
            <a:ext cx="2414016" cy="685800"/>
          </a:xfrm>
          <a:prstGeom prst="rect">
            <a:avLst/>
          </a:prstGeom>
          <a:noFill/>
        </p:spPr>
        <p:txBody>
          <a:bodyPr wrap="square" lIns="18288" rIns="18288" tIns="18288" bIns="18288" anchor="t">
            <a:noAutofit/>
          </a:bodyPr>
          <a:lstStyle/>
          <a:p>
            <a:pPr algn="l"/>
            <a:r>
              <a:rPr sz="950" b="0" i="0">
                <a:solidFill>
                  <a:srgbClr val="202124"/>
                </a:solidFill>
                <a:latin typeface="Google Sans Flex"/>
              </a:rPr>
              <a:t>Gemini reads product photos, voice notes, captions and CSV files, then drafts products, variants, prices and weights for the seller to confirm.</a:t>
            </a:r>
          </a:p>
        </p:txBody>
      </p:sp>
      <p:sp>
        <p:nvSpPr>
          <p:cNvPr id="94" name="Feature card 2"/>
          <p:cNvSpPr/>
          <p:nvPr/>
        </p:nvSpPr>
        <p:spPr>
          <a:xfrm>
            <a:off x="3227832" y="11612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Icon bg storefront"/>
          <p:cNvSpPr/>
          <p:nvPr/>
        </p:nvSpPr>
        <p:spPr>
          <a:xfrm>
            <a:off x="3392424" y="1325880"/>
            <a:ext cx="420624" cy="42062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storefront.png"/>
          <p:cNvPicPr>
            <a:picLocks noChangeAspect="1"/>
          </p:cNvPicPr>
          <p:nvPr/>
        </p:nvPicPr>
        <p:blipFill>
          <a:blip r:embed="rId6"/>
          <a:stretch>
            <a:fillRect/>
          </a:stretch>
        </p:blipFill>
        <p:spPr>
          <a:xfrm>
            <a:off x="3484961" y="1418417"/>
            <a:ext cx="235549" cy="235549"/>
          </a:xfrm>
          <a:prstGeom prst="rect">
            <a:avLst/>
          </a:prstGeom>
        </p:spPr>
      </p:pic>
      <p:sp>
        <p:nvSpPr>
          <p:cNvPr id="97" name="TextBox 96"/>
          <p:cNvSpPr txBox="1"/>
          <p:nvPr/>
        </p:nvSpPr>
        <p:spPr>
          <a:xfrm>
            <a:off x="3904488" y="1307592"/>
            <a:ext cx="1901952" cy="457200"/>
          </a:xfrm>
          <a:prstGeom prst="rect">
            <a:avLst/>
          </a:prstGeom>
          <a:noFill/>
        </p:spPr>
        <p:txBody>
          <a:bodyPr wrap="square" lIns="18288" rIns="18288" tIns="18288" bIns="18288" anchor="ctr">
            <a:noAutofit/>
          </a:bodyPr>
          <a:lstStyle/>
          <a:p>
            <a:pPr algn="l"/>
            <a:r>
              <a:rPr sz="1150" b="1" i="0">
                <a:solidFill>
                  <a:srgbClr val="202124"/>
                </a:solidFill>
                <a:latin typeface="Google Sans Flex"/>
              </a:rPr>
              <a:t>Agent-ready storefront</a:t>
            </a:r>
          </a:p>
        </p:txBody>
      </p:sp>
      <p:sp>
        <p:nvSpPr>
          <p:cNvPr id="98" name="Status 2"/>
          <p:cNvSpPr/>
          <p:nvPr/>
        </p:nvSpPr>
        <p:spPr>
          <a:xfrm>
            <a:off x="3374136" y="1837943"/>
            <a:ext cx="429768" cy="201168"/>
          </a:xfrm>
          <a:prstGeom prst="roundRect">
            <a:avLst>
              <a:gd name="adj" fmla="val 50000"/>
            </a:avLst>
          </a:prstGeom>
          <a:solidFill>
            <a:srgbClr val="E6F4EA"/>
          </a:solidFill>
          <a:ln w="6350">
            <a:solidFill>
              <a:srgbClr val="18803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750" b="1" i="0">
                <a:solidFill>
                  <a:srgbClr val="188038"/>
                </a:solidFill>
                <a:latin typeface="Google Sans Flex"/>
              </a:rPr>
              <a:t>Built</a:t>
            </a:r>
          </a:p>
        </p:txBody>
      </p:sp>
      <p:sp>
        <p:nvSpPr>
          <p:cNvPr id="99" name="TextBox 98"/>
          <p:cNvSpPr txBox="1"/>
          <p:nvPr/>
        </p:nvSpPr>
        <p:spPr>
          <a:xfrm>
            <a:off x="3374136" y="2093976"/>
            <a:ext cx="2414016" cy="685800"/>
          </a:xfrm>
          <a:prstGeom prst="rect">
            <a:avLst/>
          </a:prstGeom>
          <a:noFill/>
        </p:spPr>
        <p:txBody>
          <a:bodyPr wrap="square" lIns="18288" rIns="18288" tIns="18288" bIns="18288" anchor="t">
            <a:noAutofit/>
          </a:bodyPr>
          <a:lstStyle/>
          <a:p>
            <a:pPr algn="l"/>
            <a:r>
              <a:rPr sz="950" b="0" i="0">
                <a:solidFill>
                  <a:srgbClr val="202124"/>
                </a:solidFill>
                <a:latin typeface="Google Sans Flex"/>
              </a:rPr>
              <a:t>Each shop is exposed through MCP tools (search, shipping, checkout), a UCP profile and checkout API, and schema.org data, with a 0–100 readiness score.</a:t>
            </a:r>
          </a:p>
        </p:txBody>
      </p:sp>
      <p:sp>
        <p:nvSpPr>
          <p:cNvPr id="100" name="Feature card 3"/>
          <p:cNvSpPr/>
          <p:nvPr/>
        </p:nvSpPr>
        <p:spPr>
          <a:xfrm>
            <a:off x="6099048" y="11612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Icon bg whatsapp"/>
          <p:cNvSpPr/>
          <p:nvPr/>
        </p:nvSpPr>
        <p:spPr>
          <a:xfrm>
            <a:off x="6263640" y="1325880"/>
            <a:ext cx="420624" cy="420624"/>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2" name="Picture 101" descr="whatsapp.png"/>
          <p:cNvPicPr>
            <a:picLocks noChangeAspect="1"/>
          </p:cNvPicPr>
          <p:nvPr/>
        </p:nvPicPr>
        <p:blipFill>
          <a:blip r:embed="rId7"/>
          <a:stretch>
            <a:fillRect/>
          </a:stretch>
        </p:blipFill>
        <p:spPr>
          <a:xfrm>
            <a:off x="6356177" y="1418417"/>
            <a:ext cx="235549" cy="235549"/>
          </a:xfrm>
          <a:prstGeom prst="rect">
            <a:avLst/>
          </a:prstGeom>
        </p:spPr>
      </p:pic>
      <p:sp>
        <p:nvSpPr>
          <p:cNvPr id="103" name="TextBox 102"/>
          <p:cNvSpPr txBox="1"/>
          <p:nvPr/>
        </p:nvSpPr>
        <p:spPr>
          <a:xfrm>
            <a:off x="6775704" y="1307592"/>
            <a:ext cx="1901952" cy="457200"/>
          </a:xfrm>
          <a:prstGeom prst="rect">
            <a:avLst/>
          </a:prstGeom>
          <a:noFill/>
        </p:spPr>
        <p:txBody>
          <a:bodyPr wrap="square" lIns="18288" rIns="18288" tIns="18288" bIns="18288" anchor="ctr">
            <a:noAutofit/>
          </a:bodyPr>
          <a:lstStyle/>
          <a:p>
            <a:pPr algn="l"/>
            <a:r>
              <a:rPr sz="1150" b="1" i="0">
                <a:solidFill>
                  <a:srgbClr val="202124"/>
                </a:solidFill>
                <a:latin typeface="Google Sans Flex"/>
              </a:rPr>
              <a:t>WhatsApp seller agent</a:t>
            </a:r>
          </a:p>
        </p:txBody>
      </p:sp>
      <p:sp>
        <p:nvSpPr>
          <p:cNvPr id="104" name="Status 3"/>
          <p:cNvSpPr/>
          <p:nvPr/>
        </p:nvSpPr>
        <p:spPr>
          <a:xfrm>
            <a:off x="6245352" y="1837943"/>
            <a:ext cx="429768" cy="201168"/>
          </a:xfrm>
          <a:prstGeom prst="roundRect">
            <a:avLst>
              <a:gd name="adj" fmla="val 50000"/>
            </a:avLst>
          </a:prstGeom>
          <a:solidFill>
            <a:srgbClr val="E6F4EA"/>
          </a:solidFill>
          <a:ln w="6350">
            <a:solidFill>
              <a:srgbClr val="18803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750" b="1" i="0">
                <a:solidFill>
                  <a:srgbClr val="188038"/>
                </a:solidFill>
                <a:latin typeface="Google Sans Flex"/>
              </a:rPr>
              <a:t>Built</a:t>
            </a:r>
          </a:p>
        </p:txBody>
      </p:sp>
      <p:sp>
        <p:nvSpPr>
          <p:cNvPr id="105" name="TextBox 104"/>
          <p:cNvSpPr txBox="1"/>
          <p:nvPr/>
        </p:nvSpPr>
        <p:spPr>
          <a:xfrm>
            <a:off x="6245352" y="2093976"/>
            <a:ext cx="2414016" cy="685800"/>
          </a:xfrm>
          <a:prstGeom prst="rect">
            <a:avLst/>
          </a:prstGeom>
          <a:noFill/>
        </p:spPr>
        <p:txBody>
          <a:bodyPr wrap="square" lIns="18288" rIns="18288" tIns="18288" bIns="18288" anchor="t">
            <a:noAutofit/>
          </a:bodyPr>
          <a:lstStyle/>
          <a:p>
            <a:pPr algn="l"/>
            <a:r>
              <a:rPr sz="950" b="0" i="0">
                <a:solidFill>
                  <a:srgbClr val="202124"/>
                </a:solidFill>
                <a:latin typeface="Google Sans Flex"/>
              </a:rPr>
              <a:t>An ADK agent lets sellers update stock and prices by chat, accept orders and send tracking numbers. Order buttons never go through the model.</a:t>
            </a:r>
          </a:p>
        </p:txBody>
      </p:sp>
      <p:sp>
        <p:nvSpPr>
          <p:cNvPr id="106" name="Feature card 4"/>
          <p:cNvSpPr/>
          <p:nvPr/>
        </p:nvSpPr>
        <p:spPr>
          <a:xfrm>
            <a:off x="356616" y="29900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Icon bg checkout"/>
          <p:cNvSpPr/>
          <p:nvPr/>
        </p:nvSpPr>
        <p:spPr>
          <a:xfrm>
            <a:off x="521208" y="3154680"/>
            <a:ext cx="420624" cy="42062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8" name="Picture 107" descr="checkout.png"/>
          <p:cNvPicPr>
            <a:picLocks noChangeAspect="1"/>
          </p:cNvPicPr>
          <p:nvPr/>
        </p:nvPicPr>
        <p:blipFill>
          <a:blip r:embed="rId8"/>
          <a:stretch>
            <a:fillRect/>
          </a:stretch>
        </p:blipFill>
        <p:spPr>
          <a:xfrm>
            <a:off x="613745" y="3247217"/>
            <a:ext cx="235549" cy="235549"/>
          </a:xfrm>
          <a:prstGeom prst="rect">
            <a:avLst/>
          </a:prstGeom>
        </p:spPr>
      </p:pic>
      <p:sp>
        <p:nvSpPr>
          <p:cNvPr id="109" name="TextBox 108"/>
          <p:cNvSpPr txBox="1"/>
          <p:nvPr/>
        </p:nvSpPr>
        <p:spPr>
          <a:xfrm>
            <a:off x="1033271" y="3136392"/>
            <a:ext cx="1901952" cy="457200"/>
          </a:xfrm>
          <a:prstGeom prst="rect">
            <a:avLst/>
          </a:prstGeom>
          <a:noFill/>
        </p:spPr>
        <p:txBody>
          <a:bodyPr wrap="square" lIns="18288" rIns="18288" tIns="18288" bIns="18288" anchor="ctr">
            <a:noAutofit/>
          </a:bodyPr>
          <a:lstStyle/>
          <a:p>
            <a:pPr algn="l"/>
            <a:r>
              <a:rPr sz="1150" b="1" i="0">
                <a:solidFill>
                  <a:srgbClr val="202124"/>
                </a:solidFill>
                <a:latin typeface="Google Sans Flex"/>
              </a:rPr>
              <a:t>Safe agent checkout</a:t>
            </a:r>
          </a:p>
        </p:txBody>
      </p:sp>
      <p:sp>
        <p:nvSpPr>
          <p:cNvPr id="110" name="Status 4"/>
          <p:cNvSpPr/>
          <p:nvPr/>
        </p:nvSpPr>
        <p:spPr>
          <a:xfrm>
            <a:off x="502920" y="3666744"/>
            <a:ext cx="1223467" cy="201168"/>
          </a:xfrm>
          <a:prstGeom prst="roundRect">
            <a:avLst>
              <a:gd name="adj" fmla="val 50000"/>
            </a:avLst>
          </a:prstGeom>
          <a:solidFill>
            <a:srgbClr val="E8F0FE"/>
          </a:solidFill>
          <a:ln w="6350">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750" b="1" i="0">
                <a:solidFill>
                  <a:srgbClr val="1A73E8"/>
                </a:solidFill>
                <a:latin typeface="Google Sans Flex"/>
              </a:rPr>
              <a:t>Built · QRIS mocked</a:t>
            </a:r>
          </a:p>
        </p:txBody>
      </p:sp>
      <p:sp>
        <p:nvSpPr>
          <p:cNvPr id="111" name="TextBox 110"/>
          <p:cNvSpPr txBox="1"/>
          <p:nvPr/>
        </p:nvSpPr>
        <p:spPr>
          <a:xfrm>
            <a:off x="502920" y="3922776"/>
            <a:ext cx="2414016" cy="685800"/>
          </a:xfrm>
          <a:prstGeom prst="rect">
            <a:avLst/>
          </a:prstGeom>
          <a:noFill/>
        </p:spPr>
        <p:txBody>
          <a:bodyPr wrap="square" lIns="18288" rIns="18288" tIns="18288" bIns="18288" anchor="t">
            <a:noAutofit/>
          </a:bodyPr>
          <a:lstStyle/>
          <a:p>
            <a:pPr algn="l"/>
            <a:r>
              <a:rPr sz="950" b="0" i="0">
                <a:solidFill>
                  <a:srgbClr val="202124"/>
                </a:solidFill>
                <a:latin typeface="Google Sans Flex"/>
              </a:rPr>
              <a:t>Stock is reserved at checkout and low-confidence stock is confirmed with the seller first: 0 units oversold when 100 buyers race.</a:t>
            </a:r>
          </a:p>
        </p:txBody>
      </p:sp>
      <p:sp>
        <p:nvSpPr>
          <p:cNvPr id="112" name="Feature card 5"/>
          <p:cNvSpPr/>
          <p:nvPr/>
        </p:nvSpPr>
        <p:spPr>
          <a:xfrm>
            <a:off x="3227832" y="29900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Icon bg shipping"/>
          <p:cNvSpPr/>
          <p:nvPr/>
        </p:nvSpPr>
        <p:spPr>
          <a:xfrm>
            <a:off x="3392424" y="3154680"/>
            <a:ext cx="420624" cy="42062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4" name="Picture 113" descr="shipping.png"/>
          <p:cNvPicPr>
            <a:picLocks noChangeAspect="1"/>
          </p:cNvPicPr>
          <p:nvPr/>
        </p:nvPicPr>
        <p:blipFill>
          <a:blip r:embed="rId9"/>
          <a:stretch>
            <a:fillRect/>
          </a:stretch>
        </p:blipFill>
        <p:spPr>
          <a:xfrm>
            <a:off x="3484961" y="3247217"/>
            <a:ext cx="235549" cy="235549"/>
          </a:xfrm>
          <a:prstGeom prst="rect">
            <a:avLst/>
          </a:prstGeom>
        </p:spPr>
      </p:pic>
      <p:sp>
        <p:nvSpPr>
          <p:cNvPr id="115" name="TextBox 114"/>
          <p:cNvSpPr txBox="1"/>
          <p:nvPr/>
        </p:nvSpPr>
        <p:spPr>
          <a:xfrm>
            <a:off x="3904488" y="3136392"/>
            <a:ext cx="1901952" cy="457200"/>
          </a:xfrm>
          <a:prstGeom prst="rect">
            <a:avLst/>
          </a:prstGeom>
          <a:noFill/>
        </p:spPr>
        <p:txBody>
          <a:bodyPr wrap="square" lIns="18288" rIns="18288" tIns="18288" bIns="18288" anchor="ctr">
            <a:noAutofit/>
          </a:bodyPr>
          <a:lstStyle/>
          <a:p>
            <a:pPr algn="l"/>
            <a:r>
              <a:rPr sz="1150" b="1" i="0">
                <a:solidFill>
                  <a:srgbClr val="202124"/>
                </a:solidFill>
                <a:latin typeface="Google Sans Flex"/>
              </a:rPr>
              <a:t>Shipping &amp; payouts</a:t>
            </a:r>
          </a:p>
        </p:txBody>
      </p:sp>
      <p:sp>
        <p:nvSpPr>
          <p:cNvPr id="116" name="Status 5"/>
          <p:cNvSpPr/>
          <p:nvPr/>
        </p:nvSpPr>
        <p:spPr>
          <a:xfrm>
            <a:off x="3374136" y="3666744"/>
            <a:ext cx="940003" cy="201168"/>
          </a:xfrm>
          <a:prstGeom prst="roundRect">
            <a:avLst>
              <a:gd name="adj" fmla="val 50000"/>
            </a:avLst>
          </a:prstGeom>
          <a:solidFill>
            <a:srgbClr val="FEF7E0"/>
          </a:solidFill>
          <a:ln w="6350">
            <a:solidFill>
              <a:srgbClr val="B0600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750" b="1" i="0">
                <a:solidFill>
                  <a:srgbClr val="B06000"/>
                </a:solidFill>
                <a:latin typeface="Google Sans Flex"/>
              </a:rPr>
              <a:t>Mocked in demo</a:t>
            </a:r>
          </a:p>
        </p:txBody>
      </p:sp>
      <p:sp>
        <p:nvSpPr>
          <p:cNvPr id="117" name="TextBox 116"/>
          <p:cNvSpPr txBox="1"/>
          <p:nvPr/>
        </p:nvSpPr>
        <p:spPr>
          <a:xfrm>
            <a:off x="3374136" y="3922776"/>
            <a:ext cx="2414016" cy="685800"/>
          </a:xfrm>
          <a:prstGeom prst="rect">
            <a:avLst/>
          </a:prstGeom>
          <a:noFill/>
        </p:spPr>
        <p:txBody>
          <a:bodyPr wrap="square" lIns="18288" rIns="18288" tIns="18288" bIns="18288" anchor="t">
            <a:noAutofit/>
          </a:bodyPr>
          <a:lstStyle/>
          <a:p>
            <a:pPr algn="l"/>
            <a:r>
              <a:rPr sz="950" b="0" i="0">
                <a:solidFill>
                  <a:srgbClr val="202124"/>
                </a:solidFill>
                <a:latin typeface="Google Sans Flex"/>
              </a:rPr>
              <a:t>Courier rates, delivery confirmed with the courier, then payout minus commission. Biteship and Xendit adapters are wired; the demo runs on mocks.</a:t>
            </a:r>
          </a:p>
        </p:txBody>
      </p:sp>
      <p:sp>
        <p:nvSpPr>
          <p:cNvPr id="118" name="Feature card 6"/>
          <p:cNvSpPr/>
          <p:nvPr/>
        </p:nvSpPr>
        <p:spPr>
          <a:xfrm>
            <a:off x="6099048" y="29900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Icon bg connectors"/>
          <p:cNvSpPr/>
          <p:nvPr/>
        </p:nvSpPr>
        <p:spPr>
          <a:xfrm>
            <a:off x="6263640" y="3154680"/>
            <a:ext cx="420624" cy="42062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0" name="Picture 119" descr="connectors.png"/>
          <p:cNvPicPr>
            <a:picLocks noChangeAspect="1"/>
          </p:cNvPicPr>
          <p:nvPr/>
        </p:nvPicPr>
        <p:blipFill>
          <a:blip r:embed="rId10"/>
          <a:stretch>
            <a:fillRect/>
          </a:stretch>
        </p:blipFill>
        <p:spPr>
          <a:xfrm>
            <a:off x="6356177" y="3247217"/>
            <a:ext cx="235549" cy="235549"/>
          </a:xfrm>
          <a:prstGeom prst="rect">
            <a:avLst/>
          </a:prstGeom>
        </p:spPr>
      </p:pic>
      <p:sp>
        <p:nvSpPr>
          <p:cNvPr id="121" name="TextBox 120"/>
          <p:cNvSpPr txBox="1"/>
          <p:nvPr/>
        </p:nvSpPr>
        <p:spPr>
          <a:xfrm>
            <a:off x="6775704" y="3136392"/>
            <a:ext cx="1901952" cy="457200"/>
          </a:xfrm>
          <a:prstGeom prst="rect">
            <a:avLst/>
          </a:prstGeom>
          <a:noFill/>
        </p:spPr>
        <p:txBody>
          <a:bodyPr wrap="square" lIns="18288" rIns="18288" tIns="18288" bIns="18288" anchor="ctr">
            <a:noAutofit/>
          </a:bodyPr>
          <a:lstStyle/>
          <a:p>
            <a:pPr algn="l"/>
            <a:r>
              <a:rPr sz="1150" b="1" i="0">
                <a:solidFill>
                  <a:srgbClr val="202124"/>
                </a:solidFill>
                <a:latin typeface="Google Sans Flex"/>
              </a:rPr>
              <a:t>Connectors</a:t>
            </a:r>
          </a:p>
        </p:txBody>
      </p:sp>
      <p:sp>
        <p:nvSpPr>
          <p:cNvPr id="122" name="Status 6"/>
          <p:cNvSpPr/>
          <p:nvPr/>
        </p:nvSpPr>
        <p:spPr>
          <a:xfrm>
            <a:off x="6245352" y="3666744"/>
            <a:ext cx="1110081" cy="201168"/>
          </a:xfrm>
          <a:prstGeom prst="roundRect">
            <a:avLst>
              <a:gd name="adj" fmla="val 50000"/>
            </a:avLst>
          </a:prstGeom>
          <a:solidFill>
            <a:srgbClr val="E8F0FE"/>
          </a:solidFill>
          <a:ln w="6350">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750" b="1" i="0">
                <a:solidFill>
                  <a:srgbClr val="1A73E8"/>
                </a:solidFill>
                <a:latin typeface="Google Sans Flex"/>
              </a:rPr>
              <a:t>Built · more next</a:t>
            </a:r>
          </a:p>
        </p:txBody>
      </p:sp>
      <p:sp>
        <p:nvSpPr>
          <p:cNvPr id="123" name="TextBox 122"/>
          <p:cNvSpPr txBox="1"/>
          <p:nvPr/>
        </p:nvSpPr>
        <p:spPr>
          <a:xfrm>
            <a:off x="6245352" y="3922776"/>
            <a:ext cx="2414016" cy="685800"/>
          </a:xfrm>
          <a:prstGeom prst="rect">
            <a:avLst/>
          </a:prstGeom>
          <a:noFill/>
        </p:spPr>
        <p:txBody>
          <a:bodyPr wrap="square" lIns="18288" rIns="18288" tIns="18288" bIns="18288" anchor="t">
            <a:noAutofit/>
          </a:bodyPr>
          <a:lstStyle/>
          <a:p>
            <a:pPr algn="l"/>
            <a:r>
              <a:rPr sz="950" b="0" i="0">
                <a:solidFill>
                  <a:srgbClr val="202124"/>
                </a:solidFill>
                <a:latin typeface="Google Sans Flex"/>
              </a:rPr>
              <a:t>Instagram post import and an OpenAPI Connector API for website builders work today. Google Sheets, OMSs and WooCommerce come next.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Lane bg 1"/>
          <p:cNvSpPr/>
          <p:nvPr/>
        </p:nvSpPr>
        <p:spPr>
          <a:xfrm>
            <a:off x="356616" y="1161288"/>
            <a:ext cx="8430767" cy="64008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Lane label 1"/>
          <p:cNvSpPr/>
          <p:nvPr/>
        </p:nvSpPr>
        <p:spPr>
          <a:xfrm>
            <a:off x="356616" y="1216152"/>
            <a:ext cx="1024128" cy="530352"/>
          </a:xfrm>
          <a:prstGeom prst="roundRect">
            <a:avLst>
              <a:gd name="adj" fmla="val 10344"/>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l"/>
            <a:r>
              <a:rPr sz="850" b="1" i="0">
                <a:solidFill>
                  <a:srgbClr val="188038"/>
                </a:solidFill>
                <a:latin typeface="Google Sans Flex"/>
              </a:rPr>
              <a:t>Seller (WhatsApp)</a:t>
            </a:r>
          </a:p>
        </p:txBody>
      </p:sp>
      <p:sp>
        <p:nvSpPr>
          <p:cNvPr id="98" name="Lane label 2"/>
          <p:cNvSpPr/>
          <p:nvPr/>
        </p:nvSpPr>
        <p:spPr>
          <a:xfrm>
            <a:off x="356616" y="1856231"/>
            <a:ext cx="1024128" cy="530352"/>
          </a:xfrm>
          <a:prstGeom prst="roundRect">
            <a:avLst>
              <a:gd name="adj" fmla="val 10344"/>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l"/>
            <a:r>
              <a:rPr sz="850" b="1" i="0">
                <a:solidFill>
                  <a:srgbClr val="1A73E8"/>
                </a:solidFill>
                <a:latin typeface="Google Sans Flex"/>
              </a:rPr>
              <a:t>Etalase</a:t>
            </a:r>
          </a:p>
        </p:txBody>
      </p:sp>
      <p:sp>
        <p:nvSpPr>
          <p:cNvPr id="99" name="Lane bg 3"/>
          <p:cNvSpPr/>
          <p:nvPr/>
        </p:nvSpPr>
        <p:spPr>
          <a:xfrm>
            <a:off x="356616" y="2441448"/>
            <a:ext cx="8430767" cy="64008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Lane label 3"/>
          <p:cNvSpPr/>
          <p:nvPr/>
        </p:nvSpPr>
        <p:spPr>
          <a:xfrm>
            <a:off x="356616" y="2496312"/>
            <a:ext cx="1024128" cy="530352"/>
          </a:xfrm>
          <a:prstGeom prst="roundRect">
            <a:avLst>
              <a:gd name="adj" fmla="val 10344"/>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l"/>
            <a:r>
              <a:rPr sz="850" b="1" i="0">
                <a:solidFill>
                  <a:srgbClr val="B06000"/>
                </a:solidFill>
                <a:latin typeface="Google Sans Flex"/>
              </a:rPr>
              <a:t>Buyer's AI agent</a:t>
            </a:r>
          </a:p>
        </p:txBody>
      </p:sp>
      <p:sp>
        <p:nvSpPr>
          <p:cNvPr id="101" name="Lane label 4"/>
          <p:cNvSpPr/>
          <p:nvPr/>
        </p:nvSpPr>
        <p:spPr>
          <a:xfrm>
            <a:off x="356616" y="3136391"/>
            <a:ext cx="1024128" cy="530352"/>
          </a:xfrm>
          <a:prstGeom prst="roundRect">
            <a:avLst>
              <a:gd name="adj" fmla="val 10344"/>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l"/>
            <a:r>
              <a:rPr sz="850" b="1" i="0">
                <a:solidFill>
                  <a:srgbClr val="5F6368"/>
                </a:solidFill>
                <a:latin typeface="Google Sans Flex"/>
              </a:rPr>
              <a:t>Buyer</a:t>
            </a:r>
          </a:p>
        </p:txBody>
      </p:sp>
      <p:sp>
        <p:nvSpPr>
          <p:cNvPr id="102" name="Lane bg 5"/>
          <p:cNvSpPr/>
          <p:nvPr/>
        </p:nvSpPr>
        <p:spPr>
          <a:xfrm>
            <a:off x="356616" y="3721608"/>
            <a:ext cx="8430767" cy="64008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Lane label 5"/>
          <p:cNvSpPr/>
          <p:nvPr/>
        </p:nvSpPr>
        <p:spPr>
          <a:xfrm>
            <a:off x="356616" y="3776472"/>
            <a:ext cx="1024128" cy="530352"/>
          </a:xfrm>
          <a:prstGeom prst="roundRect">
            <a:avLst>
              <a:gd name="adj" fmla="val 10344"/>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l"/>
            <a:r>
              <a:rPr sz="850" b="1" i="0">
                <a:solidFill>
                  <a:srgbClr val="D93025"/>
                </a:solidFill>
                <a:latin typeface="Google Sans Flex"/>
              </a:rPr>
              <a:t>Payment &amp; courier</a:t>
            </a:r>
          </a:p>
        </p:txBody>
      </p:sp>
      <p:sp>
        <p:nvSpPr>
          <p:cNvPr id="104" name="Step 1"/>
          <p:cNvSpPr/>
          <p:nvPr/>
        </p:nvSpPr>
        <p:spPr>
          <a:xfrm>
            <a:off x="1517904" y="1225295"/>
            <a:ext cx="721360" cy="512064"/>
          </a:xfrm>
          <a:prstGeom prst="roundRect">
            <a:avLst>
              <a:gd name="adj" fmla="val 10714"/>
            </a:avLst>
          </a:prstGeom>
          <a:solidFill>
            <a:srgbClr val="FFFFFF"/>
          </a:solidFill>
          <a:ln w="12700">
            <a:solidFill>
              <a:srgbClr val="18803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l"/>
            <a:r>
              <a:rPr sz="750" b="1" i="0">
                <a:solidFill>
                  <a:srgbClr val="188038"/>
                </a:solidFill>
                <a:latin typeface="Google Sans Flex"/>
              </a:rPr>
              <a:t>1  </a:t>
            </a:r>
            <a:r>
              <a:rPr sz="750" b="0" i="0">
                <a:solidFill>
                  <a:srgbClr val="202124"/>
                </a:solidFill>
                <a:latin typeface="Google Sans Flex"/>
              </a:rPr>
              <a:t>Sends photos + voice note</a:t>
            </a:r>
          </a:p>
        </p:txBody>
      </p:sp>
      <p:sp>
        <p:nvSpPr>
          <p:cNvPr id="105" name="Step 2"/>
          <p:cNvSpPr/>
          <p:nvPr/>
        </p:nvSpPr>
        <p:spPr>
          <a:xfrm>
            <a:off x="2330704" y="1865376"/>
            <a:ext cx="721360" cy="512064"/>
          </a:xfrm>
          <a:prstGeom prst="roundRect">
            <a:avLst>
              <a:gd name="adj" fmla="val 10714"/>
            </a:avLst>
          </a:prstGeom>
          <a:solidFill>
            <a:srgbClr val="FFFFFF"/>
          </a:solidFill>
          <a:ln w="12700">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l"/>
            <a:r>
              <a:rPr sz="750" b="1" i="0">
                <a:solidFill>
                  <a:srgbClr val="1A73E8"/>
                </a:solidFill>
                <a:latin typeface="Google Sans Flex"/>
              </a:rPr>
              <a:t>2  </a:t>
            </a:r>
            <a:r>
              <a:rPr sz="750" b="0" i="0">
                <a:solidFill>
                  <a:srgbClr val="202124"/>
                </a:solidFill>
                <a:latin typeface="Google Sans Flex"/>
              </a:rPr>
              <a:t>Gemini builds catalog, publishes it</a:t>
            </a:r>
          </a:p>
        </p:txBody>
      </p:sp>
      <p:sp>
        <p:nvSpPr>
          <p:cNvPr id="106" name="Step 3"/>
          <p:cNvSpPr/>
          <p:nvPr/>
        </p:nvSpPr>
        <p:spPr>
          <a:xfrm>
            <a:off x="3143504" y="3145535"/>
            <a:ext cx="721360" cy="512064"/>
          </a:xfrm>
          <a:prstGeom prst="roundRect">
            <a:avLst>
              <a:gd name="adj" fmla="val 10714"/>
            </a:avLst>
          </a:prstGeom>
          <a:solidFill>
            <a:srgbClr val="FFFFFF"/>
          </a:solidFill>
          <a:ln w="12700">
            <a:solidFill>
              <a:srgbClr val="5F636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l"/>
            <a:r>
              <a:rPr sz="750" b="1" i="0">
                <a:solidFill>
                  <a:srgbClr val="5F6368"/>
                </a:solidFill>
                <a:latin typeface="Google Sans Flex"/>
              </a:rPr>
              <a:t>3  </a:t>
            </a:r>
            <a:r>
              <a:rPr sz="750" b="0" i="0">
                <a:solidFill>
                  <a:srgbClr val="202124"/>
                </a:solidFill>
                <a:latin typeface="Google Sans Flex"/>
              </a:rPr>
              <a:t>Asks agent for a product</a:t>
            </a:r>
          </a:p>
        </p:txBody>
      </p:sp>
      <p:sp>
        <p:nvSpPr>
          <p:cNvPr id="107" name="Step 4"/>
          <p:cNvSpPr/>
          <p:nvPr/>
        </p:nvSpPr>
        <p:spPr>
          <a:xfrm>
            <a:off x="3956304" y="2505456"/>
            <a:ext cx="721360" cy="512064"/>
          </a:xfrm>
          <a:prstGeom prst="roundRect">
            <a:avLst>
              <a:gd name="adj" fmla="val 10714"/>
            </a:avLst>
          </a:prstGeom>
          <a:solidFill>
            <a:srgbClr val="FFFFFF"/>
          </a:solidFill>
          <a:ln w="12700">
            <a:solidFill>
              <a:srgbClr val="B06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l"/>
            <a:r>
              <a:rPr sz="750" b="1" i="0">
                <a:solidFill>
                  <a:srgbClr val="B06000"/>
                </a:solidFill>
                <a:latin typeface="Google Sans Flex"/>
              </a:rPr>
              <a:t>4  </a:t>
            </a:r>
            <a:r>
              <a:rPr sz="750" b="0" i="0">
                <a:solidFill>
                  <a:srgbClr val="202124"/>
                </a:solidFill>
                <a:latin typeface="Google Sans Flex"/>
              </a:rPr>
              <a:t>Search &amp; checkout via UCP / MCP</a:t>
            </a:r>
          </a:p>
        </p:txBody>
      </p:sp>
      <p:sp>
        <p:nvSpPr>
          <p:cNvPr id="108" name="Step 5"/>
          <p:cNvSpPr/>
          <p:nvPr/>
        </p:nvSpPr>
        <p:spPr>
          <a:xfrm>
            <a:off x="4769104" y="1865376"/>
            <a:ext cx="721360" cy="512064"/>
          </a:xfrm>
          <a:prstGeom prst="roundRect">
            <a:avLst>
              <a:gd name="adj" fmla="val 10714"/>
            </a:avLst>
          </a:prstGeom>
          <a:solidFill>
            <a:srgbClr val="FFFFFF"/>
          </a:solidFill>
          <a:ln w="12700">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l"/>
            <a:r>
              <a:rPr sz="750" b="1" i="0">
                <a:solidFill>
                  <a:srgbClr val="1A73E8"/>
                </a:solidFill>
                <a:latin typeface="Google Sans Flex"/>
              </a:rPr>
              <a:t>5  </a:t>
            </a:r>
            <a:r>
              <a:rPr sz="750" b="0" i="0">
                <a:solidFill>
                  <a:srgbClr val="202124"/>
                </a:solidFill>
                <a:latin typeface="Google Sans Flex"/>
              </a:rPr>
              <a:t>Reserves stock, courier rate, QRIS</a:t>
            </a:r>
          </a:p>
        </p:txBody>
      </p:sp>
      <p:sp>
        <p:nvSpPr>
          <p:cNvPr id="109" name="Step 6"/>
          <p:cNvSpPr/>
          <p:nvPr/>
        </p:nvSpPr>
        <p:spPr>
          <a:xfrm>
            <a:off x="5581904" y="3145535"/>
            <a:ext cx="721360" cy="512064"/>
          </a:xfrm>
          <a:prstGeom prst="roundRect">
            <a:avLst>
              <a:gd name="adj" fmla="val 10714"/>
            </a:avLst>
          </a:prstGeom>
          <a:solidFill>
            <a:srgbClr val="FFFFFF"/>
          </a:solidFill>
          <a:ln w="12700">
            <a:solidFill>
              <a:srgbClr val="5F636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l"/>
            <a:r>
              <a:rPr sz="750" b="1" i="0">
                <a:solidFill>
                  <a:srgbClr val="5F6368"/>
                </a:solidFill>
                <a:latin typeface="Google Sans Flex"/>
              </a:rPr>
              <a:t>6  </a:t>
            </a:r>
            <a:r>
              <a:rPr sz="750" b="0" i="0">
                <a:solidFill>
                  <a:srgbClr val="202124"/>
                </a:solidFill>
                <a:latin typeface="Google Sans Flex"/>
              </a:rPr>
              <a:t>Pays with QRIS</a:t>
            </a:r>
          </a:p>
        </p:txBody>
      </p:sp>
      <p:sp>
        <p:nvSpPr>
          <p:cNvPr id="110" name="Step 7"/>
          <p:cNvSpPr/>
          <p:nvPr/>
        </p:nvSpPr>
        <p:spPr>
          <a:xfrm>
            <a:off x="6394704" y="3785616"/>
            <a:ext cx="721360" cy="512064"/>
          </a:xfrm>
          <a:prstGeom prst="roundRect">
            <a:avLst>
              <a:gd name="adj" fmla="val 10714"/>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l"/>
            <a:r>
              <a:rPr sz="750" b="1" i="0">
                <a:solidFill>
                  <a:srgbClr val="D93025"/>
                </a:solidFill>
                <a:latin typeface="Google Sans Flex"/>
              </a:rPr>
              <a:t>7  </a:t>
            </a:r>
            <a:r>
              <a:rPr sz="750" b="0" i="0">
                <a:solidFill>
                  <a:srgbClr val="202124"/>
                </a:solidFill>
                <a:latin typeface="Google Sans Flex"/>
              </a:rPr>
              <a:t>Payment confirmed (webhook)</a:t>
            </a:r>
          </a:p>
        </p:txBody>
      </p:sp>
      <p:sp>
        <p:nvSpPr>
          <p:cNvPr id="111" name="Step 8"/>
          <p:cNvSpPr/>
          <p:nvPr/>
        </p:nvSpPr>
        <p:spPr>
          <a:xfrm>
            <a:off x="7207503" y="1225295"/>
            <a:ext cx="721360" cy="512064"/>
          </a:xfrm>
          <a:prstGeom prst="roundRect">
            <a:avLst>
              <a:gd name="adj" fmla="val 10714"/>
            </a:avLst>
          </a:prstGeom>
          <a:solidFill>
            <a:srgbClr val="FFFFFF"/>
          </a:solidFill>
          <a:ln w="12700">
            <a:solidFill>
              <a:srgbClr val="18803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l"/>
            <a:r>
              <a:rPr sz="750" b="1" i="0">
                <a:solidFill>
                  <a:srgbClr val="188038"/>
                </a:solidFill>
                <a:latin typeface="Google Sans Flex"/>
              </a:rPr>
              <a:t>8  </a:t>
            </a:r>
            <a:r>
              <a:rPr sz="750" b="0" i="0">
                <a:solidFill>
                  <a:srgbClr val="202124"/>
                </a:solidFill>
                <a:latin typeface="Google Sans Flex"/>
              </a:rPr>
              <a:t>Accepts order in WhatsApp</a:t>
            </a:r>
          </a:p>
        </p:txBody>
      </p:sp>
      <p:sp>
        <p:nvSpPr>
          <p:cNvPr id="112" name="Step 9"/>
          <p:cNvSpPr/>
          <p:nvPr/>
        </p:nvSpPr>
        <p:spPr>
          <a:xfrm>
            <a:off x="8020304" y="3785616"/>
            <a:ext cx="721360" cy="512064"/>
          </a:xfrm>
          <a:prstGeom prst="roundRect">
            <a:avLst>
              <a:gd name="adj" fmla="val 10714"/>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l"/>
            <a:r>
              <a:rPr sz="750" b="1" i="0">
                <a:solidFill>
                  <a:srgbClr val="D93025"/>
                </a:solidFill>
                <a:latin typeface="Google Sans Flex"/>
              </a:rPr>
              <a:t>9  </a:t>
            </a:r>
            <a:r>
              <a:rPr sz="750" b="0" i="0">
                <a:solidFill>
                  <a:srgbClr val="202124"/>
                </a:solidFill>
                <a:latin typeface="Google Sans Flex"/>
              </a:rPr>
              <a:t>Courier pickup &amp; tracking</a:t>
            </a:r>
          </a:p>
        </p:txBody>
      </p:sp>
      <p:sp>
        <p:nvSpPr>
          <p:cNvPr id="113" name="Step 10"/>
          <p:cNvSpPr/>
          <p:nvPr/>
        </p:nvSpPr>
        <p:spPr>
          <a:xfrm>
            <a:off x="8020304" y="1865376"/>
            <a:ext cx="721360" cy="512064"/>
          </a:xfrm>
          <a:prstGeom prst="roundRect">
            <a:avLst>
              <a:gd name="adj" fmla="val 10714"/>
            </a:avLst>
          </a:prstGeom>
          <a:solidFill>
            <a:srgbClr val="FFFFFF"/>
          </a:solidFill>
          <a:ln w="12700">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l"/>
            <a:r>
              <a:rPr sz="750" b="1" i="0">
                <a:solidFill>
                  <a:srgbClr val="1A73E8"/>
                </a:solidFill>
                <a:latin typeface="Google Sans Flex"/>
              </a:rPr>
              <a:t>10  </a:t>
            </a:r>
            <a:r>
              <a:rPr sz="750" b="0" i="0">
                <a:solidFill>
                  <a:srgbClr val="202124"/>
                </a:solidFill>
                <a:latin typeface="Google Sans Flex"/>
              </a:rPr>
              <a:t>Payout after delivery</a:t>
            </a:r>
          </a:p>
        </p:txBody>
      </p:sp>
      <p:cxnSp>
        <p:nvCxnSpPr>
          <p:cNvPr id="114" name="Connector 113"/>
          <p:cNvCxnSpPr/>
          <p:nvPr/>
        </p:nvCxnSpPr>
        <p:spPr>
          <a:xfrm>
            <a:off x="2239264" y="1481328"/>
            <a:ext cx="91440" cy="640080"/>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3052064" y="2121408"/>
            <a:ext cx="91440" cy="1280160"/>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864864" y="2761487"/>
            <a:ext cx="91440" cy="640081"/>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4677664" y="2121408"/>
            <a:ext cx="91440" cy="640079"/>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5490464" y="2121408"/>
            <a:ext cx="91440" cy="1280160"/>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303264" y="3401568"/>
            <a:ext cx="91440" cy="640080"/>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7116064" y="1481328"/>
            <a:ext cx="91439" cy="2560320"/>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7928864" y="1481328"/>
            <a:ext cx="91440" cy="2560320"/>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380983" y="2377440"/>
            <a:ext cx="0" cy="1408176"/>
          </a:xfrm>
          <a:prstGeom prst="line">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356616" y="4425696"/>
            <a:ext cx="8430767" cy="274320"/>
          </a:xfrm>
          <a:prstGeom prst="rect">
            <a:avLst/>
          </a:prstGeom>
          <a:noFill/>
        </p:spPr>
        <p:txBody>
          <a:bodyPr wrap="square" lIns="18288" rIns="18288" tIns="18288" bIns="18288" anchor="t">
            <a:noAutofit/>
          </a:bodyPr>
          <a:lstStyle/>
          <a:p>
            <a:pPr algn="l"/>
            <a:r>
              <a:rPr sz="800" b="0" i="1">
                <a:solidFill>
                  <a:srgbClr val="5F6368"/>
                </a:solidFill>
                <a:latin typeface="Google Sans Flex"/>
              </a:rPr>
              <a:t>If stock confidence is low (stale or nearly sold out), the seller confirms stock before the QRIS link is sent. Stock reservations expire after 15 minutes if unpaid.</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Phone 1"/>
          <p:cNvSpPr/>
          <p:nvPr/>
        </p:nvSpPr>
        <p:spPr>
          <a:xfrm>
            <a:off x="768096" y="1161288"/>
            <a:ext cx="2103120" cy="3529584"/>
          </a:xfrm>
          <a:prstGeom prst="roundRect">
            <a:avLst>
              <a:gd name="adj" fmla="val 8695"/>
            </a:avLst>
          </a:prstGeom>
          <a:solidFill>
            <a:srgbClr val="EFEAE2"/>
          </a:solidFill>
          <a:ln w="19050">
            <a:solidFill>
              <a:srgbClr val="2021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hone 1 header"/>
          <p:cNvSpPr/>
          <p:nvPr/>
        </p:nvSpPr>
        <p:spPr>
          <a:xfrm>
            <a:off x="822960" y="1216152"/>
            <a:ext cx="1993391" cy="347472"/>
          </a:xfrm>
          <a:prstGeom prst="roundRect">
            <a:avLst>
              <a:gd name="adj" fmla="val 36842"/>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noAutofit/>
          </a:bodyPr>
          <a:lstStyle/>
          <a:p>
            <a:pPr algn="l"/>
            <a:r>
              <a:rPr sz="850" b="1" i="0">
                <a:solidFill>
                  <a:srgbClr val="FFFFFF"/>
                </a:solidFill>
                <a:latin typeface="Google Sans Flex"/>
              </a:rPr>
              <a:t>1 · Seller onboarding (WhatsApp)</a:t>
            </a:r>
          </a:p>
        </p:txBody>
      </p:sp>
      <p:sp>
        <p:nvSpPr>
          <p:cNvPr id="106" name="Rounded Rectangle 105"/>
          <p:cNvSpPr/>
          <p:nvPr/>
        </p:nvSpPr>
        <p:spPr>
          <a:xfrm>
            <a:off x="1207007" y="1673352"/>
            <a:ext cx="1536192" cy="571500"/>
          </a:xfrm>
          <a:prstGeom prst="roundRect">
            <a:avLst>
              <a:gd name="adj" fmla="val 12800"/>
            </a:avLst>
          </a:prstGeom>
          <a:solidFill>
            <a:srgbClr val="D9FD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Autofit/>
          </a:bodyPr>
          <a:lstStyle/>
          <a:p>
            <a:pPr algn="l"/>
            <a:r>
              <a:rPr sz="750" b="0" i="0">
                <a:solidFill>
                  <a:srgbClr val="202124"/>
                </a:solidFill>
                <a:latin typeface="Google Sans Flex"/>
              </a:rPr>
              <a:t>[5 product photos]</a:t>
            </a:r>
          </a:p>
          <a:p>
            <a:pPr algn="l"/>
            <a:r>
              <a:rPr sz="750" b="0" i="0">
                <a:solidFill>
                  <a:srgbClr val="202124"/>
                </a:solidFill>
                <a:latin typeface="Google Sans Flex"/>
              </a:rPr>
              <a:t>Voice note 0:18: “voal hijab, black 5, navy 3, 85 ribu”</a:t>
            </a:r>
          </a:p>
        </p:txBody>
      </p:sp>
      <p:sp>
        <p:nvSpPr>
          <p:cNvPr id="107" name="Rounded Rectangle 106"/>
          <p:cNvSpPr/>
          <p:nvPr/>
        </p:nvSpPr>
        <p:spPr>
          <a:xfrm>
            <a:off x="896112" y="2299716"/>
            <a:ext cx="1536192" cy="691515"/>
          </a:xfrm>
          <a:prstGeom prst="roundRect">
            <a:avLst>
              <a:gd name="adj" fmla="val 10578"/>
            </a:avLst>
          </a:prstGeom>
          <a:solidFill>
            <a:srgbClr val="FFFFFF"/>
          </a:solidFill>
          <a:ln w="635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Autofit/>
          </a:bodyPr>
          <a:lstStyle/>
          <a:p>
            <a:pPr algn="l"/>
            <a:r>
              <a:rPr sz="750" b="1" i="0">
                <a:solidFill>
                  <a:srgbClr val="202124"/>
                </a:solidFill>
                <a:latin typeface="Google Sans Flex"/>
              </a:rPr>
              <a:t>Found 5 products</a:t>
            </a:r>
          </a:p>
          <a:p>
            <a:pPr algn="l"/>
            <a:r>
              <a:rPr sz="750" b="0" i="0">
                <a:solidFill>
                  <a:srgbClr val="202124"/>
                </a:solidFill>
                <a:latin typeface="Google Sans Flex"/>
              </a:rPr>
              <a:t>Voal Hijab: Black (5), Navy (3)</a:t>
            </a:r>
          </a:p>
          <a:p>
            <a:pPr algn="l"/>
            <a:r>
              <a:rPr sz="750" b="0" i="0">
                <a:solidFill>
                  <a:srgbClr val="202124"/>
                </a:solidFill>
                <a:latin typeface="Google Sans Flex"/>
              </a:rPr>
              <a:t>Rp85,000 · est. 150 g</a:t>
            </a:r>
          </a:p>
          <a:p>
            <a:pPr algn="l"/>
            <a:r>
              <a:rPr sz="750" b="0" i="0">
                <a:solidFill>
                  <a:srgbClr val="202124"/>
                </a:solidFill>
                <a:latin typeface="Google Sans Flex"/>
              </a:rPr>
              <a:t>Publish to AI agents?</a:t>
            </a:r>
          </a:p>
        </p:txBody>
      </p:sp>
      <p:sp>
        <p:nvSpPr>
          <p:cNvPr id="108" name="Rounded Rectangle 107"/>
          <p:cNvSpPr/>
          <p:nvPr/>
        </p:nvSpPr>
        <p:spPr>
          <a:xfrm>
            <a:off x="896112" y="3046095"/>
            <a:ext cx="740664" cy="219456"/>
          </a:xfrm>
          <a:prstGeom prst="roundRect">
            <a:avLst>
              <a:gd name="adj" fmla="val 25000"/>
            </a:avLst>
          </a:prstGeom>
          <a:solidFill>
            <a:srgbClr val="FFFFFF"/>
          </a:solidFill>
          <a:ln w="635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750" b="1" i="0">
                <a:solidFill>
                  <a:srgbClr val="008069"/>
                </a:solidFill>
                <a:latin typeface="Google Sans Flex"/>
              </a:rPr>
              <a:t>Publish</a:t>
            </a:r>
          </a:p>
        </p:txBody>
      </p:sp>
      <p:sp>
        <p:nvSpPr>
          <p:cNvPr id="109" name="Rounded Rectangle 108"/>
          <p:cNvSpPr/>
          <p:nvPr/>
        </p:nvSpPr>
        <p:spPr>
          <a:xfrm>
            <a:off x="1691640" y="3046095"/>
            <a:ext cx="740664" cy="219456"/>
          </a:xfrm>
          <a:prstGeom prst="roundRect">
            <a:avLst>
              <a:gd name="adj" fmla="val 25000"/>
            </a:avLst>
          </a:prstGeom>
          <a:solidFill>
            <a:srgbClr val="FFFFFF"/>
          </a:solidFill>
          <a:ln w="635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750" b="1" i="0">
                <a:solidFill>
                  <a:srgbClr val="008069"/>
                </a:solidFill>
                <a:latin typeface="Google Sans Flex"/>
              </a:rPr>
              <a:t>Edit</a:t>
            </a:r>
          </a:p>
        </p:txBody>
      </p:sp>
      <p:sp>
        <p:nvSpPr>
          <p:cNvPr id="110" name="Rounded Rectangle 109"/>
          <p:cNvSpPr/>
          <p:nvPr/>
        </p:nvSpPr>
        <p:spPr>
          <a:xfrm>
            <a:off x="896112" y="3320415"/>
            <a:ext cx="1536192" cy="331470"/>
          </a:xfrm>
          <a:prstGeom prst="roundRect">
            <a:avLst>
              <a:gd name="adj" fmla="val 22068"/>
            </a:avLst>
          </a:prstGeom>
          <a:solidFill>
            <a:srgbClr val="FFFFFF"/>
          </a:solidFill>
          <a:ln w="635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Autofit/>
          </a:bodyPr>
          <a:lstStyle/>
          <a:p>
            <a:pPr algn="l"/>
            <a:r>
              <a:rPr sz="750" b="0" i="0">
                <a:solidFill>
                  <a:srgbClr val="202124"/>
                </a:solidFill>
                <a:latin typeface="Google Sans Flex"/>
              </a:rPr>
              <a:t>Your shop is live for AI agents. Readiness 86/100.</a:t>
            </a:r>
          </a:p>
        </p:txBody>
      </p:sp>
      <p:sp>
        <p:nvSpPr>
          <p:cNvPr id="111" name="Phone 2"/>
          <p:cNvSpPr/>
          <p:nvPr/>
        </p:nvSpPr>
        <p:spPr>
          <a:xfrm>
            <a:off x="3474720" y="1161288"/>
            <a:ext cx="2103120" cy="3529584"/>
          </a:xfrm>
          <a:prstGeom prst="roundRect">
            <a:avLst>
              <a:gd name="adj" fmla="val 8695"/>
            </a:avLst>
          </a:prstGeom>
          <a:solidFill>
            <a:srgbClr val="FFFFFF"/>
          </a:solidFill>
          <a:ln w="19050">
            <a:solidFill>
              <a:srgbClr val="2021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hone 2 header"/>
          <p:cNvSpPr/>
          <p:nvPr/>
        </p:nvSpPr>
        <p:spPr>
          <a:xfrm>
            <a:off x="3529584" y="1216152"/>
            <a:ext cx="1993391" cy="347472"/>
          </a:xfrm>
          <a:prstGeom prst="roundRect">
            <a:avLst>
              <a:gd name="adj" fmla="val 36842"/>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noAutofit/>
          </a:bodyPr>
          <a:lstStyle/>
          <a:p>
            <a:pPr algn="l"/>
            <a:r>
              <a:rPr sz="850" b="1" i="0">
                <a:solidFill>
                  <a:srgbClr val="FFFFFF"/>
                </a:solidFill>
                <a:latin typeface="Google Sans Flex"/>
              </a:rPr>
              <a:t>2 · Buyer's AI agent</a:t>
            </a:r>
          </a:p>
        </p:txBody>
      </p:sp>
      <p:sp>
        <p:nvSpPr>
          <p:cNvPr id="113" name="Rounded Rectangle 112"/>
          <p:cNvSpPr/>
          <p:nvPr/>
        </p:nvSpPr>
        <p:spPr>
          <a:xfrm>
            <a:off x="3913632" y="1673352"/>
            <a:ext cx="1536192" cy="451485"/>
          </a:xfrm>
          <a:prstGeom prst="roundRect">
            <a:avLst>
              <a:gd name="adj" fmla="val 16202"/>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Autofit/>
          </a:bodyPr>
          <a:lstStyle/>
          <a:p>
            <a:pPr algn="l"/>
            <a:r>
              <a:rPr sz="750" b="0" i="0">
                <a:solidFill>
                  <a:srgbClr val="202124"/>
                </a:solidFill>
                <a:latin typeface="Google Sans Flex"/>
              </a:rPr>
              <a:t>Find a black voal hijab under Rp100k, ship to Bandung</a:t>
            </a:r>
          </a:p>
        </p:txBody>
      </p:sp>
      <p:sp>
        <p:nvSpPr>
          <p:cNvPr id="114" name="Rounded Rectangle 113"/>
          <p:cNvSpPr/>
          <p:nvPr/>
        </p:nvSpPr>
        <p:spPr>
          <a:xfrm>
            <a:off x="3602736" y="2179701"/>
            <a:ext cx="1536192" cy="451485"/>
          </a:xfrm>
          <a:prstGeom prst="roundRect">
            <a:avLst>
              <a:gd name="adj" fmla="val 16202"/>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Autofit/>
          </a:bodyPr>
          <a:lstStyle/>
          <a:p>
            <a:pPr algn="l"/>
            <a:r>
              <a:rPr sz="750" b="0" i="0">
                <a:solidFill>
                  <a:srgbClr val="202124"/>
                </a:solidFill>
                <a:latin typeface="Google Sans Flex"/>
              </a:rPr>
              <a:t>Voal Hijab Black from Toko Rina, Rp85,000. JNE REG Rp12,000 (2–3 days). Buy 2?</a:t>
            </a:r>
          </a:p>
        </p:txBody>
      </p:sp>
      <p:sp>
        <p:nvSpPr>
          <p:cNvPr id="115" name="Rounded Rectangle 114"/>
          <p:cNvSpPr/>
          <p:nvPr/>
        </p:nvSpPr>
        <p:spPr>
          <a:xfrm>
            <a:off x="4626864" y="2686050"/>
            <a:ext cx="822960" cy="211455"/>
          </a:xfrm>
          <a:prstGeom prst="roundRect">
            <a:avLst>
              <a:gd name="adj" fmla="val 34594"/>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Autofit/>
          </a:bodyPr>
          <a:lstStyle/>
          <a:p>
            <a:pPr algn="l"/>
            <a:r>
              <a:rPr sz="750" b="0" i="0">
                <a:solidFill>
                  <a:srgbClr val="202124"/>
                </a:solidFill>
                <a:latin typeface="Google Sans Flex"/>
              </a:rPr>
              <a:t>Yes, 2 pcs</a:t>
            </a:r>
          </a:p>
        </p:txBody>
      </p:sp>
      <p:sp>
        <p:nvSpPr>
          <p:cNvPr id="116" name="Rounded Rectangle 115"/>
          <p:cNvSpPr/>
          <p:nvPr/>
        </p:nvSpPr>
        <p:spPr>
          <a:xfrm>
            <a:off x="3602736" y="2952369"/>
            <a:ext cx="1536192" cy="331470"/>
          </a:xfrm>
          <a:prstGeom prst="roundRect">
            <a:avLst>
              <a:gd name="adj" fmla="val 22068"/>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Autofit/>
          </a:bodyPr>
          <a:lstStyle/>
          <a:p>
            <a:pPr algn="l"/>
            <a:r>
              <a:rPr sz="750" b="0" i="0">
                <a:solidFill>
                  <a:srgbClr val="202124"/>
                </a:solidFill>
                <a:latin typeface="Google Sans Flex"/>
              </a:rPr>
              <a:t>Total Rp182,000. Stock reserved for 15 min.</a:t>
            </a:r>
          </a:p>
        </p:txBody>
      </p:sp>
      <p:sp>
        <p:nvSpPr>
          <p:cNvPr id="117" name="QR mock"/>
          <p:cNvSpPr/>
          <p:nvPr/>
        </p:nvSpPr>
        <p:spPr>
          <a:xfrm>
            <a:off x="3694176" y="3338702"/>
            <a:ext cx="566928" cy="566928"/>
          </a:xfrm>
          <a:prstGeom prst="rect">
            <a:avLst/>
          </a:prstGeom>
          <a:solidFill>
            <a:srgbClr val="FFFFFF"/>
          </a:solidFill>
          <a:ln w="12700">
            <a:solidFill>
              <a:srgbClr val="2021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3758184" y="3402710"/>
            <a:ext cx="118872" cy="118872"/>
          </a:xfrm>
          <a:prstGeom prst="rect">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3758184" y="3713606"/>
            <a:ext cx="118872" cy="118872"/>
          </a:xfrm>
          <a:prstGeom prst="rect">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3913632" y="3558158"/>
            <a:ext cx="118872" cy="118872"/>
          </a:xfrm>
          <a:prstGeom prst="rect">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4069080" y="3402710"/>
            <a:ext cx="118872" cy="118872"/>
          </a:xfrm>
          <a:prstGeom prst="rect">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4069080" y="3713606"/>
            <a:ext cx="118872" cy="118872"/>
          </a:xfrm>
          <a:prstGeom prst="rect">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334256" y="3338702"/>
            <a:ext cx="786384" cy="566928"/>
          </a:xfrm>
          <a:prstGeom prst="rect">
            <a:avLst/>
          </a:prstGeom>
          <a:noFill/>
        </p:spPr>
        <p:txBody>
          <a:bodyPr wrap="square" lIns="18288" rIns="18288" tIns="18288" bIns="18288" anchor="ctr">
            <a:noAutofit/>
          </a:bodyPr>
          <a:lstStyle/>
          <a:p>
            <a:pPr algn="l"/>
            <a:r>
              <a:rPr sz="750" b="1" i="0">
                <a:solidFill>
                  <a:srgbClr val="202124"/>
                </a:solidFill>
                <a:latin typeface="Google Sans Flex"/>
              </a:rPr>
              <a:t>QRIS
Scan to pay</a:t>
            </a:r>
          </a:p>
        </p:txBody>
      </p:sp>
      <p:sp>
        <p:nvSpPr>
          <p:cNvPr id="124" name="Phone 3"/>
          <p:cNvSpPr/>
          <p:nvPr/>
        </p:nvSpPr>
        <p:spPr>
          <a:xfrm>
            <a:off x="6181344" y="1161288"/>
            <a:ext cx="2103120" cy="3529584"/>
          </a:xfrm>
          <a:prstGeom prst="roundRect">
            <a:avLst>
              <a:gd name="adj" fmla="val 8695"/>
            </a:avLst>
          </a:prstGeom>
          <a:solidFill>
            <a:srgbClr val="EFEAE2"/>
          </a:solidFill>
          <a:ln w="19050">
            <a:solidFill>
              <a:srgbClr val="2021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hone 3 header"/>
          <p:cNvSpPr/>
          <p:nvPr/>
        </p:nvSpPr>
        <p:spPr>
          <a:xfrm>
            <a:off x="6236207" y="1216152"/>
            <a:ext cx="1993391" cy="347472"/>
          </a:xfrm>
          <a:prstGeom prst="roundRect">
            <a:avLst>
              <a:gd name="adj" fmla="val 36842"/>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noAutofit/>
          </a:bodyPr>
          <a:lstStyle/>
          <a:p>
            <a:pPr algn="l"/>
            <a:r>
              <a:rPr sz="850" b="1" i="0">
                <a:solidFill>
                  <a:srgbClr val="FFFFFF"/>
                </a:solidFill>
                <a:latin typeface="Google Sans Flex"/>
              </a:rPr>
              <a:t>3 · Seller order alert (WhatsApp)</a:t>
            </a:r>
          </a:p>
        </p:txBody>
      </p:sp>
      <p:sp>
        <p:nvSpPr>
          <p:cNvPr id="126" name="Rounded Rectangle 125"/>
          <p:cNvSpPr/>
          <p:nvPr/>
        </p:nvSpPr>
        <p:spPr>
          <a:xfrm>
            <a:off x="6309359" y="1673352"/>
            <a:ext cx="1536192" cy="571500"/>
          </a:xfrm>
          <a:prstGeom prst="roundRect">
            <a:avLst>
              <a:gd name="adj" fmla="val 12800"/>
            </a:avLst>
          </a:prstGeom>
          <a:solidFill>
            <a:srgbClr val="FFFFFF"/>
          </a:solidFill>
          <a:ln w="635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Autofit/>
          </a:bodyPr>
          <a:lstStyle/>
          <a:p>
            <a:pPr algn="l"/>
            <a:r>
              <a:rPr sz="750" b="1" i="0">
                <a:solidFill>
                  <a:srgbClr val="202124"/>
                </a:solidFill>
                <a:latin typeface="Google Sans Flex"/>
              </a:rPr>
              <a:t>New paid order</a:t>
            </a:r>
          </a:p>
          <a:p>
            <a:pPr algn="l"/>
            <a:r>
              <a:rPr sz="750" b="0" i="0">
                <a:solidFill>
                  <a:srgbClr val="202124"/>
                </a:solidFill>
                <a:latin typeface="Google Sans Flex"/>
              </a:rPr>
              <a:t>Voal Hijab Black × 2</a:t>
            </a:r>
          </a:p>
          <a:p>
            <a:pPr algn="l"/>
            <a:r>
              <a:rPr sz="750" b="0" i="0">
                <a:solidFill>
                  <a:srgbClr val="202124"/>
                </a:solidFill>
                <a:latin typeface="Google Sans Flex"/>
              </a:rPr>
              <a:t>Rp170,000 · ship to Bandung</a:t>
            </a:r>
          </a:p>
        </p:txBody>
      </p:sp>
      <p:sp>
        <p:nvSpPr>
          <p:cNvPr id="127" name="Rounded Rectangle 126"/>
          <p:cNvSpPr/>
          <p:nvPr/>
        </p:nvSpPr>
        <p:spPr>
          <a:xfrm>
            <a:off x="6309359" y="2299716"/>
            <a:ext cx="740664" cy="219456"/>
          </a:xfrm>
          <a:prstGeom prst="roundRect">
            <a:avLst>
              <a:gd name="adj" fmla="val 25000"/>
            </a:avLst>
          </a:prstGeom>
          <a:solidFill>
            <a:srgbClr val="FFFFFF"/>
          </a:solidFill>
          <a:ln w="635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750" b="1" i="0">
                <a:solidFill>
                  <a:srgbClr val="008069"/>
                </a:solidFill>
                <a:latin typeface="Google Sans Flex"/>
              </a:rPr>
              <a:t>Accept</a:t>
            </a:r>
          </a:p>
        </p:txBody>
      </p:sp>
      <p:sp>
        <p:nvSpPr>
          <p:cNvPr id="128" name="Rounded Rectangle 127"/>
          <p:cNvSpPr/>
          <p:nvPr/>
        </p:nvSpPr>
        <p:spPr>
          <a:xfrm>
            <a:off x="7104888" y="2299716"/>
            <a:ext cx="740664" cy="219456"/>
          </a:xfrm>
          <a:prstGeom prst="roundRect">
            <a:avLst>
              <a:gd name="adj" fmla="val 25000"/>
            </a:avLst>
          </a:prstGeom>
          <a:solidFill>
            <a:srgbClr val="FFFFFF"/>
          </a:solidFill>
          <a:ln w="635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noAutofit/>
          </a:bodyPr>
          <a:lstStyle/>
          <a:p>
            <a:pPr algn="ctr"/>
            <a:r>
              <a:rPr sz="750" b="1" i="0">
                <a:solidFill>
                  <a:srgbClr val="008069"/>
                </a:solidFill>
                <a:latin typeface="Google Sans Flex"/>
              </a:rPr>
              <a:t>Out of stock</a:t>
            </a:r>
          </a:p>
        </p:txBody>
      </p:sp>
      <p:sp>
        <p:nvSpPr>
          <p:cNvPr id="129" name="Rounded Rectangle 128"/>
          <p:cNvSpPr/>
          <p:nvPr/>
        </p:nvSpPr>
        <p:spPr>
          <a:xfrm>
            <a:off x="6620255" y="2574036"/>
            <a:ext cx="1536192" cy="331470"/>
          </a:xfrm>
          <a:prstGeom prst="roundRect">
            <a:avLst>
              <a:gd name="adj" fmla="val 22068"/>
            </a:avLst>
          </a:prstGeom>
          <a:solidFill>
            <a:srgbClr val="D9FD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Autofit/>
          </a:bodyPr>
          <a:lstStyle/>
          <a:p>
            <a:pPr algn="l"/>
            <a:r>
              <a:rPr sz="750" b="0" i="0">
                <a:solidFill>
                  <a:srgbClr val="202124"/>
                </a:solidFill>
                <a:latin typeface="Google Sans Flex"/>
              </a:rPr>
              <a:t>udah dikirim ya, resi JNE123456</a:t>
            </a:r>
          </a:p>
        </p:txBody>
      </p:sp>
      <p:sp>
        <p:nvSpPr>
          <p:cNvPr id="130" name="Rounded Rectangle 129"/>
          <p:cNvSpPr/>
          <p:nvPr/>
        </p:nvSpPr>
        <p:spPr>
          <a:xfrm>
            <a:off x="6309359" y="2960370"/>
            <a:ext cx="1536192" cy="451485"/>
          </a:xfrm>
          <a:prstGeom prst="roundRect">
            <a:avLst>
              <a:gd name="adj" fmla="val 16202"/>
            </a:avLst>
          </a:prstGeom>
          <a:solidFill>
            <a:srgbClr val="FFFFFF"/>
          </a:solidFill>
          <a:ln w="6350">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Autofit/>
          </a:bodyPr>
          <a:lstStyle/>
          <a:p>
            <a:pPr algn="l"/>
            <a:r>
              <a:rPr sz="750" b="0" i="0">
                <a:solidFill>
                  <a:srgbClr val="202124"/>
                </a:solidFill>
                <a:latin typeface="Google Sans Flex"/>
              </a:rPr>
              <a:t>Tracking saved. Payout Rp163,200 after delivery (4% fee).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Core container"/>
          <p:cNvSpPr/>
          <p:nvPr/>
        </p:nvSpPr>
        <p:spPr>
          <a:xfrm>
            <a:off x="2103120" y="1783080"/>
            <a:ext cx="4983480" cy="2788920"/>
          </a:xfrm>
          <a:prstGeom prst="roundRect">
            <a:avLst>
              <a:gd name="adj" fmla="val 459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40279" y="1837943"/>
            <a:ext cx="3200400" cy="274320"/>
          </a:xfrm>
          <a:prstGeom prst="rect">
            <a:avLst/>
          </a:prstGeom>
          <a:noFill/>
        </p:spPr>
        <p:txBody>
          <a:bodyPr wrap="square" lIns="18288" rIns="18288" tIns="18288" bIns="18288" anchor="t">
            <a:noAutofit/>
          </a:bodyPr>
          <a:lstStyle/>
          <a:p>
            <a:pPr algn="l"/>
            <a:r>
              <a:rPr sz="1000" b="1" i="0">
                <a:solidFill>
                  <a:srgbClr val="1A73E8"/>
                </a:solidFill>
                <a:latin typeface="Google Sans Flex"/>
              </a:rPr>
              <a:t>Etalase core · Cloud Run</a:t>
            </a:r>
          </a:p>
        </p:txBody>
      </p:sp>
      <p:sp>
        <p:nvSpPr>
          <p:cNvPr id="114" name="Core Input adapters"/>
          <p:cNvSpPr/>
          <p:nvPr/>
        </p:nvSpPr>
        <p:spPr>
          <a:xfrm>
            <a:off x="2240279" y="2167128"/>
            <a:ext cx="2263140" cy="512064"/>
          </a:xfrm>
          <a:prstGeom prst="roundRect">
            <a:avLst>
              <a:gd name="adj" fmla="val 10714"/>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Input adapters</a:t>
            </a:r>
          </a:p>
          <a:p>
            <a:pPr algn="ctr"/>
            <a:r>
              <a:rPr sz="750" b="0" i="0">
                <a:solidFill>
                  <a:srgbClr val="5F6368"/>
                </a:solidFill>
                <a:latin typeface="Google Sans Flex"/>
              </a:rPr>
              <a:t>WhatsApp · Instagram · CSV</a:t>
            </a:r>
          </a:p>
        </p:txBody>
      </p:sp>
      <p:sp>
        <p:nvSpPr>
          <p:cNvPr id="115" name="Core Agent gateway"/>
          <p:cNvSpPr/>
          <p:nvPr/>
        </p:nvSpPr>
        <p:spPr>
          <a:xfrm>
            <a:off x="4686300" y="2167128"/>
            <a:ext cx="2263140" cy="512064"/>
          </a:xfrm>
          <a:prstGeom prst="roundRect">
            <a:avLst>
              <a:gd name="adj" fmla="val 10714"/>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Agent gateway</a:t>
            </a:r>
          </a:p>
          <a:p>
            <a:pPr algn="ctr"/>
            <a:r>
              <a:rPr sz="750" b="0" i="0">
                <a:solidFill>
                  <a:srgbClr val="5F6368"/>
                </a:solidFill>
                <a:latin typeface="Google Sans Flex"/>
              </a:rPr>
              <a:t>MCP server · UCP checkout API</a:t>
            </a:r>
          </a:p>
        </p:txBody>
      </p:sp>
      <p:sp>
        <p:nvSpPr>
          <p:cNvPr id="116" name="Core Seller agent"/>
          <p:cNvSpPr/>
          <p:nvPr/>
        </p:nvSpPr>
        <p:spPr>
          <a:xfrm>
            <a:off x="2240279" y="2770632"/>
            <a:ext cx="2263140" cy="512064"/>
          </a:xfrm>
          <a:prstGeom prst="roundRect">
            <a:avLst>
              <a:gd name="adj" fmla="val 10714"/>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Seller agent</a:t>
            </a:r>
          </a:p>
          <a:p>
            <a:pPr algn="ctr"/>
            <a:r>
              <a:rPr sz="750" b="0" i="0">
                <a:solidFill>
                  <a:srgbClr val="5F6368"/>
                </a:solidFill>
                <a:latin typeface="Google Sans Flex"/>
              </a:rPr>
              <a:t>ADK + Gemini</a:t>
            </a:r>
          </a:p>
        </p:txBody>
      </p:sp>
      <p:sp>
        <p:nvSpPr>
          <p:cNvPr id="117" name="Core Checkout &amp; orders"/>
          <p:cNvSpPr/>
          <p:nvPr/>
        </p:nvSpPr>
        <p:spPr>
          <a:xfrm>
            <a:off x="4686300" y="2770632"/>
            <a:ext cx="2263140" cy="512064"/>
          </a:xfrm>
          <a:prstGeom prst="roundRect">
            <a:avLst>
              <a:gd name="adj" fmla="val 10714"/>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Checkout &amp; orders</a:t>
            </a:r>
          </a:p>
          <a:p>
            <a:pPr algn="ctr"/>
            <a:r>
              <a:rPr sz="750" b="0" i="0">
                <a:solidFill>
                  <a:srgbClr val="5F6368"/>
                </a:solidFill>
                <a:latin typeface="Google Sans Flex"/>
              </a:rPr>
              <a:t>Reserve · confirm · payout</a:t>
            </a:r>
          </a:p>
        </p:txBody>
      </p:sp>
      <p:sp>
        <p:nvSpPr>
          <p:cNvPr id="118" name="Core Catalog &amp; stock"/>
          <p:cNvSpPr/>
          <p:nvPr/>
        </p:nvSpPr>
        <p:spPr>
          <a:xfrm>
            <a:off x="2240279" y="3374136"/>
            <a:ext cx="2263140" cy="512064"/>
          </a:xfrm>
          <a:prstGeom prst="roundRect">
            <a:avLst>
              <a:gd name="adj" fmla="val 10714"/>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Catalog &amp; stock</a:t>
            </a:r>
          </a:p>
          <a:p>
            <a:pPr algn="ctr"/>
            <a:r>
              <a:rPr sz="750" b="0" i="0">
                <a:solidFill>
                  <a:srgbClr val="5F6368"/>
                </a:solidFill>
                <a:latin typeface="Google Sans Flex"/>
              </a:rPr>
              <a:t>Single source of truth</a:t>
            </a:r>
          </a:p>
        </p:txBody>
      </p:sp>
      <p:sp>
        <p:nvSpPr>
          <p:cNvPr id="119" name="Core Event bus"/>
          <p:cNvSpPr/>
          <p:nvPr/>
        </p:nvSpPr>
        <p:spPr>
          <a:xfrm>
            <a:off x="4686300" y="3374136"/>
            <a:ext cx="2263140" cy="512064"/>
          </a:xfrm>
          <a:prstGeom prst="roundRect">
            <a:avLst>
              <a:gd name="adj" fmla="val 10714"/>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Event bus</a:t>
            </a:r>
          </a:p>
          <a:p>
            <a:pPr algn="ctr"/>
            <a:r>
              <a:rPr sz="750" b="0" i="0">
                <a:solidFill>
                  <a:srgbClr val="5F6368"/>
                </a:solidFill>
                <a:latin typeface="Google Sans Flex"/>
              </a:rPr>
              <a:t>In-process now · Pub/Sub in pilot</a:t>
            </a:r>
          </a:p>
        </p:txBody>
      </p:sp>
      <p:sp>
        <p:nvSpPr>
          <p:cNvPr id="120" name="Core Firestore"/>
          <p:cNvSpPr/>
          <p:nvPr/>
        </p:nvSpPr>
        <p:spPr>
          <a:xfrm>
            <a:off x="2240279" y="3977639"/>
            <a:ext cx="2263140" cy="512064"/>
          </a:xfrm>
          <a:prstGeom prst="roundRect">
            <a:avLst>
              <a:gd name="adj" fmla="val 10714"/>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Firestore</a:t>
            </a:r>
          </a:p>
          <a:p>
            <a:pPr algn="ctr"/>
            <a:r>
              <a:rPr sz="750" b="0" i="0">
                <a:solidFill>
                  <a:srgbClr val="5F6368"/>
                </a:solidFill>
                <a:latin typeface="Google Sans Flex"/>
              </a:rPr>
              <a:t>Transactions · per-seller keys</a:t>
            </a:r>
          </a:p>
        </p:txBody>
      </p:sp>
      <p:sp>
        <p:nvSpPr>
          <p:cNvPr id="121" name="Core Gemini on Vertex AI"/>
          <p:cNvSpPr/>
          <p:nvPr/>
        </p:nvSpPr>
        <p:spPr>
          <a:xfrm>
            <a:off x="4686300" y="3977639"/>
            <a:ext cx="2263140" cy="512064"/>
          </a:xfrm>
          <a:prstGeom prst="roundRect">
            <a:avLst>
              <a:gd name="adj" fmla="val 10714"/>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Gemini on Vertex AI</a:t>
            </a:r>
          </a:p>
          <a:p>
            <a:pPr algn="ctr"/>
            <a:r>
              <a:rPr sz="750" b="0" i="0">
                <a:solidFill>
                  <a:srgbClr val="5F6368"/>
                </a:solidFill>
                <a:latin typeface="Google Sans Flex"/>
              </a:rPr>
              <a:t>Vision · speech · structured output</a:t>
            </a:r>
          </a:p>
        </p:txBody>
      </p:sp>
      <p:sp>
        <p:nvSpPr>
          <p:cNvPr id="122" name="Buyer agent"/>
          <p:cNvSpPr/>
          <p:nvPr/>
        </p:nvSpPr>
        <p:spPr>
          <a:xfrm>
            <a:off x="4686300" y="1161288"/>
            <a:ext cx="2263140" cy="438912"/>
          </a:xfrm>
          <a:prstGeom prst="roundRect">
            <a:avLst>
              <a:gd name="adj" fmla="val 12500"/>
            </a:avLst>
          </a:prstGeom>
          <a:solidFill>
            <a:srgbClr val="FEF7E0"/>
          </a:solidFill>
          <a:ln w="9525">
            <a:solidFill>
              <a:srgbClr val="B06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Buyer's AI agent</a:t>
            </a:r>
          </a:p>
          <a:p>
            <a:pPr algn="ctr"/>
            <a:r>
              <a:rPr sz="750" b="0" i="0">
                <a:solidFill>
                  <a:srgbClr val="5F6368"/>
                </a:solidFill>
                <a:latin typeface="Google Sans Flex"/>
              </a:rPr>
              <a:t>Gemini or any UCP / MCP client</a:t>
            </a:r>
          </a:p>
        </p:txBody>
      </p:sp>
      <p:cxnSp>
        <p:nvCxnSpPr>
          <p:cNvPr id="123" name="Connector 122"/>
          <p:cNvCxnSpPr/>
          <p:nvPr/>
        </p:nvCxnSpPr>
        <p:spPr>
          <a:xfrm>
            <a:off x="5817870" y="1600200"/>
            <a:ext cx="0" cy="566928"/>
          </a:xfrm>
          <a:prstGeom prst="line">
            <a:avLst/>
          </a:prstGeom>
          <a:ln w="12700">
            <a:solidFill>
              <a:srgbClr val="B06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356616" y="1783080"/>
            <a:ext cx="1554480" cy="274320"/>
          </a:xfrm>
          <a:prstGeom prst="rect">
            <a:avLst/>
          </a:prstGeom>
          <a:noFill/>
        </p:spPr>
        <p:txBody>
          <a:bodyPr wrap="square" lIns="18288" rIns="18288" tIns="18288" bIns="18288" anchor="t">
            <a:noAutofit/>
          </a:bodyPr>
          <a:lstStyle/>
          <a:p>
            <a:pPr algn="l"/>
            <a:r>
              <a:rPr sz="900" b="1" i="0">
                <a:solidFill>
                  <a:srgbClr val="188038"/>
                </a:solidFill>
                <a:latin typeface="Google Sans Flex"/>
              </a:rPr>
              <a:t>Seller inputs</a:t>
            </a:r>
          </a:p>
        </p:txBody>
      </p:sp>
      <p:sp>
        <p:nvSpPr>
          <p:cNvPr id="125" name="Source WhatsApp &amp; Instagram"/>
          <p:cNvSpPr/>
          <p:nvPr/>
        </p:nvSpPr>
        <p:spPr>
          <a:xfrm>
            <a:off x="356616" y="2167128"/>
            <a:ext cx="1481328" cy="512064"/>
          </a:xfrm>
          <a:prstGeom prst="roundRect">
            <a:avLst>
              <a:gd name="adj" fmla="val 10714"/>
            </a:avLst>
          </a:prstGeom>
          <a:solidFill>
            <a:srgbClr val="E6F4EA"/>
          </a:solidFill>
          <a:ln w="9525">
            <a:solidFill>
              <a:srgbClr val="188038"/>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WhatsApp &amp; Instagram</a:t>
            </a:r>
          </a:p>
          <a:p>
            <a:pPr algn="ctr"/>
            <a:r>
              <a:rPr sz="750" b="0" i="0">
                <a:solidFill>
                  <a:srgbClr val="5F6368"/>
                </a:solidFill>
                <a:latin typeface="Google Sans Flex"/>
              </a:rPr>
              <a:t>Chat · voice · IG posts</a:t>
            </a:r>
          </a:p>
        </p:txBody>
      </p:sp>
      <p:cxnSp>
        <p:nvCxnSpPr>
          <p:cNvPr id="126" name="Connector 125"/>
          <p:cNvCxnSpPr/>
          <p:nvPr/>
        </p:nvCxnSpPr>
        <p:spPr>
          <a:xfrm>
            <a:off x="1837944" y="2423160"/>
            <a:ext cx="265176" cy="0"/>
          </a:xfrm>
          <a:prstGeom prst="line">
            <a:avLst/>
          </a:prstGeom>
          <a:ln w="12700">
            <a:solidFill>
              <a:srgbClr val="1880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7" name="Source Google Sheets"/>
          <p:cNvSpPr/>
          <p:nvPr/>
        </p:nvSpPr>
        <p:spPr>
          <a:xfrm>
            <a:off x="356616" y="2770632"/>
            <a:ext cx="1481328" cy="512064"/>
          </a:xfrm>
          <a:prstGeom prst="roundRect">
            <a:avLst>
              <a:gd name="adj" fmla="val 10714"/>
            </a:avLst>
          </a:prstGeom>
          <a:solidFill>
            <a:srgbClr val="FFFFFF"/>
          </a:solidFill>
          <a:ln w="9525">
            <a:solidFill>
              <a:srgbClr val="1880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Google Sheets</a:t>
            </a:r>
          </a:p>
          <a:p>
            <a:pPr algn="ctr"/>
            <a:r>
              <a:rPr sz="750" b="0" i="0">
                <a:solidFill>
                  <a:srgbClr val="5F6368"/>
                </a:solidFill>
                <a:latin typeface="Google Sans Flex"/>
              </a:rPr>
              <a:t>OAuth + Picker</a:t>
            </a:r>
          </a:p>
        </p:txBody>
      </p:sp>
      <p:cxnSp>
        <p:nvCxnSpPr>
          <p:cNvPr id="128" name="Connector 127"/>
          <p:cNvCxnSpPr/>
          <p:nvPr/>
        </p:nvCxnSpPr>
        <p:spPr>
          <a:xfrm>
            <a:off x="1837944" y="3026664"/>
            <a:ext cx="265176" cy="0"/>
          </a:xfrm>
          <a:prstGeom prst="line">
            <a:avLst/>
          </a:prstGeom>
          <a:ln w="12700">
            <a:solidFill>
              <a:srgbClr val="1880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9" name="Source OMS"/>
          <p:cNvSpPr/>
          <p:nvPr/>
        </p:nvSpPr>
        <p:spPr>
          <a:xfrm>
            <a:off x="356616" y="3374136"/>
            <a:ext cx="1481328" cy="512064"/>
          </a:xfrm>
          <a:prstGeom prst="roundRect">
            <a:avLst>
              <a:gd name="adj" fmla="val 10714"/>
            </a:avLst>
          </a:prstGeom>
          <a:solidFill>
            <a:srgbClr val="FFFFFF"/>
          </a:solidFill>
          <a:ln w="9525">
            <a:solidFill>
              <a:srgbClr val="1880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OMS</a:t>
            </a:r>
          </a:p>
          <a:p>
            <a:pPr algn="ctr"/>
            <a:r>
              <a:rPr sz="750" b="0" i="0">
                <a:solidFill>
                  <a:srgbClr val="5F6368"/>
                </a:solidFill>
                <a:latin typeface="Google Sans Flex"/>
              </a:rPr>
              <a:t>Jubelio · Ginee</a:t>
            </a:r>
          </a:p>
        </p:txBody>
      </p:sp>
      <p:cxnSp>
        <p:nvCxnSpPr>
          <p:cNvPr id="130" name="Connector 129"/>
          <p:cNvCxnSpPr/>
          <p:nvPr/>
        </p:nvCxnSpPr>
        <p:spPr>
          <a:xfrm>
            <a:off x="1837944" y="3630168"/>
            <a:ext cx="265176" cy="0"/>
          </a:xfrm>
          <a:prstGeom prst="line">
            <a:avLst/>
          </a:prstGeom>
          <a:ln w="12700">
            <a:solidFill>
              <a:srgbClr val="1880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1" name="Source E-commerce plugin"/>
          <p:cNvSpPr/>
          <p:nvPr/>
        </p:nvSpPr>
        <p:spPr>
          <a:xfrm>
            <a:off x="356616" y="3977639"/>
            <a:ext cx="1481328" cy="512064"/>
          </a:xfrm>
          <a:prstGeom prst="roundRect">
            <a:avLst>
              <a:gd name="adj" fmla="val 10714"/>
            </a:avLst>
          </a:prstGeom>
          <a:solidFill>
            <a:srgbClr val="FFFFFF"/>
          </a:solidFill>
          <a:ln w="9525">
            <a:solidFill>
              <a:srgbClr val="1880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E-commerce plugin</a:t>
            </a:r>
          </a:p>
          <a:p>
            <a:pPr algn="ctr"/>
            <a:r>
              <a:rPr sz="750" b="0" i="0">
                <a:solidFill>
                  <a:srgbClr val="5F6368"/>
                </a:solidFill>
                <a:latin typeface="Google Sans Flex"/>
              </a:rPr>
              <a:t>WooCommerce · websites</a:t>
            </a:r>
          </a:p>
        </p:txBody>
      </p:sp>
      <p:cxnSp>
        <p:nvCxnSpPr>
          <p:cNvPr id="132" name="Connector 131"/>
          <p:cNvCxnSpPr/>
          <p:nvPr/>
        </p:nvCxnSpPr>
        <p:spPr>
          <a:xfrm>
            <a:off x="1837944" y="4233672"/>
            <a:ext cx="265176" cy="0"/>
          </a:xfrm>
          <a:prstGeom prst="line">
            <a:avLst/>
          </a:prstGeom>
          <a:ln w="12700">
            <a:solidFill>
              <a:srgbClr val="1880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7287768" y="1783080"/>
            <a:ext cx="1554480" cy="274320"/>
          </a:xfrm>
          <a:prstGeom prst="rect">
            <a:avLst/>
          </a:prstGeom>
          <a:noFill/>
        </p:spPr>
        <p:txBody>
          <a:bodyPr wrap="square" lIns="18288" rIns="18288" tIns="18288" bIns="18288" anchor="t">
            <a:noAutofit/>
          </a:bodyPr>
          <a:lstStyle/>
          <a:p>
            <a:pPr algn="l"/>
            <a:r>
              <a:rPr sz="900" b="1" i="0">
                <a:solidFill>
                  <a:srgbClr val="D93025"/>
                </a:solidFill>
                <a:latin typeface="Google Sans Flex"/>
              </a:rPr>
              <a:t>External services</a:t>
            </a:r>
          </a:p>
        </p:txBody>
      </p:sp>
      <p:sp>
        <p:nvSpPr>
          <p:cNvPr id="134" name="External Payment"/>
          <p:cNvSpPr/>
          <p:nvPr/>
        </p:nvSpPr>
        <p:spPr>
          <a:xfrm>
            <a:off x="7306056" y="2167128"/>
            <a:ext cx="1481328" cy="512064"/>
          </a:xfrm>
          <a:prstGeom prst="roundRect">
            <a:avLst>
              <a:gd name="adj" fmla="val 10714"/>
            </a:avLst>
          </a:prstGeom>
          <a:solidFill>
            <a:srgbClr val="FCE8E6"/>
          </a:solidFill>
          <a:ln w="952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Payment</a:t>
            </a:r>
          </a:p>
          <a:p>
            <a:pPr algn="ctr"/>
            <a:r>
              <a:rPr sz="750" b="0" i="0">
                <a:solidFill>
                  <a:srgbClr val="5F6368"/>
                </a:solidFill>
                <a:latin typeface="Google Sans Flex"/>
              </a:rPr>
              <a:t>Xendit QRIS (mock in demo)</a:t>
            </a:r>
          </a:p>
        </p:txBody>
      </p:sp>
      <p:cxnSp>
        <p:nvCxnSpPr>
          <p:cNvPr id="135" name="Connector 134"/>
          <p:cNvCxnSpPr/>
          <p:nvPr/>
        </p:nvCxnSpPr>
        <p:spPr>
          <a:xfrm>
            <a:off x="7086600" y="2423160"/>
            <a:ext cx="219456" cy="0"/>
          </a:xfrm>
          <a:prstGeom prst="line">
            <a:avLst/>
          </a:prstGeom>
          <a:ln w="12700">
            <a:solidFill>
              <a:srgbClr val="D9302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 name="External Shipping"/>
          <p:cNvSpPr/>
          <p:nvPr/>
        </p:nvSpPr>
        <p:spPr>
          <a:xfrm>
            <a:off x="7306056" y="2770632"/>
            <a:ext cx="1481328" cy="512064"/>
          </a:xfrm>
          <a:prstGeom prst="roundRect">
            <a:avLst>
              <a:gd name="adj" fmla="val 10714"/>
            </a:avLst>
          </a:prstGeom>
          <a:solidFill>
            <a:srgbClr val="FCE8E6"/>
          </a:solidFill>
          <a:ln w="952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Shipping</a:t>
            </a:r>
          </a:p>
          <a:p>
            <a:pPr algn="ctr"/>
            <a:r>
              <a:rPr sz="750" b="0" i="0">
                <a:solidFill>
                  <a:srgbClr val="5F6368"/>
                </a:solidFill>
                <a:latin typeface="Google Sans Flex"/>
              </a:rPr>
              <a:t>Biteship (mock in demo)</a:t>
            </a:r>
          </a:p>
        </p:txBody>
      </p:sp>
      <p:cxnSp>
        <p:nvCxnSpPr>
          <p:cNvPr id="137" name="Connector 136"/>
          <p:cNvCxnSpPr/>
          <p:nvPr/>
        </p:nvCxnSpPr>
        <p:spPr>
          <a:xfrm>
            <a:off x="7086600" y="3026664"/>
            <a:ext cx="219456" cy="0"/>
          </a:xfrm>
          <a:prstGeom prst="line">
            <a:avLst/>
          </a:prstGeom>
          <a:ln w="12700">
            <a:solidFill>
              <a:srgbClr val="D9302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 name="External WhatsApp Cloud API"/>
          <p:cNvSpPr/>
          <p:nvPr/>
        </p:nvSpPr>
        <p:spPr>
          <a:xfrm>
            <a:off x="7306056" y="3374136"/>
            <a:ext cx="1481328" cy="512064"/>
          </a:xfrm>
          <a:prstGeom prst="roundRect">
            <a:avLst>
              <a:gd name="adj" fmla="val 10714"/>
            </a:avLst>
          </a:prstGeom>
          <a:solidFill>
            <a:srgbClr val="FCE8E6"/>
          </a:solidFill>
          <a:ln w="952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WhatsApp Cloud API</a:t>
            </a:r>
          </a:p>
          <a:p>
            <a:pPr algn="ctr"/>
            <a:r>
              <a:rPr sz="750" b="0" i="0">
                <a:solidFill>
                  <a:srgbClr val="5F6368"/>
                </a:solidFill>
                <a:latin typeface="Google Sans Flex"/>
              </a:rPr>
              <a:t>Alerts &amp; seller chat</a:t>
            </a:r>
          </a:p>
        </p:txBody>
      </p:sp>
      <p:cxnSp>
        <p:nvCxnSpPr>
          <p:cNvPr id="139" name="Connector 138"/>
          <p:cNvCxnSpPr/>
          <p:nvPr/>
        </p:nvCxnSpPr>
        <p:spPr>
          <a:xfrm>
            <a:off x="7086600" y="3630168"/>
            <a:ext cx="219456" cy="0"/>
          </a:xfrm>
          <a:prstGeom prst="line">
            <a:avLst/>
          </a:prstGeom>
          <a:ln w="12700">
            <a:solidFill>
              <a:srgbClr val="D9302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0" name="External OMS / e-commerce"/>
          <p:cNvSpPr/>
          <p:nvPr/>
        </p:nvSpPr>
        <p:spPr>
          <a:xfrm>
            <a:off x="7306056" y="3977639"/>
            <a:ext cx="1481328" cy="512064"/>
          </a:xfrm>
          <a:prstGeom prst="roundRect">
            <a:avLst>
              <a:gd name="adj" fmla="val 10714"/>
            </a:avLst>
          </a:prstGeom>
          <a:solidFill>
            <a:srgbClr val="FFFFFF"/>
          </a:solidFill>
          <a:ln w="9525">
            <a:solidFill>
              <a:srgbClr val="D9302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noAutofit/>
          </a:bodyPr>
          <a:lstStyle/>
          <a:p>
            <a:pPr algn="ctr"/>
            <a:r>
              <a:rPr sz="900" b="1" i="0">
                <a:solidFill>
                  <a:srgbClr val="202124"/>
                </a:solidFill>
                <a:latin typeface="Google Sans Flex"/>
              </a:rPr>
              <a:t>OMS / e-commerce</a:t>
            </a:r>
          </a:p>
          <a:p>
            <a:pPr algn="ctr"/>
            <a:r>
              <a:rPr sz="750" b="0" i="0">
                <a:solidFill>
                  <a:srgbClr val="5F6368"/>
                </a:solidFill>
                <a:latin typeface="Google Sans Flex"/>
              </a:rPr>
              <a:t>Order &amp; stock sync</a:t>
            </a:r>
          </a:p>
        </p:txBody>
      </p:sp>
      <p:cxnSp>
        <p:nvCxnSpPr>
          <p:cNvPr id="141" name="Connector 140"/>
          <p:cNvCxnSpPr/>
          <p:nvPr/>
        </p:nvCxnSpPr>
        <p:spPr>
          <a:xfrm>
            <a:off x="7086600" y="4233672"/>
            <a:ext cx="219456" cy="0"/>
          </a:xfrm>
          <a:prstGeom prst="line">
            <a:avLst/>
          </a:prstGeom>
          <a:ln w="12700">
            <a:solidFill>
              <a:srgbClr val="D9302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356616" y="4626864"/>
            <a:ext cx="8430767" cy="256032"/>
          </a:xfrm>
          <a:prstGeom prst="rect">
            <a:avLst/>
          </a:prstGeom>
          <a:noFill/>
        </p:spPr>
        <p:txBody>
          <a:bodyPr wrap="square" lIns="18288" rIns="18288" tIns="18288" bIns="18288" anchor="t">
            <a:noAutofit/>
          </a:bodyPr>
          <a:lstStyle/>
          <a:p>
            <a:pPr algn="l"/>
            <a:r>
              <a:rPr sz="800" b="0" i="1">
                <a:solidFill>
                  <a:srgbClr val="5F6368"/>
                </a:solidFill>
                <a:latin typeface="Google Sans Flex"/>
              </a:rPr>
              <a:t>Solid = hackathon MVP · dashed = roadmap. Country pack = { currency, payment, shipping, tax } adapters: a new market adds one config entry, not a new core. Each seller has one stock owner: Etalase, the OMS or the store.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Tech card 1"/>
          <p:cNvSpPr/>
          <p:nvPr/>
        </p:nvSpPr>
        <p:spPr>
          <a:xfrm>
            <a:off x="356616" y="11612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02920" y="1289304"/>
            <a:ext cx="2414016" cy="1472184"/>
          </a:xfrm>
          <a:prstGeom prst="rect">
            <a:avLst/>
          </a:prstGeom>
          <a:noFill/>
        </p:spPr>
        <p:txBody>
          <a:bodyPr wrap="square" lIns="18288" rIns="18288" tIns="18288" bIns="18288" anchor="t">
            <a:noAutofit/>
          </a:bodyPr>
          <a:lstStyle/>
          <a:p>
            <a:pPr algn="l">
              <a:spcAft>
                <a:spcPts val="400"/>
              </a:spcAft>
            </a:pPr>
            <a:r>
              <a:rPr sz="1150" b="1" i="0">
                <a:solidFill>
                  <a:srgbClr val="1A73E8"/>
                </a:solidFill>
                <a:latin typeface="Google Sans Flex"/>
              </a:rPr>
              <a:t>AI &amp; agents</a:t>
            </a:r>
          </a:p>
          <a:p>
            <a:pPr algn="l" marL="128016" indent="-128016">
              <a:spcAft>
                <a:spcPts val="400"/>
              </a:spcAft>
              <a:buClr>
                <a:srgbClr val="1A73E8"/>
              </a:buClr>
              <a:buFont typeface="Arial"/>
              <a:buChar char="•"/>
            </a:pPr>
            <a:r>
              <a:rPr sz="1000" b="0" i="0">
                <a:solidFill>
                  <a:srgbClr val="202124"/>
                </a:solidFill>
                <a:latin typeface="Google Sans Flex"/>
              </a:rPr>
              <a:t>Gemini on Vertex AI: photos, voice and text to catalog with structured output</a:t>
            </a:r>
          </a:p>
          <a:p>
            <a:pPr algn="l" marL="128016" indent="-128016">
              <a:spcAft>
                <a:spcPts val="400"/>
              </a:spcAft>
              <a:buClr>
                <a:srgbClr val="1A73E8"/>
              </a:buClr>
              <a:buFont typeface="Arial"/>
              <a:buChar char="•"/>
            </a:pPr>
            <a:r>
              <a:rPr sz="1000" b="0" i="0">
                <a:solidFill>
                  <a:srgbClr val="202124"/>
                </a:solidFill>
                <a:latin typeface="Google Sans Flex"/>
              </a:rPr>
              <a:t>ADK seller agent with tenant-scoped tools</a:t>
            </a:r>
          </a:p>
          <a:p>
            <a:pPr algn="l" marL="128016" indent="-128016">
              <a:spcAft>
                <a:spcPts val="400"/>
              </a:spcAft>
              <a:buClr>
                <a:srgbClr val="1A73E8"/>
              </a:buClr>
              <a:buFont typeface="Arial"/>
              <a:buChar char="•"/>
            </a:pPr>
            <a:r>
              <a:rPr sz="1000" b="0" i="0">
                <a:solidFill>
                  <a:srgbClr val="202124"/>
                </a:solidFill>
                <a:latin typeface="Google Sans Flex"/>
              </a:rPr>
              <a:t>ADK buyer agent calling our MCP tools (demo)</a:t>
            </a:r>
          </a:p>
        </p:txBody>
      </p:sp>
      <p:sp>
        <p:nvSpPr>
          <p:cNvPr id="122" name="Tech card 2"/>
          <p:cNvSpPr/>
          <p:nvPr/>
        </p:nvSpPr>
        <p:spPr>
          <a:xfrm>
            <a:off x="3227832" y="11612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374136" y="1289304"/>
            <a:ext cx="2414016" cy="1472184"/>
          </a:xfrm>
          <a:prstGeom prst="rect">
            <a:avLst/>
          </a:prstGeom>
          <a:noFill/>
        </p:spPr>
        <p:txBody>
          <a:bodyPr wrap="square" lIns="18288" rIns="18288" tIns="18288" bIns="18288" anchor="t">
            <a:noAutofit/>
          </a:bodyPr>
          <a:lstStyle/>
          <a:p>
            <a:pPr algn="l">
              <a:spcAft>
                <a:spcPts val="400"/>
              </a:spcAft>
            </a:pPr>
            <a:r>
              <a:rPr sz="1150" b="1" i="0">
                <a:solidFill>
                  <a:srgbClr val="B06000"/>
                </a:solidFill>
                <a:latin typeface="Google Sans Flex"/>
              </a:rPr>
              <a:t>Agentic commerce</a:t>
            </a:r>
          </a:p>
          <a:p>
            <a:pPr algn="l" marL="128016" indent="-128016">
              <a:spcAft>
                <a:spcPts val="400"/>
              </a:spcAft>
              <a:buClr>
                <a:srgbClr val="B06000"/>
              </a:buClr>
              <a:buFont typeface="Arial"/>
              <a:buChar char="•"/>
            </a:pPr>
            <a:r>
              <a:rPr sz="1000" b="0" i="0">
                <a:solidFill>
                  <a:srgbClr val="202124"/>
                </a:solidFill>
                <a:latin typeface="Google Sans Flex"/>
              </a:rPr>
              <a:t>MCP server: search, shipping, checkout, status</a:t>
            </a:r>
          </a:p>
          <a:p>
            <a:pPr algn="l" marL="128016" indent="-128016">
              <a:spcAft>
                <a:spcPts val="400"/>
              </a:spcAft>
              <a:buClr>
                <a:srgbClr val="B06000"/>
              </a:buClr>
              <a:buFont typeface="Arial"/>
              <a:buChar char="•"/>
            </a:pPr>
            <a:r>
              <a:rPr sz="1000" b="0" i="0">
                <a:solidFill>
                  <a:srgbClr val="202124"/>
                </a:solidFill>
                <a:latin typeface="Google Sans Flex"/>
              </a:rPr>
              <a:t>UCP profile and checkout API (/ucp/v1)</a:t>
            </a:r>
          </a:p>
          <a:p>
            <a:pPr algn="l" marL="128016" indent="-128016">
              <a:spcAft>
                <a:spcPts val="400"/>
              </a:spcAft>
              <a:buClr>
                <a:srgbClr val="B06000"/>
              </a:buClr>
              <a:buFont typeface="Arial"/>
              <a:buChar char="•"/>
            </a:pPr>
            <a:r>
              <a:rPr sz="1000" b="0" i="0">
                <a:solidFill>
                  <a:srgbClr val="202124"/>
                </a:solidFill>
                <a:latin typeface="Google Sans Flex"/>
              </a:rPr>
              <a:t>schema.org product data per store</a:t>
            </a:r>
          </a:p>
          <a:p>
            <a:pPr algn="l" marL="128016" indent="-128016">
              <a:spcAft>
                <a:spcPts val="400"/>
              </a:spcAft>
              <a:buClr>
                <a:srgbClr val="B06000"/>
              </a:buClr>
              <a:buFont typeface="Arial"/>
              <a:buChar char="•"/>
            </a:pPr>
            <a:r>
              <a:rPr sz="1000" b="0" i="0">
                <a:solidFill>
                  <a:srgbClr val="202124"/>
                </a:solidFill>
                <a:latin typeface="Google Sans Flex"/>
              </a:rPr>
              <a:t>Next: Merchant Center feed, AP2 payments</a:t>
            </a:r>
          </a:p>
        </p:txBody>
      </p:sp>
      <p:sp>
        <p:nvSpPr>
          <p:cNvPr id="124" name="Tech card 3"/>
          <p:cNvSpPr/>
          <p:nvPr/>
        </p:nvSpPr>
        <p:spPr>
          <a:xfrm>
            <a:off x="6099048" y="11612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245352" y="1289304"/>
            <a:ext cx="2414016" cy="1472184"/>
          </a:xfrm>
          <a:prstGeom prst="rect">
            <a:avLst/>
          </a:prstGeom>
          <a:noFill/>
        </p:spPr>
        <p:txBody>
          <a:bodyPr wrap="square" lIns="18288" rIns="18288" tIns="18288" bIns="18288" anchor="t">
            <a:noAutofit/>
          </a:bodyPr>
          <a:lstStyle/>
          <a:p>
            <a:pPr algn="l">
              <a:spcAft>
                <a:spcPts val="400"/>
              </a:spcAft>
            </a:pPr>
            <a:r>
              <a:rPr sz="1150" b="1" i="0">
                <a:solidFill>
                  <a:srgbClr val="1A73E8"/>
                </a:solidFill>
                <a:latin typeface="Google Sans Flex"/>
              </a:rPr>
              <a:t>Google Cloud runtime</a:t>
            </a:r>
          </a:p>
          <a:p>
            <a:pPr algn="l" marL="128016" indent="-128016">
              <a:spcAft>
                <a:spcPts val="400"/>
              </a:spcAft>
              <a:buClr>
                <a:srgbClr val="1A73E8"/>
              </a:buClr>
              <a:buFont typeface="Arial"/>
              <a:buChar char="•"/>
            </a:pPr>
            <a:r>
              <a:rPr sz="1000" b="0" i="0">
                <a:solidFill>
                  <a:srgbClr val="202124"/>
                </a:solidFill>
                <a:latin typeface="Google Sans Flex"/>
              </a:rPr>
              <a:t>Cloud Run: API, MCP, webhooks, dashboard</a:t>
            </a:r>
          </a:p>
          <a:p>
            <a:pPr algn="l" marL="128016" indent="-128016">
              <a:spcAft>
                <a:spcPts val="400"/>
              </a:spcAft>
              <a:buClr>
                <a:srgbClr val="1A73E8"/>
              </a:buClr>
              <a:buFont typeface="Arial"/>
              <a:buChar char="•"/>
            </a:pPr>
            <a:r>
              <a:rPr sz="1000" b="0" i="0">
                <a:solidFill>
                  <a:srgbClr val="202124"/>
                </a:solidFill>
                <a:latin typeface="Google Sans Flex"/>
              </a:rPr>
              <a:t>Firestore store with transactions</a:t>
            </a:r>
          </a:p>
          <a:p>
            <a:pPr algn="l" marL="128016" indent="-128016">
              <a:spcAft>
                <a:spcPts val="400"/>
              </a:spcAft>
              <a:buClr>
                <a:srgbClr val="1A73E8"/>
              </a:buClr>
              <a:buFont typeface="Arial"/>
              <a:buChar char="•"/>
            </a:pPr>
            <a:r>
              <a:rPr sz="1000" b="0" i="0">
                <a:solidFill>
                  <a:srgbClr val="202124"/>
                </a:solidFill>
                <a:latin typeface="Google Sans Flex"/>
              </a:rPr>
              <a:t>Secret Manager for every key</a:t>
            </a:r>
          </a:p>
          <a:p>
            <a:pPr algn="l" marL="128016" indent="-128016">
              <a:spcAft>
                <a:spcPts val="400"/>
              </a:spcAft>
              <a:buClr>
                <a:srgbClr val="1A73E8"/>
              </a:buClr>
              <a:buFont typeface="Arial"/>
              <a:buChar char="•"/>
            </a:pPr>
            <a:r>
              <a:rPr sz="1000" b="0" i="0">
                <a:solidFill>
                  <a:srgbClr val="202124"/>
                </a:solidFill>
                <a:latin typeface="Google Sans Flex"/>
              </a:rPr>
              <a:t>Pilot: Pub/Sub, Cloud Tasks, Storage, KMS</a:t>
            </a:r>
          </a:p>
        </p:txBody>
      </p:sp>
      <p:sp>
        <p:nvSpPr>
          <p:cNvPr id="126" name="Tech card 4"/>
          <p:cNvSpPr/>
          <p:nvPr/>
        </p:nvSpPr>
        <p:spPr>
          <a:xfrm>
            <a:off x="356616" y="29900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02920" y="3118104"/>
            <a:ext cx="2414016" cy="1472184"/>
          </a:xfrm>
          <a:prstGeom prst="rect">
            <a:avLst/>
          </a:prstGeom>
          <a:noFill/>
        </p:spPr>
        <p:txBody>
          <a:bodyPr wrap="square" lIns="18288" rIns="18288" tIns="18288" bIns="18288" anchor="t">
            <a:noAutofit/>
          </a:bodyPr>
          <a:lstStyle/>
          <a:p>
            <a:pPr algn="l">
              <a:spcAft>
                <a:spcPts val="400"/>
              </a:spcAft>
            </a:pPr>
            <a:r>
              <a:rPr sz="1150" b="1" i="0">
                <a:solidFill>
                  <a:srgbClr val="188038"/>
                </a:solidFill>
                <a:latin typeface="Google Sans Flex"/>
              </a:rPr>
              <a:t>Integrations</a:t>
            </a:r>
          </a:p>
          <a:p>
            <a:pPr algn="l" marL="128016" indent="-128016">
              <a:spcAft>
                <a:spcPts val="400"/>
              </a:spcAft>
              <a:buClr>
                <a:srgbClr val="188038"/>
              </a:buClr>
              <a:buFont typeface="Arial"/>
              <a:buChar char="•"/>
            </a:pPr>
            <a:r>
              <a:rPr sz="1000" b="0" i="0">
                <a:solidFill>
                  <a:srgbClr val="202124"/>
                </a:solidFill>
                <a:latin typeface="Google Sans Flex"/>
              </a:rPr>
              <a:t>WhatsApp Business Cloud API</a:t>
            </a:r>
          </a:p>
          <a:p>
            <a:pPr algn="l" marL="128016" indent="-128016">
              <a:spcAft>
                <a:spcPts val="400"/>
              </a:spcAft>
              <a:buClr>
                <a:srgbClr val="188038"/>
              </a:buClr>
              <a:buFont typeface="Arial"/>
              <a:buChar char="•"/>
            </a:pPr>
            <a:r>
              <a:rPr sz="1000" b="0" i="0">
                <a:solidFill>
                  <a:srgbClr val="202124"/>
                </a:solidFill>
                <a:latin typeface="Google Sans Flex"/>
              </a:rPr>
              <a:t>Xendit QRIS and Biteship adapters</a:t>
            </a:r>
          </a:p>
          <a:p>
            <a:pPr algn="l" marL="128016" indent="-128016">
              <a:spcAft>
                <a:spcPts val="400"/>
              </a:spcAft>
              <a:buClr>
                <a:srgbClr val="188038"/>
              </a:buClr>
              <a:buFont typeface="Arial"/>
              <a:buChar char="•"/>
            </a:pPr>
            <a:r>
              <a:rPr sz="1000" b="0" i="0">
                <a:solidFill>
                  <a:srgbClr val="202124"/>
                </a:solidFill>
                <a:latin typeface="Google Sans Flex"/>
              </a:rPr>
              <a:t>Instagram API (catalog import)</a:t>
            </a:r>
          </a:p>
          <a:p>
            <a:pPr algn="l" marL="128016" indent="-128016">
              <a:spcAft>
                <a:spcPts val="400"/>
              </a:spcAft>
              <a:buClr>
                <a:srgbClr val="188038"/>
              </a:buClr>
              <a:buFont typeface="Arial"/>
              <a:buChar char="•"/>
            </a:pPr>
            <a:r>
              <a:rPr sz="1000" b="0" i="0">
                <a:solidFill>
                  <a:srgbClr val="202124"/>
                </a:solidFill>
                <a:latin typeface="Google Sans Flex"/>
              </a:rPr>
              <a:t>OpenAPI Connector API</a:t>
            </a:r>
          </a:p>
        </p:txBody>
      </p:sp>
      <p:sp>
        <p:nvSpPr>
          <p:cNvPr id="128" name="Tech card 5"/>
          <p:cNvSpPr/>
          <p:nvPr/>
        </p:nvSpPr>
        <p:spPr>
          <a:xfrm>
            <a:off x="3227832" y="29900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374136" y="3118104"/>
            <a:ext cx="2414016" cy="1472184"/>
          </a:xfrm>
          <a:prstGeom prst="rect">
            <a:avLst/>
          </a:prstGeom>
          <a:noFill/>
        </p:spPr>
        <p:txBody>
          <a:bodyPr wrap="square" lIns="18288" rIns="18288" tIns="18288" bIns="18288" anchor="t">
            <a:noAutofit/>
          </a:bodyPr>
          <a:lstStyle/>
          <a:p>
            <a:pPr algn="l">
              <a:spcAft>
                <a:spcPts val="400"/>
              </a:spcAft>
            </a:pPr>
            <a:r>
              <a:rPr sz="1150" b="1" i="0">
                <a:solidFill>
                  <a:srgbClr val="5F6368"/>
                </a:solidFill>
                <a:latin typeface="Google Sans Flex"/>
              </a:rPr>
              <a:t>Seller dashboard</a:t>
            </a:r>
          </a:p>
          <a:p>
            <a:pPr algn="l" marL="128016" indent="-128016">
              <a:spcAft>
                <a:spcPts val="400"/>
              </a:spcAft>
              <a:buClr>
                <a:srgbClr val="5F6368"/>
              </a:buClr>
              <a:buFont typeface="Arial"/>
              <a:buChar char="•"/>
            </a:pPr>
            <a:r>
              <a:rPr sz="1000" b="0" i="0">
                <a:solidFill>
                  <a:srgbClr val="202124"/>
                </a:solidFill>
                <a:latin typeface="Google Sans Flex"/>
              </a:rPr>
              <a:t>Lightweight web dashboard on Cloud Run</a:t>
            </a:r>
          </a:p>
          <a:p>
            <a:pPr algn="l" marL="128016" indent="-128016">
              <a:spcAft>
                <a:spcPts val="400"/>
              </a:spcAft>
              <a:buClr>
                <a:srgbClr val="5F6368"/>
              </a:buClr>
              <a:buFont typeface="Arial"/>
              <a:buChar char="•"/>
            </a:pPr>
            <a:r>
              <a:rPr sz="1000" b="0" i="0">
                <a:solidFill>
                  <a:srgbClr val="202124"/>
                </a:solidFill>
                <a:latin typeface="Google Sans Flex"/>
              </a:rPr>
              <a:t>WhatsApp one-time-code sign-in</a:t>
            </a:r>
          </a:p>
          <a:p>
            <a:pPr algn="l" marL="128016" indent="-128016">
              <a:spcAft>
                <a:spcPts val="400"/>
              </a:spcAft>
              <a:buClr>
                <a:srgbClr val="5F6368"/>
              </a:buClr>
              <a:buFont typeface="Arial"/>
              <a:buChar char="•"/>
            </a:pPr>
            <a:r>
              <a:rPr sz="1000" b="0" i="0">
                <a:solidFill>
                  <a:srgbClr val="202124"/>
                </a:solidFill>
                <a:latin typeface="Google Sans Flex"/>
              </a:rPr>
              <a:t>Readiness, orders and payouts</a:t>
            </a:r>
          </a:p>
        </p:txBody>
      </p:sp>
      <p:sp>
        <p:nvSpPr>
          <p:cNvPr id="130" name="Tech card 6"/>
          <p:cNvSpPr/>
          <p:nvPr/>
        </p:nvSpPr>
        <p:spPr>
          <a:xfrm>
            <a:off x="6099048" y="2990088"/>
            <a:ext cx="2688336" cy="1673352"/>
          </a:xfrm>
          <a:prstGeom prst="roundRect">
            <a:avLst>
              <a:gd name="adj" fmla="val 4371"/>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6245352" y="3118104"/>
            <a:ext cx="2414016" cy="1472184"/>
          </a:xfrm>
          <a:prstGeom prst="rect">
            <a:avLst/>
          </a:prstGeom>
          <a:noFill/>
        </p:spPr>
        <p:txBody>
          <a:bodyPr wrap="square" lIns="18288" rIns="18288" tIns="18288" bIns="18288" anchor="t">
            <a:noAutofit/>
          </a:bodyPr>
          <a:lstStyle/>
          <a:p>
            <a:pPr algn="l">
              <a:spcAft>
                <a:spcPts val="400"/>
              </a:spcAft>
            </a:pPr>
            <a:r>
              <a:rPr sz="1150" b="1" i="0">
                <a:solidFill>
                  <a:srgbClr val="D93025"/>
                </a:solidFill>
                <a:latin typeface="Google Sans Flex"/>
              </a:rPr>
              <a:t>Security &amp; operations</a:t>
            </a:r>
          </a:p>
          <a:p>
            <a:pPr algn="l" marL="128016" indent="-128016">
              <a:spcAft>
                <a:spcPts val="400"/>
              </a:spcAft>
              <a:buClr>
                <a:srgbClr val="D93025"/>
              </a:buClr>
              <a:buFont typeface="Arial"/>
              <a:buChar char="•"/>
            </a:pPr>
            <a:r>
              <a:rPr sz="1000" b="0" i="0">
                <a:solidFill>
                  <a:srgbClr val="202124"/>
                </a:solidFill>
                <a:latin typeface="Google Sans Flex"/>
              </a:rPr>
              <a:t>Tenant isolation, including AI context</a:t>
            </a:r>
          </a:p>
          <a:p>
            <a:pPr algn="l" marL="128016" indent="-128016">
              <a:spcAft>
                <a:spcPts val="400"/>
              </a:spcAft>
              <a:buClr>
                <a:srgbClr val="D93025"/>
              </a:buClr>
              <a:buFont typeface="Arial"/>
              <a:buChar char="•"/>
            </a:pPr>
            <a:r>
              <a:rPr sz="1000" b="0" i="0">
                <a:solidFill>
                  <a:srgbClr val="202124"/>
                </a:solidFill>
                <a:latin typeface="Google Sans Flex"/>
              </a:rPr>
              <a:t>Signed webhooks, fail-closed startup checks</a:t>
            </a:r>
          </a:p>
          <a:p>
            <a:pPr algn="l" marL="128016" indent="-128016">
              <a:spcAft>
                <a:spcPts val="400"/>
              </a:spcAft>
              <a:buClr>
                <a:srgbClr val="D93025"/>
              </a:buClr>
              <a:buFont typeface="Arial"/>
              <a:buChar char="•"/>
            </a:pPr>
            <a:r>
              <a:rPr sz="1000" b="0" i="0">
                <a:solidFill>
                  <a:srgbClr val="202124"/>
                </a:solidFill>
                <a:latin typeface="Google Sans Flex"/>
              </a:rPr>
              <a:t>Rate limits, OTP lockout, CSP</a:t>
            </a:r>
          </a:p>
          <a:p>
            <a:pPr algn="l" marL="128016" indent="-128016">
              <a:spcAft>
                <a:spcPts val="400"/>
              </a:spcAft>
              <a:buClr>
                <a:srgbClr val="D93025"/>
              </a:buClr>
              <a:buFont typeface="Arial"/>
              <a:buChar char="•"/>
            </a:pPr>
            <a:r>
              <a:rPr sz="1000" b="0" i="0">
                <a:solidFill>
                  <a:srgbClr val="202124"/>
                </a:solidFill>
                <a:latin typeface="Google Sans Flex"/>
              </a:rPr>
              <a:t>Built with Indonesia's PDP Law in mind</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356616" y="1161288"/>
            <a:ext cx="8430767" cy="274320"/>
          </a:xfrm>
          <a:prstGeom prst="rect">
            <a:avLst/>
          </a:prstGeom>
          <a:noFill/>
        </p:spPr>
        <p:txBody>
          <a:bodyPr wrap="square" lIns="18288" rIns="18288" tIns="18288" bIns="18288" anchor="t">
            <a:noAutofit/>
          </a:bodyPr>
          <a:lstStyle/>
          <a:p>
            <a:pPr algn="l"/>
            <a:r>
              <a:rPr sz="950" b="1" i="0">
                <a:solidFill>
                  <a:srgbClr val="202124"/>
                </a:solidFill>
                <a:latin typeface="Google Sans Flex"/>
              </a:rPr>
              <a:t>Pilot assumption: </a:t>
            </a:r>
            <a:r>
              <a:rPr sz="950" b="0" i="0">
                <a:solidFill>
                  <a:srgbClr val="202124"/>
                </a:solidFill>
                <a:latin typeface="Google Sans Flex"/>
              </a:rPr>
              <a:t>100 sellers · 3,000 products · 1,000 orders per month. Rough estimates, to be validated with the Google Cloud Pricing Calculator.</a:t>
            </a:r>
          </a:p>
        </p:txBody>
      </p:sp>
      <p:graphicFrame>
        <p:nvGraphicFramePr>
          <p:cNvPr id="129" name="Table 128"/>
          <p:cNvGraphicFramePr>
            <a:graphicFrameLocks noGrp="1"/>
          </p:cNvGraphicFramePr>
          <p:nvPr/>
        </p:nvGraphicFramePr>
        <p:xfrm>
          <a:off x="356616" y="1536192"/>
          <a:ext cx="5623560" cy="2395728"/>
        </p:xfrm>
        <a:graphic>
          <a:graphicData uri="http://schemas.openxmlformats.org/drawingml/2006/table">
            <a:tbl>
              <a:tblPr/>
              <a:tblGrid>
                <a:gridCol w="1828800"/>
                <a:gridCol w="2697480"/>
                <a:gridCol w="1097280"/>
              </a:tblGrid>
              <a:tr h="310896">
                <a:tc>
                  <a:txBody>
                    <a:bodyPr wrap="square" lIns="64008" rIns="64008" tIns="27432" bIns="27432" anchor="ctr">
                      <a:noAutofit/>
                    </a:bodyPr>
                    <a:lstStyle/>
                    <a:p>
                      <a:pPr algn="l"/>
                      <a:r>
                        <a:rPr sz="900" b="1" i="0">
                          <a:solidFill>
                            <a:srgbClr val="FFFFFF"/>
                          </a:solidFill>
                          <a:latin typeface="Google Sans Flex"/>
                        </a:rPr>
                        <a:t>Component</a:t>
                      </a:r>
                    </a:p>
                  </a:txBody>
                  <a:tcPr anchor="ctr">
                    <a:solidFill>
                      <a:srgbClr val="202124"/>
                    </a:solidFill>
                  </a:tcPr>
                </a:tc>
                <a:tc>
                  <a:txBody>
                    <a:bodyPr wrap="square" lIns="64008" rIns="64008" tIns="27432" bIns="27432" anchor="ctr">
                      <a:noAutofit/>
                    </a:bodyPr>
                    <a:lstStyle/>
                    <a:p>
                      <a:pPr algn="l"/>
                      <a:r>
                        <a:rPr sz="900" b="1" i="0">
                          <a:solidFill>
                            <a:srgbClr val="FFFFFF"/>
                          </a:solidFill>
                          <a:latin typeface="Google Sans Flex"/>
                        </a:rPr>
                        <a:t>Basis</a:t>
                      </a:r>
                    </a:p>
                  </a:txBody>
                  <a:tcPr anchor="ctr">
                    <a:solidFill>
                      <a:srgbClr val="202124"/>
                    </a:solidFill>
                  </a:tcPr>
                </a:tc>
                <a:tc>
                  <a:txBody>
                    <a:bodyPr wrap="square" lIns="64008" rIns="64008" tIns="27432" bIns="27432" anchor="ctr">
                      <a:noAutofit/>
                    </a:bodyPr>
                    <a:lstStyle/>
                    <a:p>
                      <a:pPr algn="r"/>
                      <a:r>
                        <a:rPr sz="900" b="1" i="0">
                          <a:solidFill>
                            <a:srgbClr val="FFFFFF"/>
                          </a:solidFill>
                          <a:latin typeface="Google Sans Flex"/>
                        </a:rPr>
                        <a:t>Est. / month</a:t>
                      </a:r>
                    </a:p>
                  </a:txBody>
                  <a:tcPr anchor="ctr">
                    <a:solidFill>
                      <a:srgbClr val="202124"/>
                    </a:solidFill>
                  </a:tcPr>
                </a:tc>
              </a:tr>
              <a:tr h="347472">
                <a:tc>
                  <a:txBody>
                    <a:bodyPr wrap="square" lIns="64008" rIns="64008" tIns="27432" bIns="27432" anchor="ctr">
                      <a:noAutofit/>
                    </a:bodyPr>
                    <a:lstStyle/>
                    <a:p>
                      <a:pPr algn="l"/>
                      <a:r>
                        <a:rPr sz="850" b="1" i="0">
                          <a:solidFill>
                            <a:srgbClr val="202124"/>
                          </a:solidFill>
                          <a:latin typeface="Google Sans Flex"/>
                        </a:rPr>
                        <a:t>Cloud Run, Firestore, Storage, Pub/Sub</a:t>
                      </a:r>
                    </a:p>
                  </a:txBody>
                  <a:tcPr anchor="ctr">
                    <a:solidFill>
                      <a:srgbClr val="FFFFFF"/>
                    </a:solidFill>
                  </a:tcPr>
                </a:tc>
                <a:tc>
                  <a:txBody>
                    <a:bodyPr wrap="square" lIns="64008" rIns="64008" tIns="27432" bIns="27432" anchor="ctr">
                      <a:noAutofit/>
                    </a:bodyPr>
                    <a:lstStyle/>
                    <a:p>
                      <a:pPr algn="l"/>
                      <a:r>
                        <a:rPr sz="850" b="0" i="0">
                          <a:solidFill>
                            <a:srgbClr val="202124"/>
                          </a:solidFill>
                          <a:latin typeface="Google Sans Flex"/>
                        </a:rPr>
                        <a:t>Low pilot traffic, mostly within free tiers</a:t>
                      </a:r>
                    </a:p>
                  </a:txBody>
                  <a:tcPr anchor="ctr">
                    <a:solidFill>
                      <a:srgbClr val="FFFFFF"/>
                    </a:solidFill>
                  </a:tcPr>
                </a:tc>
                <a:tc>
                  <a:txBody>
                    <a:bodyPr wrap="square" lIns="64008" rIns="64008" tIns="27432" bIns="27432" anchor="ctr">
                      <a:noAutofit/>
                    </a:bodyPr>
                    <a:lstStyle/>
                    <a:p>
                      <a:pPr algn="r"/>
                      <a:r>
                        <a:rPr sz="850" b="0" i="0">
                          <a:solidFill>
                            <a:srgbClr val="202124"/>
                          </a:solidFill>
                          <a:latin typeface="Google Sans Flex"/>
                        </a:rPr>
                        <a:t>US$10–30</a:t>
                      </a:r>
                    </a:p>
                  </a:txBody>
                  <a:tcPr anchor="ctr">
                    <a:solidFill>
                      <a:srgbClr val="FFFFFF"/>
                    </a:solidFill>
                  </a:tcPr>
                </a:tc>
              </a:tr>
              <a:tr h="347472">
                <a:tc>
                  <a:txBody>
                    <a:bodyPr wrap="square" lIns="64008" rIns="64008" tIns="27432" bIns="27432" anchor="ctr">
                      <a:noAutofit/>
                    </a:bodyPr>
                    <a:lstStyle/>
                    <a:p>
                      <a:pPr algn="l"/>
                      <a:r>
                        <a:rPr sz="850" b="1" i="0">
                          <a:solidFill>
                            <a:srgbClr val="202124"/>
                          </a:solidFill>
                          <a:latin typeface="Google Sans Flex"/>
                        </a:rPr>
                        <a:t>Gemini on Vertex AI</a:t>
                      </a:r>
                    </a:p>
                  </a:txBody>
                  <a:tcPr anchor="ctr">
                    <a:solidFill>
                      <a:srgbClr val="F8F9FA"/>
                    </a:solidFill>
                  </a:tcPr>
                </a:tc>
                <a:tc>
                  <a:txBody>
                    <a:bodyPr wrap="square" lIns="64008" rIns="64008" tIns="27432" bIns="27432" anchor="ctr">
                      <a:noAutofit/>
                    </a:bodyPr>
                    <a:lstStyle/>
                    <a:p>
                      <a:pPr algn="l"/>
                      <a:r>
                        <a:rPr sz="850" b="0" i="0">
                          <a:solidFill>
                            <a:srgbClr val="202124"/>
                          </a:solidFill>
                          <a:latin typeface="Google Sans Flex"/>
                        </a:rPr>
                        <a:t>~3,000 catalog extractions + ~2,000 seller-agent turns (buyers' agents run on their own models)</a:t>
                      </a:r>
                    </a:p>
                  </a:txBody>
                  <a:tcPr anchor="ctr">
                    <a:solidFill>
                      <a:srgbClr val="F8F9FA"/>
                    </a:solidFill>
                  </a:tcPr>
                </a:tc>
                <a:tc>
                  <a:txBody>
                    <a:bodyPr wrap="square" lIns="64008" rIns="64008" tIns="27432" bIns="27432" anchor="ctr">
                      <a:noAutofit/>
                    </a:bodyPr>
                    <a:lstStyle/>
                    <a:p>
                      <a:pPr algn="r"/>
                      <a:r>
                        <a:rPr sz="850" b="0" i="0">
                          <a:solidFill>
                            <a:srgbClr val="202124"/>
                          </a:solidFill>
                          <a:latin typeface="Google Sans Flex"/>
                        </a:rPr>
                        <a:t>US$15–60</a:t>
                      </a:r>
                    </a:p>
                  </a:txBody>
                  <a:tcPr anchor="ctr">
                    <a:solidFill>
                      <a:srgbClr val="F8F9FA"/>
                    </a:solidFill>
                  </a:tcPr>
                </a:tc>
              </a:tr>
              <a:tr h="347472">
                <a:tc>
                  <a:txBody>
                    <a:bodyPr wrap="square" lIns="64008" rIns="64008" tIns="27432" bIns="27432" anchor="ctr">
                      <a:noAutofit/>
                    </a:bodyPr>
                    <a:lstStyle/>
                    <a:p>
                      <a:pPr algn="l"/>
                      <a:r>
                        <a:rPr sz="850" b="1" i="0">
                          <a:solidFill>
                            <a:srgbClr val="202124"/>
                          </a:solidFill>
                          <a:latin typeface="Google Sans Flex"/>
                        </a:rPr>
                        <a:t>WhatsApp Cloud API</a:t>
                      </a:r>
                    </a:p>
                  </a:txBody>
                  <a:tcPr anchor="ctr">
                    <a:solidFill>
                      <a:srgbClr val="FFFFFF"/>
                    </a:solidFill>
                  </a:tcPr>
                </a:tc>
                <a:tc>
                  <a:txBody>
                    <a:bodyPr wrap="square" lIns="64008" rIns="64008" tIns="27432" bIns="27432" anchor="ctr">
                      <a:noAutofit/>
                    </a:bodyPr>
                    <a:lstStyle/>
                    <a:p>
                      <a:pPr algn="l"/>
                      <a:r>
                        <a:rPr sz="850" b="0" i="0">
                          <a:solidFill>
                            <a:srgbClr val="202124"/>
                          </a:solidFill>
                          <a:latin typeface="Google Sans Flex"/>
                        </a:rPr>
                        <a:t>~4 utility messages per order × 1,000 orders at ~IDR 366–460</a:t>
                      </a:r>
                    </a:p>
                  </a:txBody>
                  <a:tcPr anchor="ctr">
                    <a:solidFill>
                      <a:srgbClr val="FFFFFF"/>
                    </a:solidFill>
                  </a:tcPr>
                </a:tc>
                <a:tc>
                  <a:txBody>
                    <a:bodyPr wrap="square" lIns="64008" rIns="64008" tIns="27432" bIns="27432" anchor="ctr">
                      <a:noAutofit/>
                    </a:bodyPr>
                    <a:lstStyle/>
                    <a:p>
                      <a:pPr algn="r"/>
                      <a:r>
                        <a:rPr sz="850" b="0" i="0">
                          <a:solidFill>
                            <a:srgbClr val="202124"/>
                          </a:solidFill>
                          <a:latin typeface="Google Sans Flex"/>
                        </a:rPr>
                        <a:t>~US$90–115</a:t>
                      </a:r>
                    </a:p>
                  </a:txBody>
                  <a:tcPr anchor="ctr">
                    <a:solidFill>
                      <a:srgbClr val="FFFFFF"/>
                    </a:solidFill>
                  </a:tcPr>
                </a:tc>
              </a:tr>
              <a:tr h="347472">
                <a:tc>
                  <a:txBody>
                    <a:bodyPr wrap="square" lIns="64008" rIns="64008" tIns="27432" bIns="27432" anchor="ctr">
                      <a:noAutofit/>
                    </a:bodyPr>
                    <a:lstStyle/>
                    <a:p>
                      <a:pPr algn="l"/>
                      <a:r>
                        <a:rPr sz="850" b="1" i="0">
                          <a:solidFill>
                            <a:srgbClr val="202124"/>
                          </a:solidFill>
                          <a:latin typeface="Google Sans Flex"/>
                        </a:rPr>
                        <a:t>Biteship rates API</a:t>
                      </a:r>
                    </a:p>
                  </a:txBody>
                  <a:tcPr anchor="ctr">
                    <a:solidFill>
                      <a:srgbClr val="F8F9FA"/>
                    </a:solidFill>
                  </a:tcPr>
                </a:tc>
                <a:tc>
                  <a:txBody>
                    <a:bodyPr wrap="square" lIns="64008" rIns="64008" tIns="27432" bIns="27432" anchor="ctr">
                      <a:noAutofit/>
                    </a:bodyPr>
                    <a:lstStyle/>
                    <a:p>
                      <a:pPr algn="l"/>
                      <a:r>
                        <a:rPr sz="850" b="0" i="0">
                          <a:solidFill>
                            <a:srgbClr val="202124"/>
                          </a:solidFill>
                          <a:latin typeface="Google Sans Flex"/>
                        </a:rPr>
                        <a:t>~5,000 rate checks at ~IDR 5 each</a:t>
                      </a:r>
                    </a:p>
                  </a:txBody>
                  <a:tcPr anchor="ctr">
                    <a:solidFill>
                      <a:srgbClr val="F8F9FA"/>
                    </a:solidFill>
                  </a:tcPr>
                </a:tc>
                <a:tc>
                  <a:txBody>
                    <a:bodyPr wrap="square" lIns="64008" rIns="64008" tIns="27432" bIns="27432" anchor="ctr">
                      <a:noAutofit/>
                    </a:bodyPr>
                    <a:lstStyle/>
                    <a:p>
                      <a:pPr algn="r"/>
                      <a:r>
                        <a:rPr sz="850" b="0" i="0">
                          <a:solidFill>
                            <a:srgbClr val="202124"/>
                          </a:solidFill>
                          <a:latin typeface="Google Sans Flex"/>
                        </a:rPr>
                        <a:t>&lt; US$2</a:t>
                      </a:r>
                    </a:p>
                  </a:txBody>
                  <a:tcPr anchor="ctr">
                    <a:solidFill>
                      <a:srgbClr val="F8F9FA"/>
                    </a:solidFill>
                  </a:tcPr>
                </a:tc>
              </a:tr>
              <a:tr h="347472">
                <a:tc>
                  <a:txBody>
                    <a:bodyPr wrap="square" lIns="64008" rIns="64008" tIns="27432" bIns="27432" anchor="ctr">
                      <a:noAutofit/>
                    </a:bodyPr>
                    <a:lstStyle/>
                    <a:p>
                      <a:pPr algn="l"/>
                      <a:r>
                        <a:rPr sz="850" b="1" i="0">
                          <a:solidFill>
                            <a:srgbClr val="202124"/>
                          </a:solidFill>
                          <a:latin typeface="Google Sans Flex"/>
                        </a:rPr>
                        <a:t>QRIS payments</a:t>
                      </a:r>
                    </a:p>
                  </a:txBody>
                  <a:tcPr anchor="ctr">
                    <a:solidFill>
                      <a:srgbClr val="FFFFFF"/>
                    </a:solidFill>
                  </a:tcPr>
                </a:tc>
                <a:tc>
                  <a:txBody>
                    <a:bodyPr wrap="square" lIns="64008" rIns="64008" tIns="27432" bIns="27432" anchor="ctr">
                      <a:noAutofit/>
                    </a:bodyPr>
                    <a:lstStyle/>
                    <a:p>
                      <a:pPr algn="l"/>
                      <a:r>
                        <a:rPr sz="850" b="0" i="0">
                          <a:solidFill>
                            <a:srgbClr val="202124"/>
                          </a:solidFill>
                          <a:latin typeface="Google Sans Flex"/>
                        </a:rPr>
                        <a:t>0% MDR for micro sellers ≤ Rp500k (Bank Indonesia); gateway fee paid by buyer</a:t>
                      </a:r>
                    </a:p>
                  </a:txBody>
                  <a:tcPr anchor="ctr">
                    <a:solidFill>
                      <a:srgbClr val="FFFFFF"/>
                    </a:solidFill>
                  </a:tcPr>
                </a:tc>
                <a:tc>
                  <a:txBody>
                    <a:bodyPr wrap="square" lIns="64008" rIns="64008" tIns="27432" bIns="27432" anchor="ctr">
                      <a:noAutofit/>
                    </a:bodyPr>
                    <a:lstStyle/>
                    <a:p>
                      <a:pPr algn="r"/>
                      <a:r>
                        <a:rPr sz="850" b="0" i="0">
                          <a:solidFill>
                            <a:srgbClr val="202124"/>
                          </a:solidFill>
                          <a:latin typeface="Google Sans Flex"/>
                        </a:rPr>
                        <a:t>Pass-through</a:t>
                      </a:r>
                    </a:p>
                  </a:txBody>
                  <a:tcPr anchor="ctr">
                    <a:solidFill>
                      <a:srgbClr val="FFFFFF"/>
                    </a:solidFill>
                  </a:tcPr>
                </a:tc>
              </a:tr>
              <a:tr h="347472">
                <a:tc>
                  <a:txBody>
                    <a:bodyPr wrap="square" lIns="64008" rIns="64008" tIns="27432" bIns="27432" anchor="ctr">
                      <a:noAutofit/>
                    </a:bodyPr>
                    <a:lstStyle/>
                    <a:p>
                      <a:pPr algn="l"/>
                      <a:r>
                        <a:rPr sz="850" b="1" i="0">
                          <a:solidFill>
                            <a:srgbClr val="202124"/>
                          </a:solidFill>
                          <a:latin typeface="Google Sans Flex"/>
                        </a:rPr>
                        <a:t>Total platform cost</a:t>
                      </a:r>
                    </a:p>
                  </a:txBody>
                  <a:tcPr anchor="ctr">
                    <a:solidFill>
                      <a:srgbClr val="E8F0FE"/>
                    </a:solidFill>
                  </a:tcPr>
                </a:tc>
                <a:tc>
                  <a:txBody>
                    <a:bodyPr wrap="square" lIns="64008" rIns="64008" tIns="27432" bIns="27432" anchor="ctr">
                      <a:noAutofit/>
                    </a:bodyPr>
                    <a:lstStyle/>
                    <a:p>
                      <a:pPr algn="l"/>
                      <a:r>
                        <a:rPr sz="850" b="1" i="0">
                          <a:solidFill>
                            <a:srgbClr val="202124"/>
                          </a:solidFill>
                          <a:latin typeface="Google Sans Flex"/>
                        </a:rPr>
                        <a:t/>
                      </a:r>
                    </a:p>
                  </a:txBody>
                  <a:tcPr anchor="ctr">
                    <a:solidFill>
                      <a:srgbClr val="E8F0FE"/>
                    </a:solidFill>
                  </a:tcPr>
                </a:tc>
                <a:tc>
                  <a:txBody>
                    <a:bodyPr wrap="square" lIns="64008" rIns="64008" tIns="27432" bIns="27432" anchor="ctr">
                      <a:noAutofit/>
                    </a:bodyPr>
                    <a:lstStyle/>
                    <a:p>
                      <a:pPr algn="r"/>
                      <a:r>
                        <a:rPr sz="850" b="1" i="0">
                          <a:solidFill>
                            <a:srgbClr val="202124"/>
                          </a:solidFill>
                          <a:latin typeface="Google Sans Flex"/>
                        </a:rPr>
                        <a:t>≈ US$120–210</a:t>
                      </a:r>
                    </a:p>
                  </a:txBody>
                  <a:tcPr anchor="ctr">
                    <a:solidFill>
                      <a:srgbClr val="E8F0FE"/>
                    </a:solidFill>
                  </a:tcPr>
                </a:tc>
              </a:tr>
            </a:tbl>
          </a:graphicData>
        </a:graphic>
      </p:graphicFrame>
      <p:sp>
        <p:nvSpPr>
          <p:cNvPr id="130" name="Unit economics"/>
          <p:cNvSpPr/>
          <p:nvPr/>
        </p:nvSpPr>
        <p:spPr>
          <a:xfrm>
            <a:off x="6208776" y="1536192"/>
            <a:ext cx="2578607" cy="2432304"/>
          </a:xfrm>
          <a:prstGeom prst="roundRect">
            <a:avLst>
              <a:gd name="adj" fmla="val 3007"/>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6345936" y="1627632"/>
            <a:ext cx="2304287" cy="274320"/>
          </a:xfrm>
          <a:prstGeom prst="rect">
            <a:avLst/>
          </a:prstGeom>
          <a:noFill/>
        </p:spPr>
        <p:txBody>
          <a:bodyPr wrap="square" lIns="18288" rIns="18288" tIns="18288" bIns="18288" anchor="t">
            <a:noAutofit/>
          </a:bodyPr>
          <a:lstStyle/>
          <a:p>
            <a:pPr algn="l"/>
            <a:r>
              <a:rPr sz="1000" b="1" i="0">
                <a:solidFill>
                  <a:srgbClr val="188038"/>
                </a:solidFill>
                <a:latin typeface="Google Sans Flex"/>
              </a:rPr>
              <a:t>Unit economics per order</a:t>
            </a:r>
          </a:p>
        </p:txBody>
      </p:sp>
      <p:sp>
        <p:nvSpPr>
          <p:cNvPr id="132" name="TextBox 131"/>
          <p:cNvSpPr txBox="1"/>
          <p:nvPr/>
        </p:nvSpPr>
        <p:spPr>
          <a:xfrm>
            <a:off x="6345936" y="1920240"/>
            <a:ext cx="2304287" cy="411480"/>
          </a:xfrm>
          <a:prstGeom prst="rect">
            <a:avLst/>
          </a:prstGeom>
          <a:noFill/>
        </p:spPr>
        <p:txBody>
          <a:bodyPr wrap="square" lIns="18288" rIns="18288" tIns="18288" bIns="18288" anchor="t">
            <a:noAutofit/>
          </a:bodyPr>
          <a:lstStyle/>
          <a:p>
            <a:pPr algn="l"/>
            <a:r>
              <a:rPr sz="2000" b="1" i="0">
                <a:solidFill>
                  <a:srgbClr val="202124"/>
                </a:solidFill>
                <a:latin typeface="Google Sans Flex"/>
              </a:rPr>
              <a:t>≈ IDR 2–3.5k</a:t>
            </a:r>
          </a:p>
        </p:txBody>
      </p:sp>
      <p:sp>
        <p:nvSpPr>
          <p:cNvPr id="133" name="TextBox 132"/>
          <p:cNvSpPr txBox="1"/>
          <p:nvPr/>
        </p:nvSpPr>
        <p:spPr>
          <a:xfrm>
            <a:off x="6345936" y="2304288"/>
            <a:ext cx="2304287" cy="365760"/>
          </a:xfrm>
          <a:prstGeom prst="rect">
            <a:avLst/>
          </a:prstGeom>
          <a:noFill/>
        </p:spPr>
        <p:txBody>
          <a:bodyPr wrap="square" lIns="18288" rIns="18288" tIns="18288" bIns="18288" anchor="t">
            <a:noAutofit/>
          </a:bodyPr>
          <a:lstStyle/>
          <a:p>
            <a:pPr algn="l"/>
            <a:r>
              <a:rPr sz="850" b="0" i="0">
                <a:solidFill>
                  <a:srgbClr val="5F6368"/>
                </a:solidFill>
                <a:latin typeface="Google Sans Flex"/>
              </a:rPr>
              <a:t>platform cost per order in the pilot (WhatsApp is most of it)</a:t>
            </a:r>
          </a:p>
        </p:txBody>
      </p:sp>
      <p:sp>
        <p:nvSpPr>
          <p:cNvPr id="134" name="TextBox 133"/>
          <p:cNvSpPr txBox="1"/>
          <p:nvPr/>
        </p:nvSpPr>
        <p:spPr>
          <a:xfrm>
            <a:off x="6345936" y="2743200"/>
            <a:ext cx="2304287" cy="411480"/>
          </a:xfrm>
          <a:prstGeom prst="rect">
            <a:avLst/>
          </a:prstGeom>
          <a:noFill/>
        </p:spPr>
        <p:txBody>
          <a:bodyPr wrap="square" lIns="18288" rIns="18288" tIns="18288" bIns="18288" anchor="t">
            <a:noAutofit/>
          </a:bodyPr>
          <a:lstStyle/>
          <a:p>
            <a:pPr algn="l"/>
            <a:r>
              <a:rPr sz="2000" b="1" i="0">
                <a:solidFill>
                  <a:srgbClr val="188038"/>
                </a:solidFill>
                <a:latin typeface="Google Sans Flex"/>
              </a:rPr>
              <a:t>IDR 6.8k</a:t>
            </a:r>
          </a:p>
        </p:txBody>
      </p:sp>
      <p:sp>
        <p:nvSpPr>
          <p:cNvPr id="135" name="TextBox 134"/>
          <p:cNvSpPr txBox="1"/>
          <p:nvPr/>
        </p:nvSpPr>
        <p:spPr>
          <a:xfrm>
            <a:off x="6345936" y="3127248"/>
            <a:ext cx="2304287" cy="640080"/>
          </a:xfrm>
          <a:prstGeom prst="rect">
            <a:avLst/>
          </a:prstGeom>
          <a:noFill/>
        </p:spPr>
        <p:txBody>
          <a:bodyPr wrap="square" lIns="18288" rIns="18288" tIns="18288" bIns="18288" anchor="t">
            <a:noAutofit/>
          </a:bodyPr>
          <a:lstStyle/>
          <a:p>
            <a:pPr algn="l"/>
            <a:r>
              <a:rPr sz="850" b="0" i="0">
                <a:solidFill>
                  <a:srgbClr val="5F6368"/>
                </a:solidFill>
                <a:latin typeface="Google Sans Flex"/>
              </a:rPr>
              <a:t>commission at 4% on an IDR 170k order. Sellers pay only when an order sells.</a:t>
            </a:r>
          </a:p>
        </p:txBody>
      </p:sp>
      <p:sp>
        <p:nvSpPr>
          <p:cNvPr id="136" name="TextBox 135"/>
          <p:cNvSpPr txBox="1"/>
          <p:nvPr/>
        </p:nvSpPr>
        <p:spPr>
          <a:xfrm>
            <a:off x="356616" y="4407408"/>
            <a:ext cx="8430767" cy="274320"/>
          </a:xfrm>
          <a:prstGeom prst="rect">
            <a:avLst/>
          </a:prstGeom>
          <a:noFill/>
        </p:spPr>
        <p:txBody>
          <a:bodyPr wrap="square" lIns="18288" rIns="18288" tIns="18288" bIns="18288" anchor="t">
            <a:noAutofit/>
          </a:bodyPr>
          <a:lstStyle/>
          <a:p>
            <a:pPr algn="l"/>
            <a:r>
              <a:rPr sz="700" b="0" i="0">
                <a:solidFill>
                  <a:srgbClr val="5F6368"/>
                </a:solidFill>
                <a:latin typeface="Google Sans Flex"/>
              </a:rPr>
              <a:t>Price references: Meta WhatsApp Business Platform per-message pricing (utility rate in Indonesia via Qontak, Oct 2026); Biteship Rates API pricing; Bank Indonesia QRIS MDR rules (Kontan, Oct 2026); Vertex AI Gemini 2.5 Flash list prices. FX: US$1 ≈ IDR 16,000. Details: docs/10.</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TextBox 135"/>
          <p:cNvSpPr txBox="1"/>
          <p:nvPr/>
        </p:nvSpPr>
        <p:spPr>
          <a:xfrm>
            <a:off x="356616" y="1161288"/>
            <a:ext cx="8430767" cy="274320"/>
          </a:xfrm>
          <a:prstGeom prst="rect">
            <a:avLst/>
          </a:prstGeom>
          <a:noFill/>
        </p:spPr>
        <p:txBody>
          <a:bodyPr wrap="square" lIns="18288" rIns="18288" tIns="18288" bIns="18288" anchor="t">
            <a:noAutofit/>
          </a:bodyPr>
          <a:lstStyle/>
          <a:p>
            <a:pPr algn="l"/>
            <a:r>
              <a:rPr sz="950" b="0" i="1">
                <a:solidFill>
                  <a:srgbClr val="5F6368"/>
                </a:solidFill>
                <a:latin typeface="Google Sans Flex"/>
              </a:rPr>
              <a:t>Prototype in progress. Screenshots from the deployed build will replace these frames before the final submission.</a:t>
            </a:r>
          </a:p>
        </p:txBody>
      </p:sp>
      <p:sp>
        <p:nvSpPr>
          <p:cNvPr id="137" name="Snapshot frame 1"/>
          <p:cNvSpPr/>
          <p:nvPr/>
        </p:nvSpPr>
        <p:spPr>
          <a:xfrm>
            <a:off x="356616" y="1554480"/>
            <a:ext cx="2688336" cy="2743200"/>
          </a:xfrm>
          <a:prstGeom prst="roundRect">
            <a:avLst>
              <a:gd name="adj" fmla="val 3401"/>
            </a:avLst>
          </a:prstGeom>
          <a:solidFill>
            <a:srgbClr val="F8F9FA"/>
          </a:solidFill>
          <a:ln w="12700">
            <a:solidFill>
              <a:srgbClr val="9AA0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noAutofit/>
          </a:bodyPr>
          <a:lstStyle/>
          <a:p>
            <a:pPr algn="ctr"/>
            <a:r>
              <a:rPr sz="900" b="0" i="0">
                <a:solidFill>
                  <a:srgbClr val="5F6368"/>
                </a:solidFill>
                <a:latin typeface="Google Sans Flex"/>
              </a:rPr>
              <a:t>Screenshot to be added</a:t>
            </a:r>
          </a:p>
        </p:txBody>
      </p:sp>
      <p:sp>
        <p:nvSpPr>
          <p:cNvPr id="138" name="TextBox 137"/>
          <p:cNvSpPr txBox="1"/>
          <p:nvPr/>
        </p:nvSpPr>
        <p:spPr>
          <a:xfrm>
            <a:off x="356616" y="4370832"/>
            <a:ext cx="2688336" cy="274320"/>
          </a:xfrm>
          <a:prstGeom prst="rect">
            <a:avLst/>
          </a:prstGeom>
          <a:noFill/>
        </p:spPr>
        <p:txBody>
          <a:bodyPr wrap="square" lIns="18288" rIns="18288" tIns="18288" bIns="18288" anchor="t">
            <a:noAutofit/>
          </a:bodyPr>
          <a:lstStyle/>
          <a:p>
            <a:pPr algn="ctr"/>
            <a:r>
              <a:rPr sz="1000" b="1" i="0">
                <a:solidFill>
                  <a:srgbClr val="202124"/>
                </a:solidFill>
                <a:latin typeface="Google Sans Flex"/>
              </a:rPr>
              <a:t>Seller onboarding in WhatsApp</a:t>
            </a:r>
          </a:p>
        </p:txBody>
      </p:sp>
      <p:sp>
        <p:nvSpPr>
          <p:cNvPr id="139" name="Snapshot frame 2"/>
          <p:cNvSpPr/>
          <p:nvPr/>
        </p:nvSpPr>
        <p:spPr>
          <a:xfrm>
            <a:off x="3227832" y="1554480"/>
            <a:ext cx="2688336" cy="2743200"/>
          </a:xfrm>
          <a:prstGeom prst="roundRect">
            <a:avLst>
              <a:gd name="adj" fmla="val 3401"/>
            </a:avLst>
          </a:prstGeom>
          <a:solidFill>
            <a:srgbClr val="F8F9FA"/>
          </a:solidFill>
          <a:ln w="12700">
            <a:solidFill>
              <a:srgbClr val="9AA0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noAutofit/>
          </a:bodyPr>
          <a:lstStyle/>
          <a:p>
            <a:pPr algn="ctr"/>
            <a:r>
              <a:rPr sz="900" b="0" i="0">
                <a:solidFill>
                  <a:srgbClr val="5F6368"/>
                </a:solidFill>
                <a:latin typeface="Google Sans Flex"/>
              </a:rPr>
              <a:t>Screenshot to be added</a:t>
            </a:r>
          </a:p>
        </p:txBody>
      </p:sp>
      <p:sp>
        <p:nvSpPr>
          <p:cNvPr id="140" name="TextBox 139"/>
          <p:cNvSpPr txBox="1"/>
          <p:nvPr/>
        </p:nvSpPr>
        <p:spPr>
          <a:xfrm>
            <a:off x="3227832" y="4370832"/>
            <a:ext cx="2688336" cy="274320"/>
          </a:xfrm>
          <a:prstGeom prst="rect">
            <a:avLst/>
          </a:prstGeom>
          <a:noFill/>
        </p:spPr>
        <p:txBody>
          <a:bodyPr wrap="square" lIns="18288" rIns="18288" tIns="18288" bIns="18288" anchor="t">
            <a:noAutofit/>
          </a:bodyPr>
          <a:lstStyle/>
          <a:p>
            <a:pPr algn="ctr"/>
            <a:r>
              <a:rPr sz="1000" b="1" i="0">
                <a:solidFill>
                  <a:srgbClr val="202124"/>
                </a:solidFill>
                <a:latin typeface="Google Sans Flex"/>
              </a:rPr>
              <a:t>Buyer agent search &amp; checkout</a:t>
            </a:r>
          </a:p>
        </p:txBody>
      </p:sp>
      <p:sp>
        <p:nvSpPr>
          <p:cNvPr id="141" name="Snapshot frame 3"/>
          <p:cNvSpPr/>
          <p:nvPr/>
        </p:nvSpPr>
        <p:spPr>
          <a:xfrm>
            <a:off x="6099048" y="1554480"/>
            <a:ext cx="2688336" cy="2743200"/>
          </a:xfrm>
          <a:prstGeom prst="roundRect">
            <a:avLst>
              <a:gd name="adj" fmla="val 3401"/>
            </a:avLst>
          </a:prstGeom>
          <a:solidFill>
            <a:srgbClr val="F8F9FA"/>
          </a:solidFill>
          <a:ln w="12700">
            <a:solidFill>
              <a:srgbClr val="9AA0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noAutofit/>
          </a:bodyPr>
          <a:lstStyle/>
          <a:p>
            <a:pPr algn="ctr"/>
            <a:r>
              <a:rPr sz="900" b="0" i="0">
                <a:solidFill>
                  <a:srgbClr val="5F6368"/>
                </a:solidFill>
                <a:latin typeface="Google Sans Flex"/>
              </a:rPr>
              <a:t>Screenshot to be added</a:t>
            </a:r>
          </a:p>
        </p:txBody>
      </p:sp>
      <p:sp>
        <p:nvSpPr>
          <p:cNvPr id="142" name="TextBox 141"/>
          <p:cNvSpPr txBox="1"/>
          <p:nvPr/>
        </p:nvSpPr>
        <p:spPr>
          <a:xfrm>
            <a:off x="6099048" y="4370832"/>
            <a:ext cx="2688336" cy="274320"/>
          </a:xfrm>
          <a:prstGeom prst="rect">
            <a:avLst/>
          </a:prstGeom>
          <a:noFill/>
        </p:spPr>
        <p:txBody>
          <a:bodyPr wrap="square" lIns="18288" rIns="18288" tIns="18288" bIns="18288" anchor="t">
            <a:noAutofit/>
          </a:bodyPr>
          <a:lstStyle/>
          <a:p>
            <a:pPr algn="ctr"/>
            <a:r>
              <a:rPr sz="1000" b="1" i="0">
                <a:solidFill>
                  <a:srgbClr val="202124"/>
                </a:solidFill>
                <a:latin typeface="Google Sans Flex"/>
              </a:rPr>
              <a:t>Order alert &amp; seller dashboard</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356616" y="1161288"/>
            <a:ext cx="8430767" cy="274320"/>
          </a:xfrm>
          <a:prstGeom prst="rect">
            <a:avLst/>
          </a:prstGeom>
          <a:noFill/>
        </p:spPr>
        <p:txBody>
          <a:bodyPr wrap="square" lIns="18288" rIns="18288" tIns="18288" bIns="18288" anchor="t">
            <a:noAutofit/>
          </a:bodyPr>
          <a:lstStyle/>
          <a:p>
            <a:pPr algn="l"/>
            <a:r>
              <a:rPr sz="950" b="0" i="1">
                <a:solidFill>
                  <a:srgbClr val="5F6368"/>
                </a:solidFill>
                <a:latin typeface="Google Sans Flex"/>
              </a:rPr>
              <a:t>214 automated tests pass today (stock races, payments, webhooks, OTP abuse). TBD results come from the Gemini run on Cloud Run.</a:t>
            </a:r>
          </a:p>
        </p:txBody>
      </p:sp>
      <p:graphicFrame>
        <p:nvGraphicFramePr>
          <p:cNvPr id="145" name="Table 144"/>
          <p:cNvGraphicFramePr>
            <a:graphicFrameLocks noGrp="1"/>
          </p:cNvGraphicFramePr>
          <p:nvPr/>
        </p:nvGraphicFramePr>
        <p:xfrm>
          <a:off x="356616" y="1536192"/>
          <a:ext cx="8430768" cy="2999232"/>
        </p:xfrm>
        <a:graphic>
          <a:graphicData uri="http://schemas.openxmlformats.org/drawingml/2006/table">
            <a:tbl>
              <a:tblPr/>
              <a:tblGrid>
                <a:gridCol w="2011680"/>
                <a:gridCol w="3310128"/>
                <a:gridCol w="1737360"/>
                <a:gridCol w="1371600"/>
              </a:tblGrid>
              <a:tr h="310896">
                <a:tc>
                  <a:txBody>
                    <a:bodyPr wrap="square" lIns="73152" rIns="73152" tIns="27432" bIns="27432" anchor="ctr">
                      <a:noAutofit/>
                    </a:bodyPr>
                    <a:lstStyle/>
                    <a:p>
                      <a:pPr algn="l"/>
                      <a:r>
                        <a:rPr sz="950" b="1" i="0">
                          <a:solidFill>
                            <a:srgbClr val="FFFFFF"/>
                          </a:solidFill>
                          <a:latin typeface="Google Sans Flex"/>
                        </a:rPr>
                        <a:t>Metric</a:t>
                      </a:r>
                    </a:p>
                  </a:txBody>
                  <a:tcPr anchor="ctr">
                    <a:solidFill>
                      <a:srgbClr val="202124"/>
                    </a:solidFill>
                  </a:tcPr>
                </a:tc>
                <a:tc>
                  <a:txBody>
                    <a:bodyPr wrap="square" lIns="73152" rIns="73152" tIns="27432" bIns="27432" anchor="ctr">
                      <a:noAutofit/>
                    </a:bodyPr>
                    <a:lstStyle/>
                    <a:p>
                      <a:pPr algn="l"/>
                      <a:r>
                        <a:rPr sz="950" b="1" i="0">
                          <a:solidFill>
                            <a:srgbClr val="FFFFFF"/>
                          </a:solidFill>
                          <a:latin typeface="Google Sans Flex"/>
                        </a:rPr>
                        <a:t>How we measure</a:t>
                      </a:r>
                    </a:p>
                  </a:txBody>
                  <a:tcPr anchor="ctr">
                    <a:solidFill>
                      <a:srgbClr val="202124"/>
                    </a:solidFill>
                  </a:tcPr>
                </a:tc>
                <a:tc>
                  <a:txBody>
                    <a:bodyPr wrap="square" lIns="73152" rIns="73152" tIns="27432" bIns="27432" anchor="ctr">
                      <a:noAutofit/>
                    </a:bodyPr>
                    <a:lstStyle/>
                    <a:p>
                      <a:pPr algn="l"/>
                      <a:r>
                        <a:rPr sz="950" b="1" i="0">
                          <a:solidFill>
                            <a:srgbClr val="FFFFFF"/>
                          </a:solidFill>
                          <a:latin typeface="Google Sans Flex"/>
                        </a:rPr>
                        <a:t>Target</a:t>
                      </a:r>
                    </a:p>
                  </a:txBody>
                  <a:tcPr anchor="ctr">
                    <a:solidFill>
                      <a:srgbClr val="202124"/>
                    </a:solidFill>
                  </a:tcPr>
                </a:tc>
                <a:tc>
                  <a:txBody>
                    <a:bodyPr wrap="square" lIns="73152" rIns="73152" tIns="27432" bIns="27432" anchor="ctr">
                      <a:noAutofit/>
                    </a:bodyPr>
                    <a:lstStyle/>
                    <a:p>
                      <a:pPr algn="l"/>
                      <a:r>
                        <a:rPr sz="950" b="1" i="0">
                          <a:solidFill>
                            <a:srgbClr val="FFFFFF"/>
                          </a:solidFill>
                          <a:latin typeface="Google Sans Flex"/>
                        </a:rPr>
                        <a:t>Result</a:t>
                      </a:r>
                    </a:p>
                  </a:txBody>
                  <a:tcPr anchor="ctr">
                    <a:solidFill>
                      <a:srgbClr val="202124"/>
                    </a:solidFill>
                  </a:tcPr>
                </a:tc>
              </a:tr>
              <a:tr h="384048">
                <a:tc>
                  <a:txBody>
                    <a:bodyPr wrap="square" lIns="73152" rIns="73152" tIns="27432" bIns="27432" anchor="ctr">
                      <a:noAutofit/>
                    </a:bodyPr>
                    <a:lstStyle/>
                    <a:p>
                      <a:pPr algn="l"/>
                      <a:r>
                        <a:rPr sz="950" b="1" i="0">
                          <a:solidFill>
                            <a:srgbClr val="202124"/>
                          </a:solidFill>
                          <a:latin typeface="Google Sans Flex"/>
                        </a:rPr>
                        <a:t>Catalog extraction accuracy</a:t>
                      </a:r>
                    </a:p>
                  </a:txBody>
                  <a:tcPr anchor="ctr">
                    <a:solidFill>
                      <a:srgbClr val="FFFFFF"/>
                    </a:solidFill>
                  </a:tcPr>
                </a:tc>
                <a:tc>
                  <a:txBody>
                    <a:bodyPr wrap="square" lIns="73152" rIns="73152" tIns="27432" bIns="27432" anchor="ctr">
                      <a:noAutofit/>
                    </a:bodyPr>
                    <a:lstStyle/>
                    <a:p>
                      <a:pPr algn="l"/>
                      <a:r>
                        <a:rPr sz="950" b="0" i="0">
                          <a:solidFill>
                            <a:srgbClr val="202124"/>
                          </a:solidFill>
                          <a:latin typeface="Google Sans Flex"/>
                        </a:rPr>
                        <a:t>50 labelled products: title, variant, price, stock</a:t>
                      </a:r>
                    </a:p>
                  </a:txBody>
                  <a:tcPr anchor="ctr">
                    <a:solidFill>
                      <a:srgbClr val="FFFFFF"/>
                    </a:solidFill>
                  </a:tcPr>
                </a:tc>
                <a:tc>
                  <a:txBody>
                    <a:bodyPr wrap="square" lIns="73152" rIns="73152" tIns="27432" bIns="27432" anchor="ctr">
                      <a:noAutofit/>
                    </a:bodyPr>
                    <a:lstStyle/>
                    <a:p>
                      <a:pPr algn="l"/>
                      <a:r>
                        <a:rPr sz="950" b="0" i="0">
                          <a:solidFill>
                            <a:srgbClr val="202124"/>
                          </a:solidFill>
                          <a:latin typeface="Google Sans Flex"/>
                        </a:rPr>
                        <a:t>≥ 90% of fields correct</a:t>
                      </a:r>
                    </a:p>
                  </a:txBody>
                  <a:tcPr anchor="ctr">
                    <a:solidFill>
                      <a:srgbClr val="FFFFFF"/>
                    </a:solidFill>
                  </a:tcPr>
                </a:tc>
                <a:tc>
                  <a:txBody>
                    <a:bodyPr wrap="square" lIns="73152" rIns="73152" tIns="27432" bIns="27432" anchor="ctr">
                      <a:noAutofit/>
                    </a:bodyPr>
                    <a:lstStyle/>
                    <a:p>
                      <a:pPr algn="l"/>
                      <a:r>
                        <a:rPr sz="950" b="0" i="0">
                          <a:solidFill>
                            <a:srgbClr val="5F6368"/>
                          </a:solidFill>
                          <a:latin typeface="Google Sans Flex"/>
                        </a:rPr>
                        <a:t>TBD</a:t>
                      </a:r>
                    </a:p>
                  </a:txBody>
                  <a:tcPr anchor="ctr">
                    <a:solidFill>
                      <a:srgbClr val="FFFFFF"/>
                    </a:solidFill>
                  </a:tcPr>
                </a:tc>
              </a:tr>
              <a:tr h="384048">
                <a:tc>
                  <a:txBody>
                    <a:bodyPr wrap="square" lIns="73152" rIns="73152" tIns="27432" bIns="27432" anchor="ctr">
                      <a:noAutofit/>
                    </a:bodyPr>
                    <a:lstStyle/>
                    <a:p>
                      <a:pPr algn="l"/>
                      <a:r>
                        <a:rPr sz="950" b="1" i="0">
                          <a:solidFill>
                            <a:srgbClr val="202124"/>
                          </a:solidFill>
                          <a:latin typeface="Google Sans Flex"/>
                        </a:rPr>
                        <a:t>Catalog build time</a:t>
                      </a:r>
                    </a:p>
                  </a:txBody>
                  <a:tcPr anchor="ctr">
                    <a:solidFill>
                      <a:srgbClr val="F8F9FA"/>
                    </a:solidFill>
                  </a:tcPr>
                </a:tc>
                <a:tc>
                  <a:txBody>
                    <a:bodyPr wrap="square" lIns="73152" rIns="73152" tIns="27432" bIns="27432" anchor="ctr">
                      <a:noAutofit/>
                    </a:bodyPr>
                    <a:lstStyle/>
                    <a:p>
                      <a:pPr algn="l"/>
                      <a:r>
                        <a:rPr sz="950" b="0" i="0">
                          <a:solidFill>
                            <a:srgbClr val="202124"/>
                          </a:solidFill>
                          <a:latin typeface="Google Sans Flex"/>
                        </a:rPr>
                        <a:t>Photos + voice note to published product</a:t>
                      </a:r>
                    </a:p>
                  </a:txBody>
                  <a:tcPr anchor="ctr">
                    <a:solidFill>
                      <a:srgbClr val="F8F9FA"/>
                    </a:solidFill>
                  </a:tcPr>
                </a:tc>
                <a:tc>
                  <a:txBody>
                    <a:bodyPr wrap="square" lIns="73152" rIns="73152" tIns="27432" bIns="27432" anchor="ctr">
                      <a:noAutofit/>
                    </a:bodyPr>
                    <a:lstStyle/>
                    <a:p>
                      <a:pPr algn="l"/>
                      <a:r>
                        <a:rPr sz="950" b="0" i="0">
                          <a:solidFill>
                            <a:srgbClr val="202124"/>
                          </a:solidFill>
                          <a:latin typeface="Google Sans Flex"/>
                        </a:rPr>
                        <a:t>&lt; 15 s per product</a:t>
                      </a:r>
                    </a:p>
                  </a:txBody>
                  <a:tcPr anchor="ctr">
                    <a:solidFill>
                      <a:srgbClr val="F8F9FA"/>
                    </a:solidFill>
                  </a:tcPr>
                </a:tc>
                <a:tc>
                  <a:txBody>
                    <a:bodyPr wrap="square" lIns="73152" rIns="73152" tIns="27432" bIns="27432" anchor="ctr">
                      <a:noAutofit/>
                    </a:bodyPr>
                    <a:lstStyle/>
                    <a:p>
                      <a:pPr algn="l"/>
                      <a:r>
                        <a:rPr sz="950" b="0" i="0">
                          <a:solidFill>
                            <a:srgbClr val="5F6368"/>
                          </a:solidFill>
                          <a:latin typeface="Google Sans Flex"/>
                        </a:rPr>
                        <a:t>TBD</a:t>
                      </a:r>
                    </a:p>
                  </a:txBody>
                  <a:tcPr anchor="ctr">
                    <a:solidFill>
                      <a:srgbClr val="F8F9FA"/>
                    </a:solidFill>
                  </a:tcPr>
                </a:tc>
              </a:tr>
              <a:tr h="384048">
                <a:tc>
                  <a:txBody>
                    <a:bodyPr wrap="square" lIns="73152" rIns="73152" tIns="27432" bIns="27432" anchor="ctr">
                      <a:noAutofit/>
                    </a:bodyPr>
                    <a:lstStyle/>
                    <a:p>
                      <a:pPr algn="l"/>
                      <a:r>
                        <a:rPr sz="950" b="1" i="0">
                          <a:solidFill>
                            <a:srgbClr val="202124"/>
                          </a:solidFill>
                          <a:latin typeface="Google Sans Flex"/>
                        </a:rPr>
                        <a:t>Agent tool latency</a:t>
                      </a:r>
                    </a:p>
                  </a:txBody>
                  <a:tcPr anchor="ctr">
                    <a:solidFill>
                      <a:srgbClr val="FFFFFF"/>
                    </a:solidFill>
                  </a:tcPr>
                </a:tc>
                <a:tc>
                  <a:txBody>
                    <a:bodyPr wrap="square" lIns="73152" rIns="73152" tIns="27432" bIns="27432" anchor="ctr">
                      <a:noAutofit/>
                    </a:bodyPr>
                    <a:lstStyle/>
                    <a:p>
                      <a:pPr algn="l"/>
                      <a:r>
                        <a:rPr sz="950" b="0" i="0">
                          <a:solidFill>
                            <a:srgbClr val="202124"/>
                          </a:solidFill>
                          <a:latin typeface="Google Sans Flex"/>
                        </a:rPr>
                        <a:t>p95 of search_products and create_checkout</a:t>
                      </a:r>
                    </a:p>
                  </a:txBody>
                  <a:tcPr anchor="ctr">
                    <a:solidFill>
                      <a:srgbClr val="FFFFFF"/>
                    </a:solidFill>
                  </a:tcPr>
                </a:tc>
                <a:tc>
                  <a:txBody>
                    <a:bodyPr wrap="square" lIns="73152" rIns="73152" tIns="27432" bIns="27432" anchor="ctr">
                      <a:noAutofit/>
                    </a:bodyPr>
                    <a:lstStyle/>
                    <a:p>
                      <a:pPr algn="l"/>
                      <a:r>
                        <a:rPr sz="950" b="0" i="0">
                          <a:solidFill>
                            <a:srgbClr val="202124"/>
                          </a:solidFill>
                          <a:latin typeface="Google Sans Flex"/>
                        </a:rPr>
                        <a:t>&lt; 2 s</a:t>
                      </a:r>
                    </a:p>
                  </a:txBody>
                  <a:tcPr anchor="ctr">
                    <a:solidFill>
                      <a:srgbClr val="FFFFFF"/>
                    </a:solidFill>
                  </a:tcPr>
                </a:tc>
                <a:tc>
                  <a:txBody>
                    <a:bodyPr wrap="square" lIns="73152" rIns="73152" tIns="27432" bIns="27432" anchor="ctr">
                      <a:noAutofit/>
                    </a:bodyPr>
                    <a:lstStyle/>
                    <a:p>
                      <a:pPr algn="l"/>
                      <a:r>
                        <a:rPr sz="950" b="0" i="0">
                          <a:solidFill>
                            <a:srgbClr val="5F6368"/>
                          </a:solidFill>
                          <a:latin typeface="Google Sans Flex"/>
                        </a:rPr>
                        <a:t>TBD</a:t>
                      </a:r>
                    </a:p>
                  </a:txBody>
                  <a:tcPr anchor="ctr">
                    <a:solidFill>
                      <a:srgbClr val="FFFFFF"/>
                    </a:solidFill>
                  </a:tcPr>
                </a:tc>
              </a:tr>
              <a:tr h="384048">
                <a:tc>
                  <a:txBody>
                    <a:bodyPr wrap="square" lIns="73152" rIns="73152" tIns="27432" bIns="27432" anchor="ctr">
                      <a:noAutofit/>
                    </a:bodyPr>
                    <a:lstStyle/>
                    <a:p>
                      <a:pPr algn="l"/>
                      <a:r>
                        <a:rPr sz="950" b="1" i="0">
                          <a:solidFill>
                            <a:srgbClr val="202124"/>
                          </a:solidFill>
                          <a:latin typeface="Google Sans Flex"/>
                        </a:rPr>
                        <a:t>Overselling under load</a:t>
                      </a:r>
                    </a:p>
                  </a:txBody>
                  <a:tcPr anchor="ctr">
                    <a:solidFill>
                      <a:srgbClr val="F8F9FA"/>
                    </a:solidFill>
                  </a:tcPr>
                </a:tc>
                <a:tc>
                  <a:txBody>
                    <a:bodyPr wrap="square" lIns="73152" rIns="73152" tIns="27432" bIns="27432" anchor="ctr">
                      <a:noAutofit/>
                    </a:bodyPr>
                    <a:lstStyle/>
                    <a:p>
                      <a:pPr algn="l"/>
                      <a:r>
                        <a:rPr sz="950" b="0" i="0">
                          <a:solidFill>
                            <a:srgbClr val="202124"/>
                          </a:solidFill>
                          <a:latin typeface="Google Sans Flex"/>
                        </a:rPr>
                        <a:t>100 concurrent reservations for the last unit</a:t>
                      </a:r>
                    </a:p>
                  </a:txBody>
                  <a:tcPr anchor="ctr">
                    <a:solidFill>
                      <a:srgbClr val="F8F9FA"/>
                    </a:solidFill>
                  </a:tcPr>
                </a:tc>
                <a:tc>
                  <a:txBody>
                    <a:bodyPr wrap="square" lIns="73152" rIns="73152" tIns="27432" bIns="27432" anchor="ctr">
                      <a:noAutofit/>
                    </a:bodyPr>
                    <a:lstStyle/>
                    <a:p>
                      <a:pPr algn="l"/>
                      <a:r>
                        <a:rPr sz="950" b="0" i="0">
                          <a:solidFill>
                            <a:srgbClr val="202124"/>
                          </a:solidFill>
                          <a:latin typeface="Google Sans Flex"/>
                        </a:rPr>
                        <a:t>0 units oversold</a:t>
                      </a:r>
                    </a:p>
                  </a:txBody>
                  <a:tcPr anchor="ctr">
                    <a:solidFill>
                      <a:srgbClr val="F8F9FA"/>
                    </a:solidFill>
                  </a:tcPr>
                </a:tc>
                <a:tc>
                  <a:txBody>
                    <a:bodyPr wrap="square" lIns="73152" rIns="73152" tIns="27432" bIns="27432" anchor="ctr">
                      <a:noAutofit/>
                    </a:bodyPr>
                    <a:lstStyle/>
                    <a:p>
                      <a:pPr algn="l"/>
                      <a:r>
                        <a:rPr sz="950" b="0" i="0">
                          <a:solidFill>
                            <a:srgbClr val="188038"/>
                          </a:solidFill>
                          <a:latin typeface="Google Sans Flex"/>
                        </a:rPr>
                        <a:t>Pass (in-memory)</a:t>
                      </a:r>
                    </a:p>
                  </a:txBody>
                  <a:tcPr anchor="ctr">
                    <a:solidFill>
                      <a:srgbClr val="F8F9FA"/>
                    </a:solidFill>
                  </a:tcPr>
                </a:tc>
              </a:tr>
              <a:tr h="384048">
                <a:tc>
                  <a:txBody>
                    <a:bodyPr wrap="square" lIns="73152" rIns="73152" tIns="27432" bIns="27432" anchor="ctr">
                      <a:noAutofit/>
                    </a:bodyPr>
                    <a:lstStyle/>
                    <a:p>
                      <a:pPr algn="l"/>
                      <a:r>
                        <a:rPr sz="950" b="1" i="0">
                          <a:solidFill>
                            <a:srgbClr val="202124"/>
                          </a:solidFill>
                          <a:latin typeface="Google Sans Flex"/>
                        </a:rPr>
                        <a:t>Seller alert speed</a:t>
                      </a:r>
                    </a:p>
                  </a:txBody>
                  <a:tcPr anchor="ctr">
                    <a:solidFill>
                      <a:srgbClr val="FFFFFF"/>
                    </a:solidFill>
                  </a:tcPr>
                </a:tc>
                <a:tc>
                  <a:txBody>
                    <a:bodyPr wrap="square" lIns="73152" rIns="73152" tIns="27432" bIns="27432" anchor="ctr">
                      <a:noAutofit/>
                    </a:bodyPr>
                    <a:lstStyle/>
                    <a:p>
                      <a:pPr algn="l"/>
                      <a:r>
                        <a:rPr sz="950" b="0" i="0">
                          <a:solidFill>
                            <a:srgbClr val="202124"/>
                          </a:solidFill>
                          <a:latin typeface="Google Sans Flex"/>
                        </a:rPr>
                        <a:t>Payment webhook to WhatsApp message</a:t>
                      </a:r>
                    </a:p>
                  </a:txBody>
                  <a:tcPr anchor="ctr">
                    <a:solidFill>
                      <a:srgbClr val="FFFFFF"/>
                    </a:solidFill>
                  </a:tcPr>
                </a:tc>
                <a:tc>
                  <a:txBody>
                    <a:bodyPr wrap="square" lIns="73152" rIns="73152" tIns="27432" bIns="27432" anchor="ctr">
                      <a:noAutofit/>
                    </a:bodyPr>
                    <a:lstStyle/>
                    <a:p>
                      <a:pPr algn="l"/>
                      <a:r>
                        <a:rPr sz="950" b="0" i="0">
                          <a:solidFill>
                            <a:srgbClr val="202124"/>
                          </a:solidFill>
                          <a:latin typeface="Google Sans Flex"/>
                        </a:rPr>
                        <a:t>&lt; 5 s</a:t>
                      </a:r>
                    </a:p>
                  </a:txBody>
                  <a:tcPr anchor="ctr">
                    <a:solidFill>
                      <a:srgbClr val="FFFFFF"/>
                    </a:solidFill>
                  </a:tcPr>
                </a:tc>
                <a:tc>
                  <a:txBody>
                    <a:bodyPr wrap="square" lIns="73152" rIns="73152" tIns="27432" bIns="27432" anchor="ctr">
                      <a:noAutofit/>
                    </a:bodyPr>
                    <a:lstStyle/>
                    <a:p>
                      <a:pPr algn="l"/>
                      <a:r>
                        <a:rPr sz="950" b="0" i="0">
                          <a:solidFill>
                            <a:srgbClr val="5F6368"/>
                          </a:solidFill>
                          <a:latin typeface="Google Sans Flex"/>
                        </a:rPr>
                        <a:t>TBD</a:t>
                      </a:r>
                    </a:p>
                  </a:txBody>
                  <a:tcPr anchor="ctr">
                    <a:solidFill>
                      <a:srgbClr val="FFFFFF"/>
                    </a:solidFill>
                  </a:tcPr>
                </a:tc>
              </a:tr>
              <a:tr h="384048">
                <a:tc>
                  <a:txBody>
                    <a:bodyPr wrap="square" lIns="73152" rIns="73152" tIns="27432" bIns="27432" anchor="ctr">
                      <a:noAutofit/>
                    </a:bodyPr>
                    <a:lstStyle/>
                    <a:p>
                      <a:pPr algn="l"/>
                      <a:r>
                        <a:rPr sz="950" b="1" i="0">
                          <a:solidFill>
                            <a:srgbClr val="202124"/>
                          </a:solidFill>
                          <a:latin typeface="Google Sans Flex"/>
                        </a:rPr>
                        <a:t>Duplicate &amp; late payments</a:t>
                      </a:r>
                    </a:p>
                  </a:txBody>
                  <a:tcPr anchor="ctr">
                    <a:solidFill>
                      <a:srgbClr val="F8F9FA"/>
                    </a:solidFill>
                  </a:tcPr>
                </a:tc>
                <a:tc>
                  <a:txBody>
                    <a:bodyPr wrap="square" lIns="73152" rIns="73152" tIns="27432" bIns="27432" anchor="ctr">
                      <a:noAutofit/>
                    </a:bodyPr>
                    <a:lstStyle/>
                    <a:p>
                      <a:pPr algn="l"/>
                      <a:r>
                        <a:rPr sz="950" b="0" i="0">
                          <a:solidFill>
                            <a:srgbClr val="202124"/>
                          </a:solidFill>
                          <a:latin typeface="Google Sans Flex"/>
                        </a:rPr>
                        <a:t>Same event twice; payment after expiry</a:t>
                      </a:r>
                    </a:p>
                  </a:txBody>
                  <a:tcPr anchor="ctr">
                    <a:solidFill>
                      <a:srgbClr val="F8F9FA"/>
                    </a:solidFill>
                  </a:tcPr>
                </a:tc>
                <a:tc>
                  <a:txBody>
                    <a:bodyPr wrap="square" lIns="73152" rIns="73152" tIns="27432" bIns="27432" anchor="ctr">
                      <a:noAutofit/>
                    </a:bodyPr>
                    <a:lstStyle/>
                    <a:p>
                      <a:pPr algn="l"/>
                      <a:r>
                        <a:rPr sz="950" b="0" i="0">
                          <a:solidFill>
                            <a:srgbClr val="202124"/>
                          </a:solidFill>
                          <a:latin typeface="Google Sans Flex"/>
                        </a:rPr>
                        <a:t>No double change; auto refund</a:t>
                      </a:r>
                    </a:p>
                  </a:txBody>
                  <a:tcPr anchor="ctr">
                    <a:solidFill>
                      <a:srgbClr val="F8F9FA"/>
                    </a:solidFill>
                  </a:tcPr>
                </a:tc>
                <a:tc>
                  <a:txBody>
                    <a:bodyPr wrap="square" lIns="73152" rIns="73152" tIns="27432" bIns="27432" anchor="ctr">
                      <a:noAutofit/>
                    </a:bodyPr>
                    <a:lstStyle/>
                    <a:p>
                      <a:pPr algn="l"/>
                      <a:r>
                        <a:rPr sz="950" b="0" i="0">
                          <a:solidFill>
                            <a:srgbClr val="188038"/>
                          </a:solidFill>
                          <a:latin typeface="Google Sans Flex"/>
                        </a:rPr>
                        <a:t>Pass</a:t>
                      </a:r>
                    </a:p>
                  </a:txBody>
                  <a:tcPr anchor="ctr">
                    <a:solidFill>
                      <a:srgbClr val="F8F9FA"/>
                    </a:solidFill>
                  </a:tcPr>
                </a:tc>
              </a:tr>
              <a:tr h="384048">
                <a:tc>
                  <a:txBody>
                    <a:bodyPr wrap="square" lIns="73152" rIns="73152" tIns="27432" bIns="27432" anchor="ctr">
                      <a:noAutofit/>
                    </a:bodyPr>
                    <a:lstStyle/>
                    <a:p>
                      <a:pPr algn="l"/>
                      <a:r>
                        <a:rPr sz="950" b="1" i="0">
                          <a:solidFill>
                            <a:srgbClr val="202124"/>
                          </a:solidFill>
                          <a:latin typeface="Google Sans Flex"/>
                        </a:rPr>
                        <a:t>Stock-update understanding</a:t>
                      </a:r>
                    </a:p>
                  </a:txBody>
                  <a:tcPr anchor="ctr">
                    <a:solidFill>
                      <a:srgbClr val="FFFFFF"/>
                    </a:solidFill>
                  </a:tcPr>
                </a:tc>
                <a:tc>
                  <a:txBody>
                    <a:bodyPr wrap="square" lIns="73152" rIns="73152" tIns="27432" bIns="27432" anchor="ctr">
                      <a:noAutofit/>
                    </a:bodyPr>
                    <a:lstStyle/>
                    <a:p>
                      <a:pPr algn="l"/>
                      <a:r>
                        <a:rPr sz="950" b="0" i="0">
                          <a:solidFill>
                            <a:srgbClr val="202124"/>
                          </a:solidFill>
                          <a:latin typeface="Google Sans Flex"/>
                        </a:rPr>
                        <a:t>Intent accuracy on 100 real seller messages</a:t>
                      </a:r>
                    </a:p>
                  </a:txBody>
                  <a:tcPr anchor="ctr">
                    <a:solidFill>
                      <a:srgbClr val="FFFFFF"/>
                    </a:solidFill>
                  </a:tcPr>
                </a:tc>
                <a:tc>
                  <a:txBody>
                    <a:bodyPr wrap="square" lIns="73152" rIns="73152" tIns="27432" bIns="27432" anchor="ctr">
                      <a:noAutofit/>
                    </a:bodyPr>
                    <a:lstStyle/>
                    <a:p>
                      <a:pPr algn="l"/>
                      <a:r>
                        <a:rPr sz="950" b="0" i="0">
                          <a:solidFill>
                            <a:srgbClr val="202124"/>
                          </a:solidFill>
                          <a:latin typeface="Google Sans Flex"/>
                        </a:rPr>
                        <a:t>≥ 95%</a:t>
                      </a:r>
                    </a:p>
                  </a:txBody>
                  <a:tcPr anchor="ctr">
                    <a:solidFill>
                      <a:srgbClr val="FFFFFF"/>
                    </a:solidFill>
                  </a:tcPr>
                </a:tc>
                <a:tc>
                  <a:txBody>
                    <a:bodyPr wrap="square" lIns="73152" rIns="73152" tIns="27432" bIns="27432" anchor="ctr">
                      <a:noAutofit/>
                    </a:bodyPr>
                    <a:lstStyle/>
                    <a:p>
                      <a:pPr algn="l"/>
                      <a:r>
                        <a:rPr sz="950" b="0" i="0">
                          <a:solidFill>
                            <a:srgbClr val="5F6368"/>
                          </a:solidFill>
                          <a:latin typeface="Google Sans Flex"/>
                        </a:rPr>
                        <a:t>TBD</a:t>
                      </a:r>
                    </a:p>
                  </a:txBody>
                  <a:tcPr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cxnSp>
        <p:nvCxnSpPr>
          <p:cNvPr id="152" name="Connector 151"/>
          <p:cNvCxnSpPr/>
          <p:nvPr/>
        </p:nvCxnSpPr>
        <p:spPr>
          <a:xfrm>
            <a:off x="1348740" y="1344168"/>
            <a:ext cx="6446519" cy="0"/>
          </a:xfrm>
          <a:prstGeom prst="line">
            <a:avLst/>
          </a:prstGeom>
          <a:ln w="25400">
            <a:solidFill>
              <a:srgbClr val="DADCE0"/>
            </a:solidFill>
          </a:ln>
        </p:spPr>
        <p:style>
          <a:lnRef idx="2">
            <a:schemeClr val="accent1"/>
          </a:lnRef>
          <a:fillRef idx="0">
            <a:schemeClr val="accent1"/>
          </a:fillRef>
          <a:effectRef idx="1">
            <a:schemeClr val="accent1"/>
          </a:effectRef>
          <a:fontRef idx="minor">
            <a:schemeClr val="tx1"/>
          </a:fontRef>
        </p:style>
      </p:cxnSp>
      <p:sp>
        <p:nvSpPr>
          <p:cNvPr id="153" name="Phase dot 1"/>
          <p:cNvSpPr/>
          <p:nvPr/>
        </p:nvSpPr>
        <p:spPr>
          <a:xfrm>
            <a:off x="1165860" y="1161288"/>
            <a:ext cx="365760" cy="36576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Google Sans Flex"/>
              </a:rPr>
              <a:t>1</a:t>
            </a:r>
          </a:p>
        </p:txBody>
      </p:sp>
      <p:sp>
        <p:nvSpPr>
          <p:cNvPr id="154" name="Phase card 1"/>
          <p:cNvSpPr/>
          <p:nvPr/>
        </p:nvSpPr>
        <p:spPr>
          <a:xfrm>
            <a:off x="356616" y="1691640"/>
            <a:ext cx="1984248" cy="2103120"/>
          </a:xfrm>
          <a:prstGeom prst="roundRect">
            <a:avLst>
              <a:gd name="adj" fmla="val 3686"/>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84632" y="1801368"/>
            <a:ext cx="1746504" cy="1938528"/>
          </a:xfrm>
          <a:prstGeom prst="rect">
            <a:avLst/>
          </a:prstGeom>
          <a:noFill/>
        </p:spPr>
        <p:txBody>
          <a:bodyPr wrap="square" lIns="18288" rIns="18288" tIns="18288" bIns="18288" anchor="t">
            <a:noAutofit/>
          </a:bodyPr>
          <a:lstStyle/>
          <a:p>
            <a:pPr algn="l">
              <a:spcAft>
                <a:spcPts val="400"/>
              </a:spcAft>
            </a:pPr>
            <a:r>
              <a:rPr sz="1100" b="1" i="0">
                <a:solidFill>
                  <a:srgbClr val="1A73E8"/>
                </a:solidFill>
                <a:latin typeface="Google Sans Flex"/>
              </a:rPr>
              <a:t>Hackathon MVP</a:t>
            </a:r>
          </a:p>
          <a:p>
            <a:pPr algn="l" marL="128016" indent="-128016">
              <a:spcAft>
                <a:spcPts val="500"/>
              </a:spcAft>
              <a:buClr>
                <a:srgbClr val="1A73E8"/>
              </a:buClr>
              <a:buFont typeface="Arial"/>
              <a:buChar char="•"/>
            </a:pPr>
            <a:r>
              <a:rPr sz="1000" b="0" i="0">
                <a:solidFill>
                  <a:srgbClr val="202124"/>
                </a:solidFill>
                <a:latin typeface="Google Sans Flex"/>
              </a:rPr>
              <a:t>WhatsApp, Instagram and CSV inputs</a:t>
            </a:r>
          </a:p>
          <a:p>
            <a:pPr algn="l" marL="128016" indent="-128016">
              <a:spcAft>
                <a:spcPts val="500"/>
              </a:spcAft>
              <a:buClr>
                <a:srgbClr val="1A73E8"/>
              </a:buClr>
              <a:buFont typeface="Arial"/>
              <a:buChar char="•"/>
            </a:pPr>
            <a:r>
              <a:rPr sz="1000" b="0" i="0">
                <a:solidFill>
                  <a:srgbClr val="202124"/>
                </a:solidFill>
                <a:latin typeface="Google Sans Flex"/>
              </a:rPr>
              <a:t>MCP gateway, UCP checkout API</a:t>
            </a:r>
          </a:p>
          <a:p>
            <a:pPr algn="l" marL="128016" indent="-128016">
              <a:spcAft>
                <a:spcPts val="500"/>
              </a:spcAft>
              <a:buClr>
                <a:srgbClr val="1A73E8"/>
              </a:buClr>
              <a:buFont typeface="Arial"/>
              <a:buChar char="•"/>
            </a:pPr>
            <a:r>
              <a:rPr sz="1000" b="0" i="0">
                <a:solidFill>
                  <a:srgbClr val="202124"/>
                </a:solidFill>
                <a:latin typeface="Google Sans Flex"/>
              </a:rPr>
              <a:t>Demo buyer agent on Gemini (ADK)</a:t>
            </a:r>
          </a:p>
          <a:p>
            <a:pPr algn="l" marL="128016" indent="-128016">
              <a:spcAft>
                <a:spcPts val="500"/>
              </a:spcAft>
              <a:buClr>
                <a:srgbClr val="1A73E8"/>
              </a:buClr>
              <a:buFont typeface="Arial"/>
              <a:buChar char="•"/>
            </a:pPr>
            <a:r>
              <a:rPr sz="1000" b="0" i="0">
                <a:solidFill>
                  <a:srgbClr val="202124"/>
                </a:solidFill>
                <a:latin typeface="Google Sans Flex"/>
              </a:rPr>
              <a:t>Mock QRIS and courier; Xendit, Biteship wired</a:t>
            </a:r>
          </a:p>
        </p:txBody>
      </p:sp>
      <p:sp>
        <p:nvSpPr>
          <p:cNvPr id="156" name="Phase dot 2"/>
          <p:cNvSpPr/>
          <p:nvPr/>
        </p:nvSpPr>
        <p:spPr>
          <a:xfrm>
            <a:off x="3314700" y="1161288"/>
            <a:ext cx="365760" cy="36576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Google Sans Flex"/>
              </a:rPr>
              <a:t>2</a:t>
            </a:r>
          </a:p>
        </p:txBody>
      </p:sp>
      <p:sp>
        <p:nvSpPr>
          <p:cNvPr id="157" name="Phase card 2"/>
          <p:cNvSpPr/>
          <p:nvPr/>
        </p:nvSpPr>
        <p:spPr>
          <a:xfrm>
            <a:off x="2505456" y="1691640"/>
            <a:ext cx="1984248" cy="2103120"/>
          </a:xfrm>
          <a:prstGeom prst="roundRect">
            <a:avLst>
              <a:gd name="adj" fmla="val 3686"/>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2633472" y="1801368"/>
            <a:ext cx="1746504" cy="1938528"/>
          </a:xfrm>
          <a:prstGeom prst="rect">
            <a:avLst/>
          </a:prstGeom>
          <a:noFill/>
        </p:spPr>
        <p:txBody>
          <a:bodyPr wrap="square" lIns="18288" rIns="18288" tIns="18288" bIns="18288" anchor="t">
            <a:noAutofit/>
          </a:bodyPr>
          <a:lstStyle/>
          <a:p>
            <a:pPr algn="l">
              <a:spcAft>
                <a:spcPts val="400"/>
              </a:spcAft>
            </a:pPr>
            <a:r>
              <a:rPr sz="1100" b="1" i="0">
                <a:solidFill>
                  <a:srgbClr val="188038"/>
                </a:solidFill>
                <a:latin typeface="Google Sans Flex"/>
              </a:rPr>
              <a:t>Indonesia pilot</a:t>
            </a:r>
          </a:p>
          <a:p>
            <a:pPr algn="l" marL="128016" indent="-128016">
              <a:spcAft>
                <a:spcPts val="500"/>
              </a:spcAft>
              <a:buClr>
                <a:srgbClr val="188038"/>
              </a:buClr>
              <a:buFont typeface="Arial"/>
              <a:buChar char="•"/>
            </a:pPr>
            <a:r>
              <a:rPr sz="1000" b="0" i="0">
                <a:solidFill>
                  <a:srgbClr val="202124"/>
                </a:solidFill>
                <a:latin typeface="Google Sans Flex"/>
              </a:rPr>
              <a:t>50–100 sellers onboarded</a:t>
            </a:r>
          </a:p>
          <a:p>
            <a:pPr algn="l" marL="128016" indent="-128016">
              <a:spcAft>
                <a:spcPts val="500"/>
              </a:spcAft>
              <a:buClr>
                <a:srgbClr val="188038"/>
              </a:buClr>
              <a:buFont typeface="Arial"/>
              <a:buChar char="•"/>
            </a:pPr>
            <a:r>
              <a:rPr sz="1000" b="0" i="0">
                <a:solidFill>
                  <a:srgbClr val="202124"/>
                </a:solidFill>
                <a:latin typeface="Google Sans Flex"/>
              </a:rPr>
              <a:t>Firestore, Pub/Sub, Cloud Tasks</a:t>
            </a:r>
          </a:p>
          <a:p>
            <a:pPr algn="l" marL="128016" indent="-128016">
              <a:spcAft>
                <a:spcPts val="500"/>
              </a:spcAft>
              <a:buClr>
                <a:srgbClr val="188038"/>
              </a:buClr>
              <a:buFont typeface="Arial"/>
              <a:buChar char="•"/>
            </a:pPr>
            <a:r>
              <a:rPr sz="1000" b="0" i="0">
                <a:solidFill>
                  <a:srgbClr val="202124"/>
                </a:solidFill>
                <a:latin typeface="Google Sans Flex"/>
              </a:rPr>
              <a:t>KYC and payouts via sub-accounts</a:t>
            </a:r>
          </a:p>
          <a:p>
            <a:pPr algn="l" marL="128016" indent="-128016">
              <a:spcAft>
                <a:spcPts val="500"/>
              </a:spcAft>
              <a:buClr>
                <a:srgbClr val="188038"/>
              </a:buClr>
              <a:buFont typeface="Arial"/>
              <a:buChar char="•"/>
            </a:pPr>
            <a:r>
              <a:rPr sz="1000" b="0" i="0">
                <a:solidFill>
                  <a:srgbClr val="202124"/>
                </a:solidFill>
                <a:latin typeface="Google Sans Flex"/>
              </a:rPr>
              <a:t>Sheets sync, Merchant Center feed</a:t>
            </a:r>
          </a:p>
        </p:txBody>
      </p:sp>
      <p:sp>
        <p:nvSpPr>
          <p:cNvPr id="159" name="Phase dot 3"/>
          <p:cNvSpPr/>
          <p:nvPr/>
        </p:nvSpPr>
        <p:spPr>
          <a:xfrm>
            <a:off x="5463540" y="1161288"/>
            <a:ext cx="365760" cy="365760"/>
          </a:xfrm>
          <a:prstGeom prst="ellipse">
            <a:avLst/>
          </a:prstGeom>
          <a:solidFill>
            <a:srgbClr val="B06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Google Sans Flex"/>
              </a:rPr>
              <a:t>3</a:t>
            </a:r>
          </a:p>
        </p:txBody>
      </p:sp>
      <p:sp>
        <p:nvSpPr>
          <p:cNvPr id="160" name="Phase card 3"/>
          <p:cNvSpPr/>
          <p:nvPr/>
        </p:nvSpPr>
        <p:spPr>
          <a:xfrm>
            <a:off x="4654296" y="1691640"/>
            <a:ext cx="1984248" cy="2103120"/>
          </a:xfrm>
          <a:prstGeom prst="roundRect">
            <a:avLst>
              <a:gd name="adj" fmla="val 3686"/>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4782312" y="1801368"/>
            <a:ext cx="1746504" cy="1938528"/>
          </a:xfrm>
          <a:prstGeom prst="rect">
            <a:avLst/>
          </a:prstGeom>
          <a:noFill/>
        </p:spPr>
        <p:txBody>
          <a:bodyPr wrap="square" lIns="18288" rIns="18288" tIns="18288" bIns="18288" anchor="t">
            <a:noAutofit/>
          </a:bodyPr>
          <a:lstStyle/>
          <a:p>
            <a:pPr algn="l">
              <a:spcAft>
                <a:spcPts val="400"/>
              </a:spcAft>
            </a:pPr>
            <a:r>
              <a:rPr sz="1100" b="1" i="0">
                <a:solidFill>
                  <a:srgbClr val="B06000"/>
                </a:solidFill>
                <a:latin typeface="Google Sans Flex"/>
              </a:rPr>
              <a:t>More channels</a:t>
            </a:r>
          </a:p>
          <a:p>
            <a:pPr algn="l" marL="128016" indent="-128016">
              <a:spcAft>
                <a:spcPts val="500"/>
              </a:spcAft>
              <a:buClr>
                <a:srgbClr val="B06000"/>
              </a:buClr>
              <a:buFont typeface="Arial"/>
              <a:buChar char="•"/>
            </a:pPr>
            <a:r>
              <a:rPr sz="1000" b="0" i="0">
                <a:solidFill>
                  <a:srgbClr val="202124"/>
                </a:solidFill>
                <a:latin typeface="Google Sans Flex"/>
              </a:rPr>
              <a:t>OMS adapters: Jubelio, Ginee</a:t>
            </a:r>
          </a:p>
          <a:p>
            <a:pPr algn="l" marL="128016" indent="-128016">
              <a:spcAft>
                <a:spcPts val="500"/>
              </a:spcAft>
              <a:buClr>
                <a:srgbClr val="B06000"/>
              </a:buClr>
              <a:buFont typeface="Arial"/>
              <a:buChar char="•"/>
            </a:pPr>
            <a:r>
              <a:rPr sz="1000" b="0" i="0">
                <a:solidFill>
                  <a:srgbClr val="202124"/>
                </a:solidFill>
                <a:latin typeface="Google Sans Flex"/>
              </a:rPr>
              <a:t>E-commerce plugins, WooCommerce first</a:t>
            </a:r>
          </a:p>
          <a:p>
            <a:pPr algn="l" marL="128016" indent="-128016">
              <a:spcAft>
                <a:spcPts val="500"/>
              </a:spcAft>
              <a:buClr>
                <a:srgbClr val="B06000"/>
              </a:buClr>
              <a:buFont typeface="Arial"/>
              <a:buChar char="•"/>
            </a:pPr>
            <a:r>
              <a:rPr sz="1000" b="0" i="0">
                <a:solidFill>
                  <a:srgbClr val="202124"/>
                </a:solidFill>
                <a:latin typeface="Google Sans Flex"/>
              </a:rPr>
              <a:t>Shopee and TikTok Shop API sync</a:t>
            </a:r>
          </a:p>
          <a:p>
            <a:pPr algn="l" marL="128016" indent="-128016">
              <a:spcAft>
                <a:spcPts val="500"/>
              </a:spcAft>
              <a:buClr>
                <a:srgbClr val="B06000"/>
              </a:buClr>
              <a:buFont typeface="Arial"/>
              <a:buChar char="•"/>
            </a:pPr>
            <a:r>
              <a:rPr sz="1000" b="0" i="0">
                <a:solidFill>
                  <a:srgbClr val="202124"/>
                </a:solidFill>
                <a:latin typeface="Google Sans Flex"/>
              </a:rPr>
              <a:t>Sales analytics for sellers</a:t>
            </a:r>
          </a:p>
        </p:txBody>
      </p:sp>
      <p:sp>
        <p:nvSpPr>
          <p:cNvPr id="162" name="Phase dot 4"/>
          <p:cNvSpPr/>
          <p:nvPr/>
        </p:nvSpPr>
        <p:spPr>
          <a:xfrm>
            <a:off x="7612380" y="1161288"/>
            <a:ext cx="365760" cy="36576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Google Sans Flex"/>
              </a:rPr>
              <a:t>4</a:t>
            </a:r>
          </a:p>
        </p:txBody>
      </p:sp>
      <p:sp>
        <p:nvSpPr>
          <p:cNvPr id="163" name="Phase card 4"/>
          <p:cNvSpPr/>
          <p:nvPr/>
        </p:nvSpPr>
        <p:spPr>
          <a:xfrm>
            <a:off x="6803136" y="1691640"/>
            <a:ext cx="1984248" cy="2103120"/>
          </a:xfrm>
          <a:prstGeom prst="roundRect">
            <a:avLst>
              <a:gd name="adj" fmla="val 3686"/>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931152" y="1801368"/>
            <a:ext cx="1746504" cy="1938528"/>
          </a:xfrm>
          <a:prstGeom prst="rect">
            <a:avLst/>
          </a:prstGeom>
          <a:noFill/>
        </p:spPr>
        <p:txBody>
          <a:bodyPr wrap="square" lIns="18288" rIns="18288" tIns="18288" bIns="18288" anchor="t">
            <a:noAutofit/>
          </a:bodyPr>
          <a:lstStyle/>
          <a:p>
            <a:pPr algn="l">
              <a:spcAft>
                <a:spcPts val="400"/>
              </a:spcAft>
            </a:pPr>
            <a:r>
              <a:rPr sz="1100" b="1" i="0">
                <a:solidFill>
                  <a:srgbClr val="D93025"/>
                </a:solidFill>
                <a:latin typeface="Google Sans Flex"/>
              </a:rPr>
              <a:t>Regional</a:t>
            </a:r>
          </a:p>
          <a:p>
            <a:pPr algn="l" marL="128016" indent="-128016">
              <a:spcAft>
                <a:spcPts val="500"/>
              </a:spcAft>
              <a:buClr>
                <a:srgbClr val="D93025"/>
              </a:buClr>
              <a:buFont typeface="Arial"/>
              <a:buChar char="•"/>
            </a:pPr>
            <a:r>
              <a:rPr sz="1000" b="0" i="0">
                <a:solidFill>
                  <a:srgbClr val="202124"/>
                </a:solidFill>
                <a:latin typeface="Google Sans Flex"/>
              </a:rPr>
              <a:t>Country packs: MY, PH, TH, VN</a:t>
            </a:r>
          </a:p>
          <a:p>
            <a:pPr algn="l" marL="128016" indent="-128016">
              <a:spcAft>
                <a:spcPts val="500"/>
              </a:spcAft>
              <a:buClr>
                <a:srgbClr val="D93025"/>
              </a:buClr>
              <a:buFont typeface="Arial"/>
              <a:buChar char="•"/>
            </a:pPr>
            <a:r>
              <a:rPr sz="1000" b="0" i="0">
                <a:solidFill>
                  <a:srgbClr val="202124"/>
                </a:solidFill>
                <a:latin typeface="Google Sans Flex"/>
              </a:rPr>
              <a:t>Chat adapters: LINE, Zalo, Messenger</a:t>
            </a:r>
          </a:p>
          <a:p>
            <a:pPr algn="l" marL="128016" indent="-128016">
              <a:spcAft>
                <a:spcPts val="500"/>
              </a:spcAft>
              <a:buClr>
                <a:srgbClr val="D93025"/>
              </a:buClr>
              <a:buFont typeface="Arial"/>
              <a:buChar char="•"/>
            </a:pPr>
            <a:r>
              <a:rPr sz="1000" b="0" i="0">
                <a:solidFill>
                  <a:srgbClr val="202124"/>
                </a:solidFill>
                <a:latin typeface="Google Sans Flex"/>
              </a:rPr>
              <a:t>Stripe in supported markets</a:t>
            </a:r>
          </a:p>
          <a:p>
            <a:pPr algn="l" marL="128016" indent="-128016">
              <a:spcAft>
                <a:spcPts val="500"/>
              </a:spcAft>
              <a:buClr>
                <a:srgbClr val="D93025"/>
              </a:buClr>
              <a:buFont typeface="Arial"/>
              <a:buChar char="•"/>
            </a:pPr>
            <a:r>
              <a:rPr sz="1000" b="0" i="0">
                <a:solidFill>
                  <a:srgbClr val="202124"/>
                </a:solidFill>
                <a:latin typeface="Google Sans Flex"/>
              </a:rPr>
              <a:t>Cross-border shipping and duties</a:t>
            </a:r>
          </a:p>
        </p:txBody>
      </p:sp>
      <p:sp>
        <p:nvSpPr>
          <p:cNvPr id="165" name="Validation card"/>
          <p:cNvSpPr/>
          <p:nvPr/>
        </p:nvSpPr>
        <p:spPr>
          <a:xfrm>
            <a:off x="356616" y="3950208"/>
            <a:ext cx="8430767" cy="850391"/>
          </a:xfrm>
          <a:prstGeom prst="roundRect">
            <a:avLst>
              <a:gd name="adj" fmla="val 8602"/>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noAutofit/>
          </a:bodyPr>
          <a:lstStyle/>
          <a:p>
            <a:pPr algn="l">
              <a:spcAft>
                <a:spcPts val="300"/>
              </a:spcAft>
            </a:pPr>
            <a:r>
              <a:rPr sz="1000" b="1" i="0">
                <a:solidFill>
                  <a:srgbClr val="B06000"/>
                </a:solidFill>
                <a:latin typeface="Google Sans Flex"/>
              </a:rPr>
              <a:t>What we will validate next</a:t>
            </a:r>
          </a:p>
          <a:p>
            <a:pPr algn="l"/>
            <a:r>
              <a:rPr sz="900" b="0" i="0">
                <a:solidFill>
                  <a:srgbClr val="202124"/>
                </a:solidFill>
                <a:latin typeface="Google Sans Flex"/>
              </a:rPr>
              <a:t>Seller willingness to pay per order · timing of UCP checkout in Indonesia · payment licensing through partners, so Etalase never holds seller funds · stock accuracy for sellers who do not track stock</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p:txBody>
      </p:sp>
      <p:sp>
        <p:nvSpPr>
          <p:cNvPr id="160" name="Link row 1"/>
          <p:cNvSpPr/>
          <p:nvPr/>
        </p:nvSpPr>
        <p:spPr>
          <a:xfrm>
            <a:off x="356616" y="1252728"/>
            <a:ext cx="8430767" cy="548640"/>
          </a:xfrm>
          <a:prstGeom prst="roundRect">
            <a:avLst>
              <a:gd name="adj" fmla="val 13333"/>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539496" y="1252728"/>
            <a:ext cx="2743200" cy="548640"/>
          </a:xfrm>
          <a:prstGeom prst="rect">
            <a:avLst/>
          </a:prstGeom>
          <a:noFill/>
        </p:spPr>
        <p:txBody>
          <a:bodyPr wrap="square" lIns="18288" rIns="18288" tIns="18288" bIns="18288" anchor="ctr">
            <a:noAutofit/>
          </a:bodyPr>
          <a:lstStyle/>
          <a:p>
            <a:pPr algn="l"/>
            <a:r>
              <a:rPr sz="1100" b="1" i="0">
                <a:solidFill>
                  <a:srgbClr val="202124"/>
                </a:solidFill>
                <a:latin typeface="Google Sans Flex"/>
              </a:rPr>
              <a:t>GitHub public repository</a:t>
            </a:r>
          </a:p>
        </p:txBody>
      </p:sp>
      <p:sp>
        <p:nvSpPr>
          <p:cNvPr id="162" name="TextBox 161"/>
          <p:cNvSpPr txBox="1"/>
          <p:nvPr/>
        </p:nvSpPr>
        <p:spPr>
          <a:xfrm>
            <a:off x="3374136" y="1252728"/>
            <a:ext cx="5230367" cy="548640"/>
          </a:xfrm>
          <a:prstGeom prst="rect">
            <a:avLst/>
          </a:prstGeom>
          <a:noFill/>
        </p:spPr>
        <p:txBody>
          <a:bodyPr wrap="square" lIns="18288" rIns="18288" tIns="18288" bIns="18288" anchor="ctr">
            <a:noAutofit/>
          </a:bodyPr>
          <a:lstStyle/>
          <a:p>
            <a:pPr algn="l"/>
            <a:r>
              <a:rPr sz="1100" b="0" i="0">
                <a:solidFill>
                  <a:srgbClr val="1A73E8"/>
                </a:solidFill>
                <a:latin typeface="Google Sans Flex"/>
              </a:rPr>
              <a:t>[Add GitHub link: github.com/&lt;team&gt;/etalase]</a:t>
            </a:r>
          </a:p>
        </p:txBody>
      </p:sp>
      <p:sp>
        <p:nvSpPr>
          <p:cNvPr id="163" name="Link row 2"/>
          <p:cNvSpPr/>
          <p:nvPr/>
        </p:nvSpPr>
        <p:spPr>
          <a:xfrm>
            <a:off x="356616" y="1938528"/>
            <a:ext cx="8430767" cy="548640"/>
          </a:xfrm>
          <a:prstGeom prst="roundRect">
            <a:avLst>
              <a:gd name="adj" fmla="val 13333"/>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39496" y="1938528"/>
            <a:ext cx="2743200" cy="548640"/>
          </a:xfrm>
          <a:prstGeom prst="rect">
            <a:avLst/>
          </a:prstGeom>
          <a:noFill/>
        </p:spPr>
        <p:txBody>
          <a:bodyPr wrap="square" lIns="18288" rIns="18288" tIns="18288" bIns="18288" anchor="ctr">
            <a:noAutofit/>
          </a:bodyPr>
          <a:lstStyle/>
          <a:p>
            <a:pPr algn="l"/>
            <a:r>
              <a:rPr sz="1100" b="1" i="0">
                <a:solidFill>
                  <a:srgbClr val="202124"/>
                </a:solidFill>
                <a:latin typeface="Google Sans Flex"/>
              </a:rPr>
              <a:t>Demo video (3 minutes)</a:t>
            </a:r>
          </a:p>
        </p:txBody>
      </p:sp>
      <p:sp>
        <p:nvSpPr>
          <p:cNvPr id="165" name="TextBox 164"/>
          <p:cNvSpPr txBox="1"/>
          <p:nvPr/>
        </p:nvSpPr>
        <p:spPr>
          <a:xfrm>
            <a:off x="3374136" y="1938528"/>
            <a:ext cx="5230367" cy="548640"/>
          </a:xfrm>
          <a:prstGeom prst="rect">
            <a:avLst/>
          </a:prstGeom>
          <a:noFill/>
        </p:spPr>
        <p:txBody>
          <a:bodyPr wrap="square" lIns="18288" rIns="18288" tIns="18288" bIns="18288" anchor="ctr">
            <a:noAutofit/>
          </a:bodyPr>
          <a:lstStyle/>
          <a:p>
            <a:pPr algn="l"/>
            <a:r>
              <a:rPr sz="1100" b="0" i="0">
                <a:solidFill>
                  <a:srgbClr val="1A73E8"/>
                </a:solidFill>
                <a:latin typeface="Google Sans Flex"/>
              </a:rPr>
              <a:t>[Add YouTube / Drive link]</a:t>
            </a:r>
          </a:p>
        </p:txBody>
      </p:sp>
      <p:sp>
        <p:nvSpPr>
          <p:cNvPr id="166" name="Link row 3"/>
          <p:cNvSpPr/>
          <p:nvPr/>
        </p:nvSpPr>
        <p:spPr>
          <a:xfrm>
            <a:off x="356616" y="2624328"/>
            <a:ext cx="8430767" cy="548640"/>
          </a:xfrm>
          <a:prstGeom prst="roundRect">
            <a:avLst>
              <a:gd name="adj" fmla="val 13333"/>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539496" y="2624328"/>
            <a:ext cx="2743200" cy="548640"/>
          </a:xfrm>
          <a:prstGeom prst="rect">
            <a:avLst/>
          </a:prstGeom>
          <a:noFill/>
        </p:spPr>
        <p:txBody>
          <a:bodyPr wrap="square" lIns="18288" rIns="18288" tIns="18288" bIns="18288" anchor="ctr">
            <a:noAutofit/>
          </a:bodyPr>
          <a:lstStyle/>
          <a:p>
            <a:pPr algn="l"/>
            <a:r>
              <a:rPr sz="1100" b="1" i="0">
                <a:solidFill>
                  <a:srgbClr val="202124"/>
                </a:solidFill>
                <a:latin typeface="Google Sans Flex"/>
              </a:rPr>
              <a:t>Final product link</a:t>
            </a:r>
          </a:p>
        </p:txBody>
      </p:sp>
      <p:sp>
        <p:nvSpPr>
          <p:cNvPr id="168" name="TextBox 167"/>
          <p:cNvSpPr txBox="1"/>
          <p:nvPr/>
        </p:nvSpPr>
        <p:spPr>
          <a:xfrm>
            <a:off x="3374136" y="2624328"/>
            <a:ext cx="5230367" cy="548640"/>
          </a:xfrm>
          <a:prstGeom prst="rect">
            <a:avLst/>
          </a:prstGeom>
          <a:noFill/>
        </p:spPr>
        <p:txBody>
          <a:bodyPr wrap="square" lIns="18288" rIns="18288" tIns="18288" bIns="18288" anchor="ctr">
            <a:noAutofit/>
          </a:bodyPr>
          <a:lstStyle/>
          <a:p>
            <a:pPr algn="l"/>
            <a:r>
              <a:rPr sz="1100" b="0" i="0">
                <a:solidFill>
                  <a:srgbClr val="1A73E8"/>
                </a:solidFill>
                <a:latin typeface="Google Sans Flex"/>
              </a:rPr>
              <a:t>[Add Cloud Run URL]</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