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b="1">
                <a:latin typeface="Google Sans Flex"/>
              </a:rPr>
              <a:t>Prompt &amp; Pray</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b="1">
                <a:latin typeface="Google Sans Flex"/>
              </a:rPr>
              <a:t>Galih Anggi Satriawan</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b="1">
                <a:latin typeface="Google Sans Flex"/>
              </a:rPr>
              <a:t>Retail &amp; Commerce: Intelligent Customer and Business Experiences. Etalase makes WhatsApp &amp; Instagram sellers discoverable and buyable by AI shopping agents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56616" y="1161288"/>
            <a:ext cx="5074920" cy="749808"/>
          </a:xfrm>
          <a:prstGeom prst="rect">
            <a:avLst/>
          </a:prstGeom>
          <a:noFill/>
        </p:spPr>
        <p:txBody>
          <a:bodyPr wrap="square" lIns="18288" rIns="18288" tIns="18288" bIns="18288" anchor="t">
            <a:noAutofit/>
          </a:bodyPr>
          <a:lstStyle/>
          <a:p>
            <a:pPr algn="l"/>
            <a:r>
              <a:rPr sz="1200" b="1" i="0">
                <a:solidFill>
                  <a:srgbClr val="202124"/>
                </a:solidFill>
                <a:latin typeface="Google Sans Flex"/>
              </a:rPr>
              <a:t>Etalase turns a WhatsApp seller's product photos and chats into a storefront that AI shopping agents and ordinary shoppers can find and buy from, with every order landing back in the seller's chat.</a:t>
            </a:r>
          </a:p>
        </p:txBody>
      </p:sp>
      <p:sp>
        <p:nvSpPr>
          <p:cNvPr id="73" name="TextBox 72"/>
          <p:cNvSpPr txBox="1"/>
          <p:nvPr/>
        </p:nvSpPr>
        <p:spPr>
          <a:xfrm>
            <a:off x="356616" y="1965960"/>
            <a:ext cx="5074920" cy="896112"/>
          </a:xfrm>
          <a:prstGeom prst="rect">
            <a:avLst/>
          </a:prstGeom>
          <a:noFill/>
        </p:spPr>
        <p:txBody>
          <a:bodyPr wrap="square" lIns="18288" rIns="18288" tIns="18288" bIns="18288" anchor="t">
            <a:noAutofit/>
          </a:bodyPr>
          <a:lstStyle/>
          <a:p>
            <a:pPr algn="l">
              <a:spcAft>
                <a:spcPts val="100"/>
              </a:spcAft>
            </a:pPr>
            <a:r>
              <a:rPr sz="1000" b="1" i="0">
                <a:solidFill>
                  <a:srgbClr val="B06000"/>
                </a:solidFill>
                <a:latin typeface="Google Sans Flex"/>
              </a:rPr>
              <a:t>Why now</a:t>
            </a:r>
          </a:p>
          <a:p>
            <a:pPr algn="l"/>
            <a:r>
              <a:rPr sz="950" b="0" i="0">
                <a:solidFill>
                  <a:srgbClr val="202124"/>
                </a:solidFill>
                <a:latin typeface="Google Sans Flex"/>
              </a:rPr>
              <a:t>AI shopping is arriving. Google's UCP checkout is live in the US, started with select retailers in Australia and is in limited test in India. Indonesia has no date; there, AI discovery is live but agent checkout is not. Morgan Stanley's US scenario: US$190–385B by 2030.</a:t>
            </a:r>
          </a:p>
        </p:txBody>
      </p:sp>
      <p:sp>
        <p:nvSpPr>
          <p:cNvPr id="74" name="TextBox 73"/>
          <p:cNvSpPr txBox="1"/>
          <p:nvPr/>
        </p:nvSpPr>
        <p:spPr>
          <a:xfrm>
            <a:off x="356616" y="2889504"/>
            <a:ext cx="5074920" cy="896112"/>
          </a:xfrm>
          <a:prstGeom prst="rect">
            <a:avLst/>
          </a:prstGeom>
          <a:noFill/>
        </p:spPr>
        <p:txBody>
          <a:bodyPr wrap="square" lIns="18288" rIns="18288" tIns="18288" bIns="18288" anchor="t">
            <a:noAutofit/>
          </a:bodyPr>
          <a:lstStyle/>
          <a:p>
            <a:pPr algn="l">
              <a:spcAft>
                <a:spcPts val="100"/>
              </a:spcAft>
            </a:pPr>
            <a:r>
              <a:rPr sz="1000" b="1" i="0">
                <a:solidFill>
                  <a:srgbClr val="1A73E8"/>
                </a:solidFill>
                <a:latin typeface="Google Sans Flex"/>
              </a:rPr>
              <a:t>The problem</a:t>
            </a:r>
          </a:p>
          <a:p>
            <a:pPr algn="l"/>
            <a:r>
              <a:rPr sz="950" b="0" i="0">
                <a:solidFill>
                  <a:srgbClr val="202124"/>
                </a:solidFill>
                <a:latin typeface="Google Sans Flex"/>
              </a:rPr>
              <a:t>Agents only read structured catalogs. Across Southeast Asia, small sellers run on chat apps such as WhatsApp, LINE, Zalo and Messenger, with catalogs in photos and messages, so agents cannot see them. When agent checkout arrives, that demand flows to marketplaces and big brands instead.</a:t>
            </a:r>
          </a:p>
        </p:txBody>
      </p:sp>
      <p:sp>
        <p:nvSpPr>
          <p:cNvPr id="75" name="TextBox 74"/>
          <p:cNvSpPr txBox="1"/>
          <p:nvPr/>
        </p:nvSpPr>
        <p:spPr>
          <a:xfrm>
            <a:off x="356616" y="3813048"/>
            <a:ext cx="5074920" cy="868680"/>
          </a:xfrm>
          <a:prstGeom prst="rect">
            <a:avLst/>
          </a:prstGeom>
          <a:noFill/>
        </p:spPr>
        <p:txBody>
          <a:bodyPr wrap="square" lIns="18288" rIns="18288" tIns="18288" bIns="18288" anchor="t">
            <a:noAutofit/>
          </a:bodyPr>
          <a:lstStyle/>
          <a:p>
            <a:pPr algn="l">
              <a:spcAft>
                <a:spcPts val="100"/>
              </a:spcAft>
            </a:pPr>
            <a:r>
              <a:rPr sz="1000" b="1" i="0">
                <a:solidFill>
                  <a:srgbClr val="188038"/>
                </a:solidFill>
                <a:latin typeface="Google Sans Flex"/>
              </a:rPr>
              <a:t>Our solution</a:t>
            </a:r>
          </a:p>
          <a:p>
            <a:pPr algn="l"/>
            <a:r>
              <a:rPr sz="950" b="0" i="0">
                <a:solidFill>
                  <a:srgbClr val="202124"/>
                </a:solidFill>
                <a:latin typeface="Google Sans Flex"/>
              </a:rPr>
              <a:t>Gemini builds the catalog from photos, voice notes and spreadsheets. Etalase publishes it over MCP (any agent, today), UCP (for Google's surfaces, when they arrive) and a store link, reserves stock, takes QRIS payments and holds the payout through a return window. The seller confirms and ships from WhatsApp or Telegram.</a:t>
            </a:r>
          </a:p>
        </p:txBody>
      </p:sp>
      <p:sp>
        <p:nvSpPr>
          <p:cNvPr id="76" name="Stat card 1"/>
          <p:cNvSpPr/>
          <p:nvPr/>
        </p:nvSpPr>
        <p:spPr>
          <a:xfrm>
            <a:off x="5669280" y="1161288"/>
            <a:ext cx="3118104" cy="786384"/>
          </a:xfrm>
          <a:prstGeom prst="roundRect">
            <a:avLst>
              <a:gd name="adj" fmla="val 93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79008" y="1207008"/>
            <a:ext cx="2926080" cy="347472"/>
          </a:xfrm>
          <a:prstGeom prst="rect">
            <a:avLst/>
          </a:prstGeom>
          <a:noFill/>
        </p:spPr>
        <p:txBody>
          <a:bodyPr wrap="square" lIns="18288" rIns="18288" tIns="18288" bIns="18288" anchor="t">
            <a:noAutofit/>
          </a:bodyPr>
          <a:lstStyle/>
          <a:p>
            <a:pPr algn="l"/>
            <a:r>
              <a:rPr sz="1900" b="1" i="0">
                <a:solidFill>
                  <a:srgbClr val="1A73E8"/>
                </a:solidFill>
                <a:latin typeface="Google Sans Flex"/>
              </a:rPr>
              <a:t>US$185B</a:t>
            </a:r>
          </a:p>
        </p:txBody>
      </p:sp>
      <p:sp>
        <p:nvSpPr>
          <p:cNvPr id="78" name="TextBox 77"/>
          <p:cNvSpPr txBox="1"/>
          <p:nvPr/>
        </p:nvSpPr>
        <p:spPr>
          <a:xfrm>
            <a:off x="5779008" y="1545336"/>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 e-commerce GMV in 2025; consumer interest in AI is 3× the global average</a:t>
            </a:r>
          </a:p>
        </p:txBody>
      </p:sp>
      <p:sp>
        <p:nvSpPr>
          <p:cNvPr id="79" name="Stat card 2"/>
          <p:cNvSpPr/>
          <p:nvPr/>
        </p:nvSpPr>
        <p:spPr>
          <a:xfrm>
            <a:off x="5669280" y="2066543"/>
            <a:ext cx="3118104" cy="786384"/>
          </a:xfrm>
          <a:prstGeom prst="roundRect">
            <a:avLst>
              <a:gd name="adj" fmla="val 930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779008" y="2112263"/>
            <a:ext cx="2926080" cy="347472"/>
          </a:xfrm>
          <a:prstGeom prst="rect">
            <a:avLst/>
          </a:prstGeom>
          <a:noFill/>
        </p:spPr>
        <p:txBody>
          <a:bodyPr wrap="square" lIns="18288" rIns="18288" tIns="18288" bIns="18288" anchor="t">
            <a:noAutofit/>
          </a:bodyPr>
          <a:lstStyle/>
          <a:p>
            <a:pPr algn="l"/>
            <a:r>
              <a:rPr sz="1900" b="1" i="0">
                <a:solidFill>
                  <a:srgbClr val="188038"/>
                </a:solidFill>
                <a:latin typeface="Google Sans Flex"/>
              </a:rPr>
              <a:t>95%</a:t>
            </a:r>
          </a:p>
        </p:txBody>
      </p:sp>
      <p:sp>
        <p:nvSpPr>
          <p:cNvPr id="81" name="TextBox 80"/>
          <p:cNvSpPr txBox="1"/>
          <p:nvPr/>
        </p:nvSpPr>
        <p:spPr>
          <a:xfrm>
            <a:off x="5779008" y="2450591"/>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use chat apps such as WhatsApp to sell; only 18% use marketplaces (BPS 2023, multiple answers)</a:t>
            </a:r>
          </a:p>
        </p:txBody>
      </p:sp>
      <p:sp>
        <p:nvSpPr>
          <p:cNvPr id="82" name="Stat card 3"/>
          <p:cNvSpPr/>
          <p:nvPr/>
        </p:nvSpPr>
        <p:spPr>
          <a:xfrm>
            <a:off x="5669280" y="2971800"/>
            <a:ext cx="3118104" cy="786384"/>
          </a:xfrm>
          <a:prstGeom prst="roundRect">
            <a:avLst>
              <a:gd name="adj" fmla="val 93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79008" y="3017520"/>
            <a:ext cx="2926080" cy="347472"/>
          </a:xfrm>
          <a:prstGeom prst="rect">
            <a:avLst/>
          </a:prstGeom>
          <a:noFill/>
        </p:spPr>
        <p:txBody>
          <a:bodyPr wrap="square" lIns="18288" rIns="18288" tIns="18288" bIns="18288" anchor="t">
            <a:noAutofit/>
          </a:bodyPr>
          <a:lstStyle/>
          <a:p>
            <a:pPr algn="l"/>
            <a:r>
              <a:rPr sz="1900" b="1" i="0">
                <a:solidFill>
                  <a:srgbClr val="B06000"/>
                </a:solidFill>
                <a:latin typeface="Google Sans Flex"/>
              </a:rPr>
              <a:t>1.8%</a:t>
            </a:r>
          </a:p>
        </p:txBody>
      </p:sp>
      <p:sp>
        <p:nvSpPr>
          <p:cNvPr id="84" name="TextBox 83"/>
          <p:cNvSpPr txBox="1"/>
          <p:nvPr/>
        </p:nvSpPr>
        <p:spPr>
          <a:xfrm>
            <a:off x="5779008" y="3355848"/>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sell through their own website, so few have a structured catalog (BPS, 2023)</a:t>
            </a:r>
          </a:p>
        </p:txBody>
      </p:sp>
      <p:sp>
        <p:nvSpPr>
          <p:cNvPr id="85" name="Stat card 4"/>
          <p:cNvSpPr/>
          <p:nvPr/>
        </p:nvSpPr>
        <p:spPr>
          <a:xfrm>
            <a:off x="5669280" y="3877056"/>
            <a:ext cx="3118104" cy="786384"/>
          </a:xfrm>
          <a:prstGeom prst="roundRect">
            <a:avLst>
              <a:gd name="adj" fmla="val 9302"/>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779008" y="3922776"/>
            <a:ext cx="2926080" cy="347472"/>
          </a:xfrm>
          <a:prstGeom prst="rect">
            <a:avLst/>
          </a:prstGeom>
          <a:noFill/>
        </p:spPr>
        <p:txBody>
          <a:bodyPr wrap="square" lIns="18288" rIns="18288" tIns="18288" bIns="18288" anchor="t">
            <a:noAutofit/>
          </a:bodyPr>
          <a:lstStyle/>
          <a:p>
            <a:pPr algn="l"/>
            <a:r>
              <a:rPr sz="1900" b="1" i="0">
                <a:solidFill>
                  <a:srgbClr val="D93025"/>
                </a:solidFill>
                <a:latin typeface="Google Sans Flex"/>
              </a:rPr>
              <a:t>11%</a:t>
            </a:r>
          </a:p>
        </p:txBody>
      </p:sp>
      <p:sp>
        <p:nvSpPr>
          <p:cNvPr id="87" name="TextBox 86"/>
          <p:cNvSpPr txBox="1"/>
          <p:nvPr/>
        </p:nvSpPr>
        <p:spPr>
          <a:xfrm>
            <a:off x="5779008" y="4261104"/>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small and mid-size merchants are ready for AI shopping agents, vs 19% of large merchants (2026)</a:t>
            </a:r>
          </a:p>
        </p:txBody>
      </p:sp>
      <p:sp>
        <p:nvSpPr>
          <p:cNvPr id="88" name="TextBox 87"/>
          <p:cNvSpPr txBox="1"/>
          <p:nvPr/>
        </p:nvSpPr>
        <p:spPr>
          <a:xfrm>
            <a:off x="356616" y="4718304"/>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Sources: e-Conomy SEA 2025 (Google, Temasek, Bain, Nov 2025); BPS Statistik E-Commerce 2023 (pub. Jan 2025; businesses can use several channels); PYMNTS × Visa, 2026 Global Digital Shopping Index (Sep 2026, global vendor survey); Morgan Stanley, “Here Come the Shopping Bots” (US only). Links in the repo: docs/15-evidence.md.</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Opportunity card 1"/>
          <p:cNvSpPr/>
          <p:nvPr/>
        </p:nvSpPr>
        <p:spPr>
          <a:xfrm>
            <a:off x="356616" y="1161288"/>
            <a:ext cx="2688336" cy="3502152"/>
          </a:xfrm>
          <a:prstGeom prst="roundRect">
            <a:avLst>
              <a:gd name="adj" fmla="val 272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con bg compare"/>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compare.png"/>
          <p:cNvPicPr>
            <a:picLocks noChangeAspect="1"/>
          </p:cNvPicPr>
          <p:nvPr/>
        </p:nvPicPr>
        <p:blipFill>
          <a:blip r:embed="rId5"/>
          <a:stretch>
            <a:fillRect/>
          </a:stretch>
        </p:blipFill>
        <p:spPr>
          <a:xfrm>
            <a:off x="613745" y="1418417"/>
            <a:ext cx="235549" cy="235549"/>
          </a:xfrm>
          <a:prstGeom prst="rect">
            <a:avLst/>
          </a:prstGeom>
        </p:spPr>
      </p:pic>
      <p:sp>
        <p:nvSpPr>
          <p:cNvPr id="83" name="TextBox 82"/>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is it different?</a:t>
            </a:r>
          </a:p>
        </p:txBody>
      </p:sp>
      <p:sp>
        <p:nvSpPr>
          <p:cNvPr id="84" name="TextBox 83"/>
          <p:cNvSpPr txBox="1"/>
          <p:nvPr/>
        </p:nvSpPr>
        <p:spPr>
          <a:xfrm>
            <a:off x="502920"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A73E8"/>
              </a:buClr>
              <a:buFont typeface="Arial"/>
              <a:buChar char="•"/>
            </a:pPr>
            <a:r>
              <a:rPr sz="1050" b="0" i="0">
                <a:solidFill>
                  <a:srgbClr val="202124"/>
                </a:solidFill>
                <a:latin typeface="Google Sans Flex"/>
              </a:rPr>
              <a:t>Agent-readiness tools (Era, ShopAgentic, AgentReady) serve Shopify-style stores that already have product data</a:t>
            </a:r>
          </a:p>
          <a:p>
            <a:pPr algn="l" marL="128016" indent="-128016">
              <a:spcAft>
                <a:spcPts val="600"/>
              </a:spcAft>
              <a:buClr>
                <a:srgbClr val="1A73E8"/>
              </a:buClr>
              <a:buFont typeface="Arial"/>
              <a:buChar char="•"/>
            </a:pPr>
            <a:r>
              <a:rPr sz="1050" b="0" i="0">
                <a:solidFill>
                  <a:srgbClr val="202124"/>
                </a:solidFill>
                <a:latin typeface="Google Sans Flex"/>
              </a:rPr>
              <a:t>Marketplaces and platforms make sellers agent-ready only inside their own ecosystem, at their fees</a:t>
            </a:r>
          </a:p>
          <a:p>
            <a:pPr algn="l" marL="128016" indent="-128016">
              <a:spcAft>
                <a:spcPts val="600"/>
              </a:spcAft>
              <a:buClr>
                <a:srgbClr val="1A73E8"/>
              </a:buClr>
              <a:buFont typeface="Arial"/>
              <a:buChar char="•"/>
            </a:pPr>
            <a:r>
              <a:rPr sz="1050" b="0" i="0">
                <a:solidFill>
                  <a:srgbClr val="202124"/>
                </a:solidFill>
                <a:latin typeface="Google Sans Flex"/>
              </a:rPr>
              <a:t>Chat tools (Meta AI, cshub, Mayar) serve human buyers; we found none that builds the catalog from photos</a:t>
            </a:r>
          </a:p>
          <a:p>
            <a:pPr algn="l" marL="128016" indent="-128016">
              <a:spcAft>
                <a:spcPts val="600"/>
              </a:spcAft>
              <a:buClr>
                <a:srgbClr val="1A73E8"/>
              </a:buClr>
              <a:buFont typeface="Arial"/>
              <a:buChar char="•"/>
            </a:pPr>
            <a:r>
              <a:rPr sz="1050" b="1" i="0">
                <a:solidFill>
                  <a:srgbClr val="202124"/>
                </a:solidFill>
                <a:latin typeface="Google Sans Flex"/>
              </a:rPr>
              <a:t>Etalase serves sellers who run on chat: photos to catalog, a store link, MCP and UCP</a:t>
            </a:r>
          </a:p>
        </p:txBody>
      </p:sp>
      <p:sp>
        <p:nvSpPr>
          <p:cNvPr id="85" name="Opportunity card 2"/>
          <p:cNvSpPr/>
          <p:nvPr/>
        </p:nvSpPr>
        <p:spPr>
          <a:xfrm>
            <a:off x="3227832" y="1161288"/>
            <a:ext cx="2688336" cy="3502152"/>
          </a:xfrm>
          <a:prstGeom prst="roundRect">
            <a:avLst>
              <a:gd name="adj" fmla="val 272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con bg solve"/>
          <p:cNvSpPr/>
          <p:nvPr/>
        </p:nvSpPr>
        <p:spPr>
          <a:xfrm>
            <a:off x="3392424"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Picture 86" descr="solve.png"/>
          <p:cNvPicPr>
            <a:picLocks noChangeAspect="1"/>
          </p:cNvPicPr>
          <p:nvPr/>
        </p:nvPicPr>
        <p:blipFill>
          <a:blip r:embed="rId6"/>
          <a:stretch>
            <a:fillRect/>
          </a:stretch>
        </p:blipFill>
        <p:spPr>
          <a:xfrm>
            <a:off x="3484961" y="1418417"/>
            <a:ext cx="235549" cy="235549"/>
          </a:xfrm>
          <a:prstGeom prst="rect">
            <a:avLst/>
          </a:prstGeom>
        </p:spPr>
      </p:pic>
      <p:sp>
        <p:nvSpPr>
          <p:cNvPr id="88" name="TextBox 87"/>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does it solve the problem?</a:t>
            </a:r>
          </a:p>
        </p:txBody>
      </p:sp>
      <p:sp>
        <p:nvSpPr>
          <p:cNvPr id="89" name="TextBox 88"/>
          <p:cNvSpPr txBox="1"/>
          <p:nvPr/>
        </p:nvSpPr>
        <p:spPr>
          <a:xfrm>
            <a:off x="3374136"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88038"/>
              </a:buClr>
              <a:buFont typeface="Arial"/>
              <a:buChar char="•"/>
            </a:pPr>
            <a:r>
              <a:rPr sz="1050" b="0" i="0">
                <a:solidFill>
                  <a:srgbClr val="202124"/>
                </a:solidFill>
                <a:latin typeface="Google Sans Flex"/>
              </a:rPr>
              <a:t>Builds the catalog from what sellers already have: photos, voice notes, chats, spreadsheets</a:t>
            </a:r>
          </a:p>
          <a:p>
            <a:pPr algn="l" marL="128016" indent="-128016">
              <a:spcAft>
                <a:spcPts val="600"/>
              </a:spcAft>
              <a:buClr>
                <a:srgbClr val="188038"/>
              </a:buClr>
              <a:buFont typeface="Arial"/>
              <a:buChar char="•"/>
            </a:pPr>
            <a:r>
              <a:rPr sz="1050" b="0" i="0">
                <a:solidFill>
                  <a:srgbClr val="202124"/>
                </a:solidFill>
                <a:latin typeface="Google Sans Flex"/>
              </a:rPr>
              <a:t>Publishes it in agent-readable form (MCP tools, UCP checkout API, schema.org) and as a store link anyone can open</a:t>
            </a:r>
          </a:p>
          <a:p>
            <a:pPr algn="l" marL="128016" indent="-128016">
              <a:spcAft>
                <a:spcPts val="600"/>
              </a:spcAft>
              <a:buClr>
                <a:srgbClr val="188038"/>
              </a:buClr>
              <a:buFont typeface="Arial"/>
              <a:buChar char="•"/>
            </a:pPr>
            <a:r>
              <a:rPr sz="1050" b="0" i="0">
                <a:solidFill>
                  <a:srgbClr val="202124"/>
                </a:solidFill>
                <a:latin typeface="Google Sans Flex"/>
              </a:rPr>
              <a:t>Runs a safe checkout: stock reservation, seller confirmation, QRIS, courier rates, and a payout held until the return window ends</a:t>
            </a:r>
          </a:p>
          <a:p>
            <a:pPr algn="l" marL="128016" indent="-128016">
              <a:spcAft>
                <a:spcPts val="600"/>
              </a:spcAft>
              <a:buClr>
                <a:srgbClr val="188038"/>
              </a:buClr>
              <a:buFont typeface="Arial"/>
              <a:buChar char="•"/>
            </a:pPr>
            <a:r>
              <a:rPr sz="1050" b="0" i="0">
                <a:solidFill>
                  <a:srgbClr val="202124"/>
                </a:solidFill>
                <a:latin typeface="Google Sans Flex"/>
              </a:rPr>
              <a:t>Keeps the seller in WhatsApp (or Telegram), with no new app to learn</a:t>
            </a:r>
          </a:p>
        </p:txBody>
      </p:sp>
      <p:sp>
        <p:nvSpPr>
          <p:cNvPr id="90" name="Opportunity card 3"/>
          <p:cNvSpPr/>
          <p:nvPr/>
        </p:nvSpPr>
        <p:spPr>
          <a:xfrm>
            <a:off x="6099048" y="1161288"/>
            <a:ext cx="2688336" cy="3502152"/>
          </a:xfrm>
          <a:prstGeom prst="roundRect">
            <a:avLst>
              <a:gd name="adj" fmla="val 272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Icon bg star"/>
          <p:cNvSpPr/>
          <p:nvPr/>
        </p:nvSpPr>
        <p:spPr>
          <a:xfrm>
            <a:off x="6263640" y="1325880"/>
            <a:ext cx="420624" cy="42062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star.png"/>
          <p:cNvPicPr>
            <a:picLocks noChangeAspect="1"/>
          </p:cNvPicPr>
          <p:nvPr/>
        </p:nvPicPr>
        <p:blipFill>
          <a:blip r:embed="rId7"/>
          <a:stretch>
            <a:fillRect/>
          </a:stretch>
        </p:blipFill>
        <p:spPr>
          <a:xfrm>
            <a:off x="6356177" y="1418417"/>
            <a:ext cx="235549" cy="235549"/>
          </a:xfrm>
          <a:prstGeom prst="rect">
            <a:avLst/>
          </a:prstGeom>
        </p:spPr>
      </p:pic>
      <p:sp>
        <p:nvSpPr>
          <p:cNvPr id="93" name="TextBox 9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USP of the solution</a:t>
            </a:r>
          </a:p>
        </p:txBody>
      </p:sp>
      <p:sp>
        <p:nvSpPr>
          <p:cNvPr id="94" name="TextBox 93"/>
          <p:cNvSpPr txBox="1"/>
          <p:nvPr/>
        </p:nvSpPr>
        <p:spPr>
          <a:xfrm>
            <a:off x="6245352"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D93025"/>
              </a:buClr>
              <a:buFont typeface="Arial"/>
              <a:buChar char="•"/>
            </a:pPr>
            <a:r>
              <a:rPr sz="1050" b="1" i="0">
                <a:solidFill>
                  <a:srgbClr val="202124"/>
                </a:solidFill>
                <a:latin typeface="Google Sans Flex"/>
              </a:rPr>
              <a:t>From WhatsApp photos to an agent-ready catalog with Gemini, no site to build first</a:t>
            </a:r>
          </a:p>
          <a:p>
            <a:pPr algn="l" marL="128016" indent="-128016">
              <a:spcAft>
                <a:spcPts val="600"/>
              </a:spcAft>
              <a:buClr>
                <a:srgbClr val="D93025"/>
              </a:buClr>
              <a:buFont typeface="Arial"/>
              <a:buChar char="•"/>
            </a:pPr>
            <a:r>
              <a:rPr sz="1050" b="0" i="0">
                <a:solidFill>
                  <a:srgbClr val="202124"/>
                </a:solidFill>
                <a:latin typeface="Google Sans Flex"/>
              </a:rPr>
              <a:t>Brings chat-first micro-sellers into AI commerce with a channel they own, paid only per order</a:t>
            </a:r>
          </a:p>
          <a:p>
            <a:pPr algn="l" marL="128016" indent="-128016">
              <a:spcAft>
                <a:spcPts val="600"/>
              </a:spcAft>
              <a:buClr>
                <a:srgbClr val="D93025"/>
              </a:buClr>
              <a:buFont typeface="Arial"/>
              <a:buChar char="•"/>
            </a:pPr>
            <a:r>
              <a:rPr sz="1050" b="0" i="0">
                <a:solidFill>
                  <a:srgbClr val="202124"/>
                </a:solidFill>
                <a:latin typeface="Google Sans Flex"/>
              </a:rPr>
              <a:t>One core with pluggable country packs for payment, shipping and OMS</a:t>
            </a:r>
          </a:p>
          <a:p>
            <a:pPr algn="l" marL="128016" indent="-128016">
              <a:spcAft>
                <a:spcPts val="600"/>
              </a:spcAft>
              <a:buClr>
                <a:srgbClr val="D93025"/>
              </a:buClr>
              <a:buFont typeface="Arial"/>
              <a:buChar char="•"/>
            </a:pPr>
            <a:r>
              <a:rPr sz="1050" b="0" i="0">
                <a:solidFill>
                  <a:srgbClr val="202124"/>
                </a:solidFill>
                <a:latin typeface="Google Sans Flex"/>
              </a:rPr>
              <a:t>Privacy by design: tenant-isolated AI and minimal data, built with Indonesia's PDP Law in mind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Icon bg catalog"/>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catalog.png"/>
          <p:cNvPicPr>
            <a:picLocks noChangeAspect="1"/>
          </p:cNvPicPr>
          <p:nvPr/>
        </p:nvPicPr>
        <p:blipFill>
          <a:blip r:embed="rId5"/>
          <a:stretch>
            <a:fillRect/>
          </a:stretch>
        </p:blipFill>
        <p:spPr>
          <a:xfrm>
            <a:off x="613745" y="1418417"/>
            <a:ext cx="235549" cy="235549"/>
          </a:xfrm>
          <a:prstGeom prst="rect">
            <a:avLst/>
          </a:prstGeom>
        </p:spPr>
      </p:pic>
      <p:sp>
        <p:nvSpPr>
          <p:cNvPr id="91" name="TextBox 90"/>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AI catalog builder</a:t>
            </a:r>
          </a:p>
        </p:txBody>
      </p:sp>
      <p:sp>
        <p:nvSpPr>
          <p:cNvPr id="92" name="Status 1"/>
          <p:cNvSpPr/>
          <p:nvPr/>
        </p:nvSpPr>
        <p:spPr>
          <a:xfrm>
            <a:off x="502920"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3" name="TextBox 92"/>
          <p:cNvSpPr txBox="1"/>
          <p:nvPr/>
        </p:nvSpPr>
        <p:spPr>
          <a:xfrm>
            <a:off x="502920"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Gemini reads product photos, voice notes, captions and CSV files, then drafts products, variants, prices and weights for the seller to confirm.</a:t>
            </a:r>
          </a:p>
        </p:txBody>
      </p:sp>
      <p:sp>
        <p:nvSpPr>
          <p:cNvPr id="94" name="Feature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con bg storefront"/>
          <p:cNvSpPr/>
          <p:nvPr/>
        </p:nvSpPr>
        <p:spPr>
          <a:xfrm>
            <a:off x="3392424"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storefront.png"/>
          <p:cNvPicPr>
            <a:picLocks noChangeAspect="1"/>
          </p:cNvPicPr>
          <p:nvPr/>
        </p:nvPicPr>
        <p:blipFill>
          <a:blip r:embed="rId6"/>
          <a:stretch>
            <a:fillRect/>
          </a:stretch>
        </p:blipFill>
        <p:spPr>
          <a:xfrm>
            <a:off x="3484961" y="1418417"/>
            <a:ext cx="235549" cy="235549"/>
          </a:xfrm>
          <a:prstGeom prst="rect">
            <a:avLst/>
          </a:prstGeom>
        </p:spPr>
      </p:pic>
      <p:sp>
        <p:nvSpPr>
          <p:cNvPr id="97" name="TextBox 96"/>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Agent-ready storefront</a:t>
            </a:r>
          </a:p>
        </p:txBody>
      </p:sp>
      <p:sp>
        <p:nvSpPr>
          <p:cNvPr id="98" name="Status 2"/>
          <p:cNvSpPr/>
          <p:nvPr/>
        </p:nvSpPr>
        <p:spPr>
          <a:xfrm>
            <a:off x="3374136"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9" name="TextBox 98"/>
          <p:cNvSpPr txBox="1"/>
          <p:nvPr/>
        </p:nvSpPr>
        <p:spPr>
          <a:xfrm>
            <a:off x="3374136"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Each shop has its own address, speaks MCP, UCP and schema.org, scores 0–100 for agent readiness, and has a store link for buyers without an agent.</a:t>
            </a:r>
          </a:p>
        </p:txBody>
      </p:sp>
      <p:sp>
        <p:nvSpPr>
          <p:cNvPr id="100" name="Feature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Icon bg whatsapp"/>
          <p:cNvSpPr/>
          <p:nvPr/>
        </p:nvSpPr>
        <p:spPr>
          <a:xfrm>
            <a:off x="6263640"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2" name="Picture 101" descr="whatsapp.png"/>
          <p:cNvPicPr>
            <a:picLocks noChangeAspect="1"/>
          </p:cNvPicPr>
          <p:nvPr/>
        </p:nvPicPr>
        <p:blipFill>
          <a:blip r:embed="rId7"/>
          <a:stretch>
            <a:fillRect/>
          </a:stretch>
        </p:blipFill>
        <p:spPr>
          <a:xfrm>
            <a:off x="6356177" y="1418417"/>
            <a:ext cx="235549" cy="235549"/>
          </a:xfrm>
          <a:prstGeom prst="rect">
            <a:avLst/>
          </a:prstGeom>
        </p:spPr>
      </p:pic>
      <p:sp>
        <p:nvSpPr>
          <p:cNvPr id="103" name="TextBox 10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WhatsApp seller agent</a:t>
            </a:r>
          </a:p>
        </p:txBody>
      </p:sp>
      <p:sp>
        <p:nvSpPr>
          <p:cNvPr id="104" name="Status 3"/>
          <p:cNvSpPr/>
          <p:nvPr/>
        </p:nvSpPr>
        <p:spPr>
          <a:xfrm>
            <a:off x="6245352"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105" name="TextBox 104"/>
          <p:cNvSpPr txBox="1"/>
          <p:nvPr/>
        </p:nvSpPr>
        <p:spPr>
          <a:xfrm>
            <a:off x="6245352"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An ADK agent updates stock, prices and orders on WhatsApp or Telegram, and new sellers sign up in chat. Buttons never go through the model.</a:t>
            </a:r>
          </a:p>
        </p:txBody>
      </p:sp>
      <p:sp>
        <p:nvSpPr>
          <p:cNvPr id="106" name="Feature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Icon bg checkout"/>
          <p:cNvSpPr/>
          <p:nvPr/>
        </p:nvSpPr>
        <p:spPr>
          <a:xfrm>
            <a:off x="521208"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8" name="Picture 107" descr="checkout.png"/>
          <p:cNvPicPr>
            <a:picLocks noChangeAspect="1"/>
          </p:cNvPicPr>
          <p:nvPr/>
        </p:nvPicPr>
        <p:blipFill>
          <a:blip r:embed="rId8"/>
          <a:stretch>
            <a:fillRect/>
          </a:stretch>
        </p:blipFill>
        <p:spPr>
          <a:xfrm>
            <a:off x="613745" y="3247217"/>
            <a:ext cx="235549" cy="235549"/>
          </a:xfrm>
          <a:prstGeom prst="rect">
            <a:avLst/>
          </a:prstGeom>
        </p:spPr>
      </p:pic>
      <p:sp>
        <p:nvSpPr>
          <p:cNvPr id="109" name="TextBox 108"/>
          <p:cNvSpPr txBox="1"/>
          <p:nvPr/>
        </p:nvSpPr>
        <p:spPr>
          <a:xfrm>
            <a:off x="1033271"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Safe agent checkout</a:t>
            </a:r>
          </a:p>
        </p:txBody>
      </p:sp>
      <p:sp>
        <p:nvSpPr>
          <p:cNvPr id="110" name="Status 4"/>
          <p:cNvSpPr/>
          <p:nvPr/>
        </p:nvSpPr>
        <p:spPr>
          <a:xfrm>
            <a:off x="502920" y="3666744"/>
            <a:ext cx="1223467"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QRIS mocked</a:t>
            </a:r>
          </a:p>
        </p:txBody>
      </p:sp>
      <p:sp>
        <p:nvSpPr>
          <p:cNvPr id="111" name="TextBox 110"/>
          <p:cNvSpPr txBox="1"/>
          <p:nvPr/>
        </p:nvSpPr>
        <p:spPr>
          <a:xfrm>
            <a:off x="502920"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 cart of up to 10 products is reserved all or nothing; uncertain stock is confirmed with the seller before payment. 0 oversold when 100 buyers race.</a:t>
            </a:r>
          </a:p>
        </p:txBody>
      </p:sp>
      <p:sp>
        <p:nvSpPr>
          <p:cNvPr id="112" name="Feature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con bg shipping"/>
          <p:cNvSpPr/>
          <p:nvPr/>
        </p:nvSpPr>
        <p:spPr>
          <a:xfrm>
            <a:off x="3392424"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shipping.png"/>
          <p:cNvPicPr>
            <a:picLocks noChangeAspect="1"/>
          </p:cNvPicPr>
          <p:nvPr/>
        </p:nvPicPr>
        <p:blipFill>
          <a:blip r:embed="rId9"/>
          <a:stretch>
            <a:fillRect/>
          </a:stretch>
        </p:blipFill>
        <p:spPr>
          <a:xfrm>
            <a:off x="3484961" y="3247217"/>
            <a:ext cx="235549" cy="235549"/>
          </a:xfrm>
          <a:prstGeom prst="rect">
            <a:avLst/>
          </a:prstGeom>
        </p:spPr>
      </p:pic>
      <p:sp>
        <p:nvSpPr>
          <p:cNvPr id="115" name="TextBox 114"/>
          <p:cNvSpPr txBox="1"/>
          <p:nvPr/>
        </p:nvSpPr>
        <p:spPr>
          <a:xfrm>
            <a:off x="3904488"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Shipping &amp; payouts</a:t>
            </a:r>
          </a:p>
        </p:txBody>
      </p:sp>
      <p:sp>
        <p:nvSpPr>
          <p:cNvPr id="116" name="Status 5"/>
          <p:cNvSpPr/>
          <p:nvPr/>
        </p:nvSpPr>
        <p:spPr>
          <a:xfrm>
            <a:off x="3374136" y="3666744"/>
            <a:ext cx="940003" cy="201168"/>
          </a:xfrm>
          <a:prstGeom prst="roundRect">
            <a:avLst>
              <a:gd name="adj" fmla="val 50000"/>
            </a:avLst>
          </a:prstGeom>
          <a:solidFill>
            <a:srgbClr val="FEF7E0"/>
          </a:solidFill>
          <a:ln w="635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B06000"/>
                </a:solidFill>
                <a:latin typeface="Google Sans Flex"/>
              </a:rPr>
              <a:t>Mocked in demo</a:t>
            </a:r>
          </a:p>
        </p:txBody>
      </p:sp>
      <p:sp>
        <p:nvSpPr>
          <p:cNvPr id="117" name="TextBox 116"/>
          <p:cNvSpPr txBox="1"/>
          <p:nvPr/>
        </p:nvSpPr>
        <p:spPr>
          <a:xfrm>
            <a:off x="3374136"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Courier rates; the payout waits out a return window, then is released minus commission. Biteship and Xendit are wired; the demo uses mocks.</a:t>
            </a:r>
          </a:p>
        </p:txBody>
      </p:sp>
      <p:sp>
        <p:nvSpPr>
          <p:cNvPr id="118" name="Feature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Icon bg connectors"/>
          <p:cNvSpPr/>
          <p:nvPr/>
        </p:nvSpPr>
        <p:spPr>
          <a:xfrm>
            <a:off x="6263640"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0" name="Picture 119" descr="connectors.png"/>
          <p:cNvPicPr>
            <a:picLocks noChangeAspect="1"/>
          </p:cNvPicPr>
          <p:nvPr/>
        </p:nvPicPr>
        <p:blipFill>
          <a:blip r:embed="rId10"/>
          <a:stretch>
            <a:fillRect/>
          </a:stretch>
        </p:blipFill>
        <p:spPr>
          <a:xfrm>
            <a:off x="6356177" y="3247217"/>
            <a:ext cx="235549" cy="235549"/>
          </a:xfrm>
          <a:prstGeom prst="rect">
            <a:avLst/>
          </a:prstGeom>
        </p:spPr>
      </p:pic>
      <p:sp>
        <p:nvSpPr>
          <p:cNvPr id="121" name="TextBox 120"/>
          <p:cNvSpPr txBox="1"/>
          <p:nvPr/>
        </p:nvSpPr>
        <p:spPr>
          <a:xfrm>
            <a:off x="6775704"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Connectors</a:t>
            </a:r>
          </a:p>
        </p:txBody>
      </p:sp>
      <p:sp>
        <p:nvSpPr>
          <p:cNvPr id="122" name="Status 6"/>
          <p:cNvSpPr/>
          <p:nvPr/>
        </p:nvSpPr>
        <p:spPr>
          <a:xfrm>
            <a:off x="6245352" y="3666744"/>
            <a:ext cx="1110081"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more next</a:t>
            </a:r>
          </a:p>
        </p:txBody>
      </p:sp>
      <p:sp>
        <p:nvSpPr>
          <p:cNvPr id="123" name="TextBox 122"/>
          <p:cNvSpPr txBox="1"/>
          <p:nvPr/>
        </p:nvSpPr>
        <p:spPr>
          <a:xfrm>
            <a:off x="6245352"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Instagram post import and an OpenAPI Connector API for website builders work today. Google Sheets, OMSs and WooCommerce come next.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Lane bg 1"/>
          <p:cNvSpPr/>
          <p:nvPr/>
        </p:nvSpPr>
        <p:spPr>
          <a:xfrm>
            <a:off x="356616" y="116128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ane label 1"/>
          <p:cNvSpPr/>
          <p:nvPr/>
        </p:nvSpPr>
        <p:spPr>
          <a:xfrm>
            <a:off x="356616" y="1216152"/>
            <a:ext cx="1024128" cy="530352"/>
          </a:xfrm>
          <a:prstGeom prst="roundRect">
            <a:avLst>
              <a:gd name="adj" fmla="val 10344"/>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88038"/>
                </a:solidFill>
                <a:latin typeface="Google Sans Flex"/>
              </a:rPr>
              <a:t>Seller (WhatsApp)</a:t>
            </a:r>
          </a:p>
        </p:txBody>
      </p:sp>
      <p:sp>
        <p:nvSpPr>
          <p:cNvPr id="98" name="Lane label 2"/>
          <p:cNvSpPr/>
          <p:nvPr/>
        </p:nvSpPr>
        <p:spPr>
          <a:xfrm>
            <a:off x="356616" y="1856231"/>
            <a:ext cx="1024128"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A73E8"/>
                </a:solidFill>
                <a:latin typeface="Google Sans Flex"/>
              </a:rPr>
              <a:t>Etalase</a:t>
            </a:r>
          </a:p>
        </p:txBody>
      </p:sp>
      <p:sp>
        <p:nvSpPr>
          <p:cNvPr id="99" name="Lane bg 3"/>
          <p:cNvSpPr/>
          <p:nvPr/>
        </p:nvSpPr>
        <p:spPr>
          <a:xfrm>
            <a:off x="356616" y="244144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Lane label 3"/>
          <p:cNvSpPr/>
          <p:nvPr/>
        </p:nvSpPr>
        <p:spPr>
          <a:xfrm>
            <a:off x="356616" y="2496312"/>
            <a:ext cx="1024128"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B06000"/>
                </a:solidFill>
                <a:latin typeface="Google Sans Flex"/>
              </a:rPr>
              <a:t>Buyer's AI agent</a:t>
            </a:r>
          </a:p>
        </p:txBody>
      </p:sp>
      <p:sp>
        <p:nvSpPr>
          <p:cNvPr id="101" name="Lane label 4"/>
          <p:cNvSpPr/>
          <p:nvPr/>
        </p:nvSpPr>
        <p:spPr>
          <a:xfrm>
            <a:off x="356616" y="3136391"/>
            <a:ext cx="1024128"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5F6368"/>
                </a:solidFill>
                <a:latin typeface="Google Sans Flex"/>
              </a:rPr>
              <a:t>Buyer</a:t>
            </a:r>
          </a:p>
        </p:txBody>
      </p:sp>
      <p:sp>
        <p:nvSpPr>
          <p:cNvPr id="102" name="Lane bg 5"/>
          <p:cNvSpPr/>
          <p:nvPr/>
        </p:nvSpPr>
        <p:spPr>
          <a:xfrm>
            <a:off x="356616" y="372160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Lane label 5"/>
          <p:cNvSpPr/>
          <p:nvPr/>
        </p:nvSpPr>
        <p:spPr>
          <a:xfrm>
            <a:off x="356616" y="3776472"/>
            <a:ext cx="1024128" cy="530352"/>
          </a:xfrm>
          <a:prstGeom prst="roundRect">
            <a:avLst>
              <a:gd name="adj" fmla="val 10344"/>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D93025"/>
                </a:solidFill>
                <a:latin typeface="Google Sans Flex"/>
              </a:rPr>
              <a:t>Payment &amp; courier</a:t>
            </a:r>
          </a:p>
        </p:txBody>
      </p:sp>
      <p:sp>
        <p:nvSpPr>
          <p:cNvPr id="104" name="Step 1"/>
          <p:cNvSpPr/>
          <p:nvPr/>
        </p:nvSpPr>
        <p:spPr>
          <a:xfrm>
            <a:off x="1517904"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1  </a:t>
            </a:r>
            <a:r>
              <a:rPr sz="750" b="0" i="0">
                <a:solidFill>
                  <a:srgbClr val="202124"/>
                </a:solidFill>
                <a:latin typeface="Google Sans Flex"/>
              </a:rPr>
              <a:t>Sends photos + voice note</a:t>
            </a:r>
          </a:p>
        </p:txBody>
      </p:sp>
      <p:sp>
        <p:nvSpPr>
          <p:cNvPr id="105" name="Step 2"/>
          <p:cNvSpPr/>
          <p:nvPr/>
        </p:nvSpPr>
        <p:spPr>
          <a:xfrm>
            <a:off x="23307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2  </a:t>
            </a:r>
            <a:r>
              <a:rPr sz="750" b="0" i="0">
                <a:solidFill>
                  <a:srgbClr val="202124"/>
                </a:solidFill>
                <a:latin typeface="Google Sans Flex"/>
              </a:rPr>
              <a:t>Gemini builds catalog, publishes it</a:t>
            </a:r>
          </a:p>
        </p:txBody>
      </p:sp>
      <p:sp>
        <p:nvSpPr>
          <p:cNvPr id="106" name="Step 3"/>
          <p:cNvSpPr/>
          <p:nvPr/>
        </p:nvSpPr>
        <p:spPr>
          <a:xfrm>
            <a:off x="31435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3  </a:t>
            </a:r>
            <a:r>
              <a:rPr sz="750" b="0" i="0">
                <a:solidFill>
                  <a:srgbClr val="202124"/>
                </a:solidFill>
                <a:latin typeface="Google Sans Flex"/>
              </a:rPr>
              <a:t>Asks agent for a product</a:t>
            </a:r>
          </a:p>
        </p:txBody>
      </p:sp>
      <p:sp>
        <p:nvSpPr>
          <p:cNvPr id="107" name="Step 4"/>
          <p:cNvSpPr/>
          <p:nvPr/>
        </p:nvSpPr>
        <p:spPr>
          <a:xfrm>
            <a:off x="3956304" y="2505456"/>
            <a:ext cx="721360" cy="512064"/>
          </a:xfrm>
          <a:prstGeom prst="roundRect">
            <a:avLst>
              <a:gd name="adj" fmla="val 10714"/>
            </a:avLst>
          </a:prstGeom>
          <a:solidFill>
            <a:srgbClr val="FFFFFF"/>
          </a:solidFill>
          <a:ln w="1270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B06000"/>
                </a:solidFill>
                <a:latin typeface="Google Sans Flex"/>
              </a:rPr>
              <a:t>4  </a:t>
            </a:r>
            <a:r>
              <a:rPr sz="750" b="0" i="0">
                <a:solidFill>
                  <a:srgbClr val="202124"/>
                </a:solidFill>
                <a:latin typeface="Google Sans Flex"/>
              </a:rPr>
              <a:t>Search &amp; checkout via UCP / MCP</a:t>
            </a:r>
          </a:p>
        </p:txBody>
      </p:sp>
      <p:sp>
        <p:nvSpPr>
          <p:cNvPr id="108" name="Step 5"/>
          <p:cNvSpPr/>
          <p:nvPr/>
        </p:nvSpPr>
        <p:spPr>
          <a:xfrm>
            <a:off x="47691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5  </a:t>
            </a:r>
            <a:r>
              <a:rPr sz="750" b="0" i="0">
                <a:solidFill>
                  <a:srgbClr val="202124"/>
                </a:solidFill>
                <a:latin typeface="Google Sans Flex"/>
              </a:rPr>
              <a:t>Reserves stock, courier rate, QRIS</a:t>
            </a:r>
          </a:p>
        </p:txBody>
      </p:sp>
      <p:sp>
        <p:nvSpPr>
          <p:cNvPr id="109" name="Step 6"/>
          <p:cNvSpPr/>
          <p:nvPr/>
        </p:nvSpPr>
        <p:spPr>
          <a:xfrm>
            <a:off x="55819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6  </a:t>
            </a:r>
            <a:r>
              <a:rPr sz="750" b="0" i="0">
                <a:solidFill>
                  <a:srgbClr val="202124"/>
                </a:solidFill>
                <a:latin typeface="Google Sans Flex"/>
              </a:rPr>
              <a:t>Pays with QRIS</a:t>
            </a:r>
          </a:p>
        </p:txBody>
      </p:sp>
      <p:sp>
        <p:nvSpPr>
          <p:cNvPr id="110" name="Step 7"/>
          <p:cNvSpPr/>
          <p:nvPr/>
        </p:nvSpPr>
        <p:spPr>
          <a:xfrm>
            <a:off x="63947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7  </a:t>
            </a:r>
            <a:r>
              <a:rPr sz="750" b="0" i="0">
                <a:solidFill>
                  <a:srgbClr val="202124"/>
                </a:solidFill>
                <a:latin typeface="Google Sans Flex"/>
              </a:rPr>
              <a:t>Payment confirmed (webhook)</a:t>
            </a:r>
          </a:p>
        </p:txBody>
      </p:sp>
      <p:sp>
        <p:nvSpPr>
          <p:cNvPr id="111" name="Step 8"/>
          <p:cNvSpPr/>
          <p:nvPr/>
        </p:nvSpPr>
        <p:spPr>
          <a:xfrm>
            <a:off x="7207503"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8  </a:t>
            </a:r>
            <a:r>
              <a:rPr sz="750" b="0" i="0">
                <a:solidFill>
                  <a:srgbClr val="202124"/>
                </a:solidFill>
                <a:latin typeface="Google Sans Flex"/>
              </a:rPr>
              <a:t>Accepts order in WhatsApp</a:t>
            </a:r>
          </a:p>
        </p:txBody>
      </p:sp>
      <p:sp>
        <p:nvSpPr>
          <p:cNvPr id="112" name="Step 9"/>
          <p:cNvSpPr/>
          <p:nvPr/>
        </p:nvSpPr>
        <p:spPr>
          <a:xfrm>
            <a:off x="80203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9  </a:t>
            </a:r>
            <a:r>
              <a:rPr sz="750" b="0" i="0">
                <a:solidFill>
                  <a:srgbClr val="202124"/>
                </a:solidFill>
                <a:latin typeface="Google Sans Flex"/>
              </a:rPr>
              <a:t>Courier pickup &amp; tracking</a:t>
            </a:r>
          </a:p>
        </p:txBody>
      </p:sp>
      <p:sp>
        <p:nvSpPr>
          <p:cNvPr id="113" name="Step 10"/>
          <p:cNvSpPr/>
          <p:nvPr/>
        </p:nvSpPr>
        <p:spPr>
          <a:xfrm>
            <a:off x="80203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10  Payout after the return window</a:t>
            </a:r>
          </a:p>
        </p:txBody>
      </p:sp>
      <p:cxnSp>
        <p:nvCxnSpPr>
          <p:cNvPr id="114" name="Connector 113"/>
          <p:cNvCxnSpPr/>
          <p:nvPr/>
        </p:nvCxnSpPr>
        <p:spPr>
          <a:xfrm>
            <a:off x="2239264" y="148132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520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864864" y="2761487"/>
            <a:ext cx="91440" cy="640081"/>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677664" y="2121408"/>
            <a:ext cx="91440" cy="640079"/>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4904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303264" y="340156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116064" y="1481328"/>
            <a:ext cx="91439"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928864" y="1481328"/>
            <a:ext cx="91440"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380983" y="2377440"/>
            <a:ext cx="0" cy="1408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356616" y="4425696"/>
            <a:ext cx="8430767" cy="274320"/>
          </a:xfrm>
          <a:prstGeom prst="rect">
            <a:avLst/>
          </a:prstGeom>
          <a:noFill/>
        </p:spPr>
        <p:txBody>
          <a:bodyPr wrap="square" lIns="18288" rIns="18288" tIns="18288" bIns="18288" anchor="t">
            <a:noAutofit/>
          </a:bodyPr>
          <a:lstStyle/>
          <a:p>
            <a:pPr algn="l"/>
            <a:r>
              <a:rPr sz="800" b="0" i="1">
                <a:solidFill>
                  <a:srgbClr val="5F6368"/>
                </a:solidFill>
                <a:latin typeface="Google Sans Flex"/>
              </a:rPr>
              <a:t>A buyer without an agent opens the store link and follows the same steps from 5. If stock confidence is low (stale or nearly sold out), the seller confirms stock before the QRIS link is sent. Stock reservations expire after 15 minutes if unpaid.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Phone 1"/>
          <p:cNvSpPr/>
          <p:nvPr/>
        </p:nvSpPr>
        <p:spPr>
          <a:xfrm>
            <a:off x="768096"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hone 1 header"/>
          <p:cNvSpPr/>
          <p:nvPr/>
        </p:nvSpPr>
        <p:spPr>
          <a:xfrm>
            <a:off x="822960"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1 · Seller onboarding (WhatsApp)</a:t>
            </a:r>
          </a:p>
        </p:txBody>
      </p:sp>
      <p:sp>
        <p:nvSpPr>
          <p:cNvPr id="106" name="Rounded Rectangle 105"/>
          <p:cNvSpPr/>
          <p:nvPr/>
        </p:nvSpPr>
        <p:spPr>
          <a:xfrm>
            <a:off x="1207007" y="1673352"/>
            <a:ext cx="1536192" cy="571500"/>
          </a:xfrm>
          <a:prstGeom prst="roundRect">
            <a:avLst>
              <a:gd name="adj" fmla="val 12800"/>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[5 product photos]</a:t>
            </a:r>
          </a:p>
          <a:p>
            <a:pPr algn="l"/>
            <a:r>
              <a:rPr sz="750" b="0" i="0">
                <a:solidFill>
                  <a:srgbClr val="202124"/>
                </a:solidFill>
                <a:latin typeface="Google Sans Flex"/>
              </a:rPr>
              <a:t>Voice note 0:18: “voal hijab, black 5, navy 3, 85 ribu”</a:t>
            </a:r>
          </a:p>
        </p:txBody>
      </p:sp>
      <p:sp>
        <p:nvSpPr>
          <p:cNvPr id="107" name="Rounded Rectangle 106"/>
          <p:cNvSpPr/>
          <p:nvPr/>
        </p:nvSpPr>
        <p:spPr>
          <a:xfrm>
            <a:off x="896112" y="2299716"/>
            <a:ext cx="1536192" cy="691515"/>
          </a:xfrm>
          <a:prstGeom prst="roundRect">
            <a:avLst>
              <a:gd name="adj" fmla="val 1057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Found 5 products</a:t>
            </a:r>
          </a:p>
          <a:p>
            <a:pPr algn="l"/>
            <a:r>
              <a:rPr sz="750" b="0" i="0">
                <a:solidFill>
                  <a:srgbClr val="202124"/>
                </a:solidFill>
                <a:latin typeface="Google Sans Flex"/>
              </a:rPr>
              <a:t>Voal Hijab: Black (5), Navy (3)</a:t>
            </a:r>
          </a:p>
          <a:p>
            <a:pPr algn="l"/>
            <a:r>
              <a:rPr sz="750" b="0" i="0">
                <a:solidFill>
                  <a:srgbClr val="202124"/>
                </a:solidFill>
                <a:latin typeface="Google Sans Flex"/>
              </a:rPr>
              <a:t>Rp85,000 · est. 150 g</a:t>
            </a:r>
          </a:p>
          <a:p>
            <a:pPr algn="l"/>
            <a:r>
              <a:rPr sz="750" b="0" i="0">
                <a:solidFill>
                  <a:srgbClr val="202124"/>
                </a:solidFill>
                <a:latin typeface="Google Sans Flex"/>
              </a:rPr>
              <a:t>Publish to AI agents?</a:t>
            </a:r>
          </a:p>
        </p:txBody>
      </p:sp>
      <p:sp>
        <p:nvSpPr>
          <p:cNvPr id="108" name="Rounded Rectangle 107"/>
          <p:cNvSpPr/>
          <p:nvPr/>
        </p:nvSpPr>
        <p:spPr>
          <a:xfrm>
            <a:off x="896112"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Publish</a:t>
            </a:r>
          </a:p>
        </p:txBody>
      </p:sp>
      <p:sp>
        <p:nvSpPr>
          <p:cNvPr id="109" name="Rounded Rectangle 108"/>
          <p:cNvSpPr/>
          <p:nvPr/>
        </p:nvSpPr>
        <p:spPr>
          <a:xfrm>
            <a:off x="1691640"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Edit</a:t>
            </a:r>
          </a:p>
        </p:txBody>
      </p:sp>
      <p:sp>
        <p:nvSpPr>
          <p:cNvPr id="110" name="Rounded Rectangle 109"/>
          <p:cNvSpPr/>
          <p:nvPr/>
        </p:nvSpPr>
        <p:spPr>
          <a:xfrm>
            <a:off x="896112" y="3320415"/>
            <a:ext cx="1536192" cy="331470"/>
          </a:xfrm>
          <a:prstGeom prst="roundRect">
            <a:avLst>
              <a:gd name="adj" fmla="val 2206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Your shop is live for AI agents. Readiness 86/100.</a:t>
            </a:r>
          </a:p>
        </p:txBody>
      </p:sp>
      <p:sp>
        <p:nvSpPr>
          <p:cNvPr id="111" name="Phone 2"/>
          <p:cNvSpPr/>
          <p:nvPr/>
        </p:nvSpPr>
        <p:spPr>
          <a:xfrm>
            <a:off x="3474720" y="1161288"/>
            <a:ext cx="2103120" cy="3529584"/>
          </a:xfrm>
          <a:prstGeom prst="roundRect">
            <a:avLst>
              <a:gd name="adj" fmla="val 8695"/>
            </a:avLst>
          </a:prstGeom>
          <a:solidFill>
            <a:srgbClr val="FFFFFF"/>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hone 2 header"/>
          <p:cNvSpPr/>
          <p:nvPr/>
        </p:nvSpPr>
        <p:spPr>
          <a:xfrm>
            <a:off x="3529584" y="1216152"/>
            <a:ext cx="1993391" cy="347472"/>
          </a:xfrm>
          <a:prstGeom prst="roundRect">
            <a:avLst>
              <a:gd name="adj" fmla="val 36842"/>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2 · Buyer's AI agent</a:t>
            </a:r>
          </a:p>
        </p:txBody>
      </p:sp>
      <p:sp>
        <p:nvSpPr>
          <p:cNvPr id="113" name="Rounded Rectangle 112"/>
          <p:cNvSpPr/>
          <p:nvPr/>
        </p:nvSpPr>
        <p:spPr>
          <a:xfrm>
            <a:off x="3913632" y="1673352"/>
            <a:ext cx="1536192" cy="451485"/>
          </a:xfrm>
          <a:prstGeom prst="roundRect">
            <a:avLst>
              <a:gd name="adj" fmla="val 162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Find a black voal hijab under Rp100k, ship to Bandung</a:t>
            </a:r>
          </a:p>
        </p:txBody>
      </p:sp>
      <p:sp>
        <p:nvSpPr>
          <p:cNvPr id="114" name="Rounded Rectangle 113"/>
          <p:cNvSpPr/>
          <p:nvPr/>
        </p:nvSpPr>
        <p:spPr>
          <a:xfrm>
            <a:off x="3602736" y="2179701"/>
            <a:ext cx="1536192" cy="451485"/>
          </a:xfrm>
          <a:prstGeom prst="roundRect">
            <a:avLst>
              <a:gd name="adj" fmla="val 1620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Voal Hijab Black from Toko Rina, Rp85,000. JNE REG Rp12,000 (2–3 days). Buy 2?</a:t>
            </a:r>
          </a:p>
        </p:txBody>
      </p:sp>
      <p:sp>
        <p:nvSpPr>
          <p:cNvPr id="115" name="Rounded Rectangle 114"/>
          <p:cNvSpPr/>
          <p:nvPr/>
        </p:nvSpPr>
        <p:spPr>
          <a:xfrm>
            <a:off x="4626864" y="2686050"/>
            <a:ext cx="822960" cy="211455"/>
          </a:xfrm>
          <a:prstGeom prst="roundRect">
            <a:avLst>
              <a:gd name="adj" fmla="val 3459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Yes, 2 pcs</a:t>
            </a:r>
          </a:p>
        </p:txBody>
      </p:sp>
      <p:sp>
        <p:nvSpPr>
          <p:cNvPr id="116" name="Rounded Rectangle 115"/>
          <p:cNvSpPr/>
          <p:nvPr/>
        </p:nvSpPr>
        <p:spPr>
          <a:xfrm>
            <a:off x="3602736" y="2952369"/>
            <a:ext cx="1536192" cy="331470"/>
          </a:xfrm>
          <a:prstGeom prst="roundRect">
            <a:avLst>
              <a:gd name="adj" fmla="val 22068"/>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Total Rp182,000. Stock reserved for 15 min.</a:t>
            </a:r>
          </a:p>
        </p:txBody>
      </p:sp>
      <p:sp>
        <p:nvSpPr>
          <p:cNvPr id="117" name="QR mock"/>
          <p:cNvSpPr/>
          <p:nvPr/>
        </p:nvSpPr>
        <p:spPr>
          <a:xfrm>
            <a:off x="3694176" y="3338702"/>
            <a:ext cx="566928" cy="566928"/>
          </a:xfrm>
          <a:prstGeom prst="rect">
            <a:avLst/>
          </a:prstGeom>
          <a:solidFill>
            <a:srgbClr val="FFFFFF"/>
          </a:solidFill>
          <a:ln w="1270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3758184"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3758184"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3913632" y="3558158"/>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4069080"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4069080"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334256" y="3338702"/>
            <a:ext cx="786384" cy="566928"/>
          </a:xfrm>
          <a:prstGeom prst="rect">
            <a:avLst/>
          </a:prstGeom>
          <a:noFill/>
        </p:spPr>
        <p:txBody>
          <a:bodyPr wrap="square" lIns="18288" rIns="18288" tIns="18288" bIns="18288" anchor="ctr">
            <a:noAutofit/>
          </a:bodyPr>
          <a:lstStyle/>
          <a:p>
            <a:pPr algn="l"/>
            <a:r>
              <a:rPr sz="750" b="1" i="0">
                <a:solidFill>
                  <a:srgbClr val="202124"/>
                </a:solidFill>
                <a:latin typeface="Google Sans Flex"/>
              </a:rPr>
              <a:t>QRIS
Scan to pay</a:t>
            </a:r>
          </a:p>
        </p:txBody>
      </p:sp>
      <p:sp>
        <p:nvSpPr>
          <p:cNvPr id="124" name="Phone 3"/>
          <p:cNvSpPr/>
          <p:nvPr/>
        </p:nvSpPr>
        <p:spPr>
          <a:xfrm>
            <a:off x="6181344"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hone 3 header"/>
          <p:cNvSpPr/>
          <p:nvPr/>
        </p:nvSpPr>
        <p:spPr>
          <a:xfrm>
            <a:off x="6236207"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3 · Seller order alert (WhatsApp)</a:t>
            </a:r>
          </a:p>
        </p:txBody>
      </p:sp>
      <p:sp>
        <p:nvSpPr>
          <p:cNvPr id="126" name="Rounded Rectangle 125"/>
          <p:cNvSpPr/>
          <p:nvPr/>
        </p:nvSpPr>
        <p:spPr>
          <a:xfrm>
            <a:off x="6309359" y="1673352"/>
            <a:ext cx="1536192" cy="571500"/>
          </a:xfrm>
          <a:prstGeom prst="roundRect">
            <a:avLst>
              <a:gd name="adj" fmla="val 128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New paid order</a:t>
            </a:r>
          </a:p>
          <a:p>
            <a:pPr algn="l"/>
            <a:r>
              <a:rPr sz="750" b="0" i="0">
                <a:solidFill>
                  <a:srgbClr val="202124"/>
                </a:solidFill>
                <a:latin typeface="Google Sans Flex"/>
              </a:rPr>
              <a:t>Voal Hijab Black × 2</a:t>
            </a:r>
          </a:p>
          <a:p>
            <a:pPr algn="l"/>
            <a:r>
              <a:rPr sz="750" b="0" i="0">
                <a:solidFill>
                  <a:srgbClr val="202124"/>
                </a:solidFill>
                <a:latin typeface="Google Sans Flex"/>
              </a:rPr>
              <a:t>Rp170,000 · ship to Bandung</a:t>
            </a:r>
          </a:p>
        </p:txBody>
      </p:sp>
      <p:sp>
        <p:nvSpPr>
          <p:cNvPr id="127" name="Rounded Rectangle 126"/>
          <p:cNvSpPr/>
          <p:nvPr/>
        </p:nvSpPr>
        <p:spPr>
          <a:xfrm>
            <a:off x="6309359"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Accept</a:t>
            </a:r>
          </a:p>
        </p:txBody>
      </p:sp>
      <p:sp>
        <p:nvSpPr>
          <p:cNvPr id="128" name="Rounded Rectangle 127"/>
          <p:cNvSpPr/>
          <p:nvPr/>
        </p:nvSpPr>
        <p:spPr>
          <a:xfrm>
            <a:off x="7104888"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Out of stock</a:t>
            </a:r>
          </a:p>
        </p:txBody>
      </p:sp>
      <p:sp>
        <p:nvSpPr>
          <p:cNvPr id="129" name="Rounded Rectangle 128"/>
          <p:cNvSpPr/>
          <p:nvPr/>
        </p:nvSpPr>
        <p:spPr>
          <a:xfrm>
            <a:off x="6620255" y="2574036"/>
            <a:ext cx="1536192" cy="331470"/>
          </a:xfrm>
          <a:prstGeom prst="roundRect">
            <a:avLst>
              <a:gd name="adj" fmla="val 22068"/>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udah dikirim ya, resi JNE123456</a:t>
            </a:r>
          </a:p>
        </p:txBody>
      </p:sp>
      <p:sp>
        <p:nvSpPr>
          <p:cNvPr id="130" name="Rounded Rectangle 129"/>
          <p:cNvSpPr/>
          <p:nvPr/>
        </p:nvSpPr>
        <p:spPr>
          <a:xfrm>
            <a:off x="6309359" y="2960370"/>
            <a:ext cx="1536192" cy="451485"/>
          </a:xfrm>
          <a:prstGeom prst="roundRect">
            <a:avLst>
              <a:gd name="adj" fmla="val 16202"/>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Tracking saved. Payout Rp163,200 after the return window (4% fee).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Core container"/>
          <p:cNvSpPr/>
          <p:nvPr/>
        </p:nvSpPr>
        <p:spPr>
          <a:xfrm>
            <a:off x="2103120" y="1783080"/>
            <a:ext cx="4983480" cy="2788920"/>
          </a:xfrm>
          <a:prstGeom prst="roundRect">
            <a:avLst>
              <a:gd name="adj" fmla="val 459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240279" y="1837943"/>
            <a:ext cx="3200400" cy="274320"/>
          </a:xfrm>
          <a:prstGeom prst="rect">
            <a:avLst/>
          </a:prstGeom>
          <a:noFill/>
        </p:spPr>
        <p:txBody>
          <a:bodyPr wrap="square" lIns="18288" rIns="18288" tIns="18288" bIns="18288" anchor="t">
            <a:noAutofit/>
          </a:bodyPr>
          <a:lstStyle/>
          <a:p>
            <a:pPr algn="l"/>
            <a:r>
              <a:rPr sz="1000" b="1" i="0">
                <a:solidFill>
                  <a:srgbClr val="1A73E8"/>
                </a:solidFill>
                <a:latin typeface="Google Sans Flex"/>
              </a:rPr>
              <a:t>Etalase core · Cloud Run</a:t>
            </a:r>
          </a:p>
        </p:txBody>
      </p:sp>
      <p:sp>
        <p:nvSpPr>
          <p:cNvPr id="114" name="Core Input adapters"/>
          <p:cNvSpPr/>
          <p:nvPr/>
        </p:nvSpPr>
        <p:spPr>
          <a:xfrm>
            <a:off x="2240279"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Input adapters</a:t>
            </a:r>
          </a:p>
          <a:p>
            <a:pPr algn="ctr"/>
            <a:r>
              <a:rPr sz="750" b="0" i="0">
                <a:solidFill>
                  <a:srgbClr val="5F6368"/>
                </a:solidFill>
                <a:latin typeface="Google Sans Flex"/>
              </a:rPr>
              <a:t>WhatsApp · Instagram · CSV</a:t>
            </a:r>
          </a:p>
        </p:txBody>
      </p:sp>
      <p:sp>
        <p:nvSpPr>
          <p:cNvPr id="115" name="Core Agent gateway"/>
          <p:cNvSpPr/>
          <p:nvPr/>
        </p:nvSpPr>
        <p:spPr>
          <a:xfrm>
            <a:off x="4686300"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Agent gateway</a:t>
            </a:r>
          </a:p>
          <a:p>
            <a:pPr algn="ctr"/>
            <a:r>
              <a:rPr sz="750" b="0" i="0">
                <a:solidFill>
                  <a:srgbClr val="5F6368"/>
                </a:solidFill>
                <a:latin typeface="Google Sans Flex"/>
              </a:rPr>
              <a:t>MCP · UCP checkout · store link</a:t>
            </a:r>
          </a:p>
        </p:txBody>
      </p:sp>
      <p:sp>
        <p:nvSpPr>
          <p:cNvPr id="116" name="Core Seller agent"/>
          <p:cNvSpPr/>
          <p:nvPr/>
        </p:nvSpPr>
        <p:spPr>
          <a:xfrm>
            <a:off x="2240279"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Seller agent</a:t>
            </a:r>
          </a:p>
          <a:p>
            <a:pPr algn="ctr"/>
            <a:r>
              <a:rPr sz="750" b="0" i="0">
                <a:solidFill>
                  <a:srgbClr val="5F6368"/>
                </a:solidFill>
                <a:latin typeface="Google Sans Flex"/>
              </a:rPr>
              <a:t>ADK + Gemini</a:t>
            </a:r>
          </a:p>
        </p:txBody>
      </p:sp>
      <p:sp>
        <p:nvSpPr>
          <p:cNvPr id="117" name="Core Checkout &amp; orders"/>
          <p:cNvSpPr/>
          <p:nvPr/>
        </p:nvSpPr>
        <p:spPr>
          <a:xfrm>
            <a:off x="4686300"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Checkout &amp; orders</a:t>
            </a:r>
          </a:p>
          <a:p>
            <a:pPr algn="ctr"/>
            <a:r>
              <a:rPr sz="750" b="0" i="0">
                <a:solidFill>
                  <a:srgbClr val="5F6368"/>
                </a:solidFill>
                <a:latin typeface="Google Sans Flex"/>
              </a:rPr>
              <a:t>Reserve · confirm · payout</a:t>
            </a:r>
          </a:p>
        </p:txBody>
      </p:sp>
      <p:sp>
        <p:nvSpPr>
          <p:cNvPr id="118" name="Core Catalog &amp; stock"/>
          <p:cNvSpPr/>
          <p:nvPr/>
        </p:nvSpPr>
        <p:spPr>
          <a:xfrm>
            <a:off x="2240279"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Catalog &amp; stock</a:t>
            </a:r>
          </a:p>
          <a:p>
            <a:pPr algn="ctr"/>
            <a:r>
              <a:rPr sz="750" b="0" i="0">
                <a:solidFill>
                  <a:srgbClr val="5F6368"/>
                </a:solidFill>
                <a:latin typeface="Google Sans Flex"/>
              </a:rPr>
              <a:t>Single source of truth</a:t>
            </a:r>
          </a:p>
        </p:txBody>
      </p:sp>
      <p:sp>
        <p:nvSpPr>
          <p:cNvPr id="119" name="Core Event bus"/>
          <p:cNvSpPr/>
          <p:nvPr/>
        </p:nvSpPr>
        <p:spPr>
          <a:xfrm>
            <a:off x="4686300"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Event bus</a:t>
            </a:r>
          </a:p>
          <a:p>
            <a:pPr algn="ctr"/>
            <a:r>
              <a:rPr sz="750" b="0" i="0">
                <a:solidFill>
                  <a:srgbClr val="5F6368"/>
                </a:solidFill>
                <a:latin typeface="Google Sans Flex"/>
              </a:rPr>
              <a:t>In-process now · Pub/Sub in pilot</a:t>
            </a:r>
          </a:p>
        </p:txBody>
      </p:sp>
      <p:sp>
        <p:nvSpPr>
          <p:cNvPr id="120" name="Core Firestore"/>
          <p:cNvSpPr/>
          <p:nvPr/>
        </p:nvSpPr>
        <p:spPr>
          <a:xfrm>
            <a:off x="2240279"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Firestore</a:t>
            </a:r>
          </a:p>
          <a:p>
            <a:pPr algn="ctr"/>
            <a:r>
              <a:rPr sz="750" b="0" i="0">
                <a:solidFill>
                  <a:srgbClr val="5F6368"/>
                </a:solidFill>
                <a:latin typeface="Google Sans Flex"/>
              </a:rPr>
              <a:t>Transactions · per-seller keys</a:t>
            </a:r>
          </a:p>
        </p:txBody>
      </p:sp>
      <p:sp>
        <p:nvSpPr>
          <p:cNvPr id="121" name="Core Gemini on Vertex AI"/>
          <p:cNvSpPr/>
          <p:nvPr/>
        </p:nvSpPr>
        <p:spPr>
          <a:xfrm>
            <a:off x="4686300"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Gemini on Vertex AI</a:t>
            </a:r>
          </a:p>
          <a:p>
            <a:pPr algn="ctr"/>
            <a:r>
              <a:rPr sz="750" b="0" i="0">
                <a:solidFill>
                  <a:srgbClr val="5F6368"/>
                </a:solidFill>
                <a:latin typeface="Google Sans Flex"/>
              </a:rPr>
              <a:t>Vision · speech · structured output</a:t>
            </a:r>
          </a:p>
        </p:txBody>
      </p:sp>
      <p:sp>
        <p:nvSpPr>
          <p:cNvPr id="122" name="Buyer agent"/>
          <p:cNvSpPr/>
          <p:nvPr/>
        </p:nvSpPr>
        <p:spPr>
          <a:xfrm>
            <a:off x="4686300" y="1161288"/>
            <a:ext cx="2263140" cy="438912"/>
          </a:xfrm>
          <a:prstGeom prst="roundRect">
            <a:avLst>
              <a:gd name="adj" fmla="val 12500"/>
            </a:avLst>
          </a:prstGeom>
          <a:solidFill>
            <a:srgbClr val="FEF7E0"/>
          </a:solidFill>
          <a:ln w="952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Buyer's AI agent</a:t>
            </a:r>
          </a:p>
          <a:p>
            <a:pPr algn="ctr"/>
            <a:r>
              <a:rPr sz="750" b="0" i="0">
                <a:solidFill>
                  <a:srgbClr val="5F6368"/>
                </a:solidFill>
                <a:latin typeface="Google Sans Flex"/>
              </a:rPr>
              <a:t>Any MCP or UCP client (demo: Gemini)</a:t>
            </a:r>
          </a:p>
        </p:txBody>
      </p:sp>
      <p:cxnSp>
        <p:nvCxnSpPr>
          <p:cNvPr id="123" name="Connector 122"/>
          <p:cNvCxnSpPr/>
          <p:nvPr/>
        </p:nvCxnSpPr>
        <p:spPr>
          <a:xfrm>
            <a:off x="5817870" y="1600200"/>
            <a:ext cx="0" cy="566928"/>
          </a:xfrm>
          <a:prstGeom prst="line">
            <a:avLst/>
          </a:prstGeom>
          <a:ln w="12700">
            <a:solidFill>
              <a:srgbClr val="B06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356616" y="1783080"/>
            <a:ext cx="1554480" cy="274320"/>
          </a:xfrm>
          <a:prstGeom prst="rect">
            <a:avLst/>
          </a:prstGeom>
          <a:noFill/>
        </p:spPr>
        <p:txBody>
          <a:bodyPr wrap="square" lIns="18288" rIns="18288" tIns="18288" bIns="18288" anchor="t">
            <a:noAutofit/>
          </a:bodyPr>
          <a:lstStyle/>
          <a:p>
            <a:pPr algn="l"/>
            <a:r>
              <a:rPr sz="900" b="1" i="0">
                <a:solidFill>
                  <a:srgbClr val="188038"/>
                </a:solidFill>
                <a:latin typeface="Google Sans Flex"/>
              </a:rPr>
              <a:t>Seller inputs</a:t>
            </a:r>
          </a:p>
        </p:txBody>
      </p:sp>
      <p:sp>
        <p:nvSpPr>
          <p:cNvPr id="125" name="Source WhatsApp &amp; Instagram"/>
          <p:cNvSpPr/>
          <p:nvPr/>
        </p:nvSpPr>
        <p:spPr>
          <a:xfrm>
            <a:off x="356616" y="2167128"/>
            <a:ext cx="1481328" cy="512064"/>
          </a:xfrm>
          <a:prstGeom prst="roundRect">
            <a:avLst>
              <a:gd name="adj" fmla="val 10714"/>
            </a:avLst>
          </a:prstGeom>
          <a:solidFill>
            <a:srgbClr val="E6F4EA"/>
          </a:solidFill>
          <a:ln w="952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Instagram</a:t>
            </a:r>
          </a:p>
          <a:p>
            <a:pPr algn="ctr"/>
            <a:r>
              <a:rPr sz="750" b="0" i="0">
                <a:solidFill>
                  <a:srgbClr val="5F6368"/>
                </a:solidFill>
                <a:latin typeface="Google Sans Flex"/>
              </a:rPr>
              <a:t>Chat · voice · IG posts</a:t>
            </a:r>
          </a:p>
        </p:txBody>
      </p:sp>
      <p:cxnSp>
        <p:nvCxnSpPr>
          <p:cNvPr id="126" name="Connector 125"/>
          <p:cNvCxnSpPr/>
          <p:nvPr/>
        </p:nvCxnSpPr>
        <p:spPr>
          <a:xfrm>
            <a:off x="1837944" y="2423160"/>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Source Google Sheets"/>
          <p:cNvSpPr/>
          <p:nvPr/>
        </p:nvSpPr>
        <p:spPr>
          <a:xfrm>
            <a:off x="356616" y="2770632"/>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Google Sheets</a:t>
            </a:r>
          </a:p>
          <a:p>
            <a:pPr algn="ctr"/>
            <a:r>
              <a:rPr sz="750" b="0" i="0">
                <a:solidFill>
                  <a:srgbClr val="5F6368"/>
                </a:solidFill>
                <a:latin typeface="Google Sans Flex"/>
              </a:rPr>
              <a:t>OAuth + Picker</a:t>
            </a:r>
          </a:p>
        </p:txBody>
      </p:sp>
      <p:cxnSp>
        <p:nvCxnSpPr>
          <p:cNvPr id="128" name="Connector 127"/>
          <p:cNvCxnSpPr/>
          <p:nvPr/>
        </p:nvCxnSpPr>
        <p:spPr>
          <a:xfrm>
            <a:off x="1837944" y="3026664"/>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Source OMS"/>
          <p:cNvSpPr/>
          <p:nvPr/>
        </p:nvSpPr>
        <p:spPr>
          <a:xfrm>
            <a:off x="356616" y="3374136"/>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a:t>
            </a:r>
          </a:p>
          <a:p>
            <a:pPr algn="ctr"/>
            <a:r>
              <a:rPr sz="750" b="0" i="0">
                <a:solidFill>
                  <a:srgbClr val="5F6368"/>
                </a:solidFill>
                <a:latin typeface="Google Sans Flex"/>
              </a:rPr>
              <a:t>Jubelio · Ginee</a:t>
            </a:r>
          </a:p>
        </p:txBody>
      </p:sp>
      <p:cxnSp>
        <p:nvCxnSpPr>
          <p:cNvPr id="130" name="Connector 129"/>
          <p:cNvCxnSpPr/>
          <p:nvPr/>
        </p:nvCxnSpPr>
        <p:spPr>
          <a:xfrm>
            <a:off x="1837944" y="3630168"/>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Source E-commerce plugin"/>
          <p:cNvSpPr/>
          <p:nvPr/>
        </p:nvSpPr>
        <p:spPr>
          <a:xfrm>
            <a:off x="356616" y="3977639"/>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E-commerce plugin</a:t>
            </a:r>
          </a:p>
          <a:p>
            <a:pPr algn="ctr"/>
            <a:r>
              <a:rPr sz="750" b="0" i="0">
                <a:solidFill>
                  <a:srgbClr val="5F6368"/>
                </a:solidFill>
                <a:latin typeface="Google Sans Flex"/>
              </a:rPr>
              <a:t>WooCommerce · websites</a:t>
            </a:r>
          </a:p>
        </p:txBody>
      </p:sp>
      <p:cxnSp>
        <p:nvCxnSpPr>
          <p:cNvPr id="132" name="Connector 131"/>
          <p:cNvCxnSpPr/>
          <p:nvPr/>
        </p:nvCxnSpPr>
        <p:spPr>
          <a:xfrm>
            <a:off x="1837944" y="4233672"/>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7287768" y="1783080"/>
            <a:ext cx="1554480" cy="274320"/>
          </a:xfrm>
          <a:prstGeom prst="rect">
            <a:avLst/>
          </a:prstGeom>
          <a:noFill/>
        </p:spPr>
        <p:txBody>
          <a:bodyPr wrap="square" lIns="18288" rIns="18288" tIns="18288" bIns="18288" anchor="t">
            <a:noAutofit/>
          </a:bodyPr>
          <a:lstStyle/>
          <a:p>
            <a:pPr algn="l"/>
            <a:r>
              <a:rPr sz="900" b="1" i="0">
                <a:solidFill>
                  <a:srgbClr val="D93025"/>
                </a:solidFill>
                <a:latin typeface="Google Sans Flex"/>
              </a:rPr>
              <a:t>External services</a:t>
            </a:r>
          </a:p>
        </p:txBody>
      </p:sp>
      <p:sp>
        <p:nvSpPr>
          <p:cNvPr id="134" name="External Payment"/>
          <p:cNvSpPr/>
          <p:nvPr/>
        </p:nvSpPr>
        <p:spPr>
          <a:xfrm>
            <a:off x="7306056" y="2167128"/>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Payment</a:t>
            </a:r>
          </a:p>
          <a:p>
            <a:pPr algn="ctr"/>
            <a:r>
              <a:rPr sz="750" b="0" i="0">
                <a:solidFill>
                  <a:srgbClr val="5F6368"/>
                </a:solidFill>
                <a:latin typeface="Google Sans Flex"/>
              </a:rPr>
              <a:t>Xendit QRIS (mock in demo)</a:t>
            </a:r>
          </a:p>
        </p:txBody>
      </p:sp>
      <p:cxnSp>
        <p:nvCxnSpPr>
          <p:cNvPr id="135" name="Connector 134"/>
          <p:cNvCxnSpPr/>
          <p:nvPr/>
        </p:nvCxnSpPr>
        <p:spPr>
          <a:xfrm>
            <a:off x="7086600" y="2423160"/>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6" name="External Shipping"/>
          <p:cNvSpPr/>
          <p:nvPr/>
        </p:nvSpPr>
        <p:spPr>
          <a:xfrm>
            <a:off x="7306056" y="2770632"/>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Shipping</a:t>
            </a:r>
          </a:p>
          <a:p>
            <a:pPr algn="ctr"/>
            <a:r>
              <a:rPr sz="750" b="0" i="0">
                <a:solidFill>
                  <a:srgbClr val="5F6368"/>
                </a:solidFill>
                <a:latin typeface="Google Sans Flex"/>
              </a:rPr>
              <a:t>Biteship (mock in demo)</a:t>
            </a:r>
          </a:p>
        </p:txBody>
      </p:sp>
      <p:cxnSp>
        <p:nvCxnSpPr>
          <p:cNvPr id="137" name="Connector 136"/>
          <p:cNvCxnSpPr/>
          <p:nvPr/>
        </p:nvCxnSpPr>
        <p:spPr>
          <a:xfrm>
            <a:off x="7086600" y="3026664"/>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External WhatsApp Cloud API"/>
          <p:cNvSpPr/>
          <p:nvPr/>
        </p:nvSpPr>
        <p:spPr>
          <a:xfrm>
            <a:off x="7306056" y="3374136"/>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Telegram</a:t>
            </a:r>
          </a:p>
          <a:p>
            <a:pPr algn="ctr"/>
            <a:r>
              <a:rPr sz="750" b="0" i="0">
                <a:solidFill>
                  <a:srgbClr val="5F6368"/>
                </a:solidFill>
                <a:latin typeface="Google Sans Flex"/>
              </a:rPr>
              <a:t>Alerts &amp; seller chat</a:t>
            </a:r>
          </a:p>
        </p:txBody>
      </p:sp>
      <p:cxnSp>
        <p:nvCxnSpPr>
          <p:cNvPr id="139" name="Connector 138"/>
          <p:cNvCxnSpPr/>
          <p:nvPr/>
        </p:nvCxnSpPr>
        <p:spPr>
          <a:xfrm>
            <a:off x="7086600" y="3630168"/>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External OMS / e-commerce"/>
          <p:cNvSpPr/>
          <p:nvPr/>
        </p:nvSpPr>
        <p:spPr>
          <a:xfrm>
            <a:off x="7306056" y="3977639"/>
            <a:ext cx="1481328" cy="512064"/>
          </a:xfrm>
          <a:prstGeom prst="roundRect">
            <a:avLst>
              <a:gd name="adj" fmla="val 10714"/>
            </a:avLst>
          </a:prstGeom>
          <a:solidFill>
            <a:srgbClr val="FFFFFF"/>
          </a:solidFill>
          <a:ln w="9525">
            <a:solidFill>
              <a:srgbClr val="D9302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 / e-commerce</a:t>
            </a:r>
          </a:p>
          <a:p>
            <a:pPr algn="ctr"/>
            <a:r>
              <a:rPr sz="750" b="0" i="0">
                <a:solidFill>
                  <a:srgbClr val="5F6368"/>
                </a:solidFill>
                <a:latin typeface="Google Sans Flex"/>
              </a:rPr>
              <a:t>Order &amp; stock sync</a:t>
            </a:r>
          </a:p>
        </p:txBody>
      </p:sp>
      <p:cxnSp>
        <p:nvCxnSpPr>
          <p:cNvPr id="141" name="Connector 140"/>
          <p:cNvCxnSpPr/>
          <p:nvPr/>
        </p:nvCxnSpPr>
        <p:spPr>
          <a:xfrm>
            <a:off x="7086600" y="4233672"/>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356616" y="4626864"/>
            <a:ext cx="8430767" cy="256032"/>
          </a:xfrm>
          <a:prstGeom prst="rect">
            <a:avLst/>
          </a:prstGeom>
          <a:noFill/>
        </p:spPr>
        <p:txBody>
          <a:bodyPr wrap="square" lIns="18288" rIns="18288" tIns="18288" bIns="18288" anchor="t">
            <a:noAutofit/>
          </a:bodyPr>
          <a:lstStyle/>
          <a:p>
            <a:pPr algn="l"/>
            <a:r>
              <a:rPr sz="800" b="0" i="1">
                <a:solidFill>
                  <a:srgbClr val="5F6368"/>
                </a:solidFill>
                <a:latin typeface="Google Sans Flex"/>
              </a:rPr>
              <a:t>Solid = hackathon MVP · dashed = roadmap. Country pack = { currency, payment, shipping, tax } adapters: a new market adds one config entry, not a new core. Each seller has one stock owner: Etalase, the OMS or the store.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920"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AI &amp; agents</a:t>
            </a:r>
          </a:p>
          <a:p>
            <a:pPr algn="l" marL="128016" indent="-128016">
              <a:spcAft>
                <a:spcPts val="400"/>
              </a:spcAft>
              <a:buClr>
                <a:srgbClr val="1A73E8"/>
              </a:buClr>
              <a:buFont typeface="Arial"/>
              <a:buChar char="•"/>
            </a:pPr>
            <a:r>
              <a:rPr sz="1000" b="0" i="0">
                <a:solidFill>
                  <a:srgbClr val="202124"/>
                </a:solidFill>
                <a:latin typeface="Google Sans Flex"/>
              </a:rPr>
              <a:t>Gemini on Vertex AI: photos, voice and text to catalog with structured output</a:t>
            </a:r>
          </a:p>
          <a:p>
            <a:pPr algn="l" marL="128016" indent="-128016">
              <a:spcAft>
                <a:spcPts val="400"/>
              </a:spcAft>
              <a:buClr>
                <a:srgbClr val="1A73E8"/>
              </a:buClr>
              <a:buFont typeface="Arial"/>
              <a:buChar char="•"/>
            </a:pPr>
            <a:r>
              <a:rPr sz="1000" b="0" i="0">
                <a:solidFill>
                  <a:srgbClr val="202124"/>
                </a:solidFill>
                <a:latin typeface="Google Sans Flex"/>
              </a:rPr>
              <a:t>ADK seller agent with tenant-scoped tools</a:t>
            </a:r>
          </a:p>
          <a:p>
            <a:pPr algn="l" marL="128016" indent="-128016">
              <a:spcAft>
                <a:spcPts val="400"/>
              </a:spcAft>
              <a:buClr>
                <a:srgbClr val="1A73E8"/>
              </a:buClr>
              <a:buFont typeface="Arial"/>
              <a:buChar char="•"/>
            </a:pPr>
            <a:r>
              <a:rPr sz="1000" b="0" i="0">
                <a:solidFill>
                  <a:srgbClr val="202124"/>
                </a:solidFill>
                <a:latin typeface="Google Sans Flex"/>
              </a:rPr>
              <a:t>ADK buyer agent calling our MCP tools (demo)</a:t>
            </a:r>
          </a:p>
        </p:txBody>
      </p:sp>
      <p:sp>
        <p:nvSpPr>
          <p:cNvPr id="122" name="Tech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374136"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B06000"/>
                </a:solidFill>
                <a:latin typeface="Google Sans Flex"/>
              </a:rPr>
              <a:t>Agentic commerce</a:t>
            </a:r>
          </a:p>
          <a:p>
            <a:pPr algn="l" marL="128016" indent="-128016">
              <a:spcAft>
                <a:spcPts val="400"/>
              </a:spcAft>
              <a:buClr>
                <a:srgbClr val="B06000"/>
              </a:buClr>
              <a:buFont typeface="Arial"/>
              <a:buChar char="•"/>
            </a:pPr>
            <a:r>
              <a:rPr sz="1000" b="0" i="0">
                <a:solidFill>
                  <a:srgbClr val="202124"/>
                </a:solidFill>
                <a:latin typeface="Google Sans Flex"/>
              </a:rPr>
              <a:t>MCP server: search, shipping, checkout, status</a:t>
            </a:r>
          </a:p>
          <a:p>
            <a:pPr algn="l" marL="128016" indent="-128016">
              <a:spcAft>
                <a:spcPts val="400"/>
              </a:spcAft>
              <a:buClr>
                <a:srgbClr val="B06000"/>
              </a:buClr>
              <a:buFont typeface="Arial"/>
              <a:buChar char="•"/>
            </a:pPr>
            <a:r>
              <a:rPr sz="1000" b="0" i="0">
                <a:solidFill>
                  <a:srgbClr val="202124"/>
                </a:solidFill>
                <a:latin typeface="Google Sans Flex"/>
              </a:rPr>
              <a:t>UCP profile and checkout API (/ucp/v1)</a:t>
            </a:r>
          </a:p>
          <a:p>
            <a:pPr algn="l" marL="128016" indent="-128016">
              <a:spcAft>
                <a:spcPts val="400"/>
              </a:spcAft>
              <a:buClr>
                <a:srgbClr val="B06000"/>
              </a:buClr>
              <a:buFont typeface="Arial"/>
              <a:buChar char="•"/>
            </a:pPr>
            <a:r>
              <a:rPr sz="1000" b="0" i="0">
                <a:solidFill>
                  <a:srgbClr val="202124"/>
                </a:solidFill>
                <a:latin typeface="Google Sans Flex"/>
              </a:rPr>
              <a:t>schema.org data and store link</a:t>
            </a:r>
          </a:p>
          <a:p>
            <a:pPr algn="l" marL="128016" indent="-128016">
              <a:spcAft>
                <a:spcPts val="400"/>
              </a:spcAft>
              <a:buClr>
                <a:srgbClr val="B06000"/>
              </a:buClr>
              <a:buFont typeface="Arial"/>
              <a:buChar char="•"/>
            </a:pPr>
            <a:r>
              <a:rPr sz="1000" b="0" i="0">
                <a:solidFill>
                  <a:srgbClr val="202124"/>
                </a:solidFill>
                <a:latin typeface="Google Sans Flex"/>
              </a:rPr>
              <a:t>Next: Merchant Center feed, AP2 payments</a:t>
            </a:r>
          </a:p>
        </p:txBody>
      </p:sp>
      <p:sp>
        <p:nvSpPr>
          <p:cNvPr id="124" name="Tech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245352"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Google Cloud runtime</a:t>
            </a:r>
          </a:p>
          <a:p>
            <a:pPr algn="l" marL="128016" indent="-128016">
              <a:spcAft>
                <a:spcPts val="400"/>
              </a:spcAft>
              <a:buClr>
                <a:srgbClr val="1A73E8"/>
              </a:buClr>
              <a:buFont typeface="Arial"/>
              <a:buChar char="•"/>
            </a:pPr>
            <a:r>
              <a:rPr sz="1000" b="0" i="0">
                <a:solidFill>
                  <a:srgbClr val="202124"/>
                </a:solidFill>
                <a:latin typeface="Google Sans Flex"/>
              </a:rPr>
              <a:t>Cloud Run: API, MCP, webhooks, dashboard</a:t>
            </a:r>
          </a:p>
          <a:p>
            <a:pPr algn="l" marL="128016" indent="-128016">
              <a:spcAft>
                <a:spcPts val="400"/>
              </a:spcAft>
              <a:buClr>
                <a:srgbClr val="1A73E8"/>
              </a:buClr>
              <a:buFont typeface="Arial"/>
              <a:buChar char="•"/>
            </a:pPr>
            <a:r>
              <a:rPr sz="1000" b="0" i="0">
                <a:solidFill>
                  <a:srgbClr val="202124"/>
                </a:solidFill>
                <a:latin typeface="Google Sans Flex"/>
              </a:rPr>
              <a:t>Firestore store with transactions</a:t>
            </a:r>
          </a:p>
          <a:p>
            <a:pPr algn="l" marL="128016" indent="-128016">
              <a:spcAft>
                <a:spcPts val="400"/>
              </a:spcAft>
              <a:buClr>
                <a:srgbClr val="1A73E8"/>
              </a:buClr>
              <a:buFont typeface="Arial"/>
              <a:buChar char="•"/>
            </a:pPr>
            <a:r>
              <a:rPr sz="1000" b="0" i="0">
                <a:solidFill>
                  <a:srgbClr val="202124"/>
                </a:solidFill>
                <a:latin typeface="Google Sans Flex"/>
              </a:rPr>
              <a:t>Secret Manager for every key</a:t>
            </a:r>
          </a:p>
          <a:p>
            <a:pPr algn="l" marL="128016" indent="-128016">
              <a:spcAft>
                <a:spcPts val="400"/>
              </a:spcAft>
              <a:buClr>
                <a:srgbClr val="1A73E8"/>
              </a:buClr>
              <a:buFont typeface="Arial"/>
              <a:buChar char="•"/>
            </a:pPr>
            <a:r>
              <a:rPr sz="1000" b="0" i="0">
                <a:solidFill>
                  <a:srgbClr val="202124"/>
                </a:solidFill>
                <a:latin typeface="Google Sans Flex"/>
              </a:rPr>
              <a:t>Pilot: Pub/Sub, Cloud Tasks, Storage, KMS</a:t>
            </a:r>
          </a:p>
        </p:txBody>
      </p:sp>
      <p:sp>
        <p:nvSpPr>
          <p:cNvPr id="126" name="Tech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02920"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88038"/>
                </a:solidFill>
                <a:latin typeface="Google Sans Flex"/>
              </a:rPr>
              <a:t>Integrations</a:t>
            </a:r>
          </a:p>
          <a:p>
            <a:pPr algn="l" marL="128016" indent="-128016">
              <a:spcAft>
                <a:spcPts val="400"/>
              </a:spcAft>
              <a:buClr>
                <a:srgbClr val="188038"/>
              </a:buClr>
              <a:buFont typeface="Arial"/>
              <a:buChar char="•"/>
            </a:pPr>
            <a:r>
              <a:rPr sz="1000" b="0" i="0">
                <a:solidFill>
                  <a:srgbClr val="202124"/>
                </a:solidFill>
                <a:latin typeface="Google Sans Flex"/>
              </a:rPr>
              <a:t>WhatsApp Cloud API and Telegram Bot API</a:t>
            </a:r>
          </a:p>
          <a:p>
            <a:pPr algn="l" marL="128016" indent="-128016">
              <a:spcAft>
                <a:spcPts val="400"/>
              </a:spcAft>
              <a:buClr>
                <a:srgbClr val="188038"/>
              </a:buClr>
              <a:buFont typeface="Arial"/>
              <a:buChar char="•"/>
            </a:pPr>
            <a:r>
              <a:rPr sz="1000" b="0" i="0">
                <a:solidFill>
                  <a:srgbClr val="202124"/>
                </a:solidFill>
                <a:latin typeface="Google Sans Flex"/>
              </a:rPr>
              <a:t>Xendit QRIS and Biteship adapters</a:t>
            </a:r>
          </a:p>
          <a:p>
            <a:pPr algn="l" marL="128016" indent="-128016">
              <a:spcAft>
                <a:spcPts val="400"/>
              </a:spcAft>
              <a:buClr>
                <a:srgbClr val="188038"/>
              </a:buClr>
              <a:buFont typeface="Arial"/>
              <a:buChar char="•"/>
            </a:pPr>
            <a:r>
              <a:rPr sz="1000" b="0" i="0">
                <a:solidFill>
                  <a:srgbClr val="202124"/>
                </a:solidFill>
                <a:latin typeface="Google Sans Flex"/>
              </a:rPr>
              <a:t>Instagram API (catalog import)</a:t>
            </a:r>
          </a:p>
          <a:p>
            <a:pPr algn="l" marL="128016" indent="-128016">
              <a:spcAft>
                <a:spcPts val="400"/>
              </a:spcAft>
              <a:buClr>
                <a:srgbClr val="188038"/>
              </a:buClr>
              <a:buFont typeface="Arial"/>
              <a:buChar char="•"/>
            </a:pPr>
            <a:r>
              <a:rPr sz="1000" b="0" i="0">
                <a:solidFill>
                  <a:srgbClr val="202124"/>
                </a:solidFill>
                <a:latin typeface="Google Sans Flex"/>
              </a:rPr>
              <a:t>OpenAPI Connector API</a:t>
            </a:r>
          </a:p>
        </p:txBody>
      </p:sp>
      <p:sp>
        <p:nvSpPr>
          <p:cNvPr id="128" name="Tech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374136"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5F6368"/>
                </a:solidFill>
                <a:latin typeface="Google Sans Flex"/>
              </a:rPr>
              <a:t>Seller dashboard</a:t>
            </a:r>
          </a:p>
          <a:p>
            <a:pPr algn="l" marL="128016" indent="-128016">
              <a:spcAft>
                <a:spcPts val="400"/>
              </a:spcAft>
              <a:buClr>
                <a:srgbClr val="5F6368"/>
              </a:buClr>
              <a:buFont typeface="Arial"/>
              <a:buChar char="•"/>
            </a:pPr>
            <a:r>
              <a:rPr sz="1000" b="0" i="0">
                <a:solidFill>
                  <a:srgbClr val="202124"/>
                </a:solidFill>
                <a:latin typeface="Google Sans Flex"/>
              </a:rPr>
              <a:t>Lightweight web dashboard on Cloud Run</a:t>
            </a:r>
          </a:p>
          <a:p>
            <a:pPr algn="l" marL="128016" indent="-128016">
              <a:spcAft>
                <a:spcPts val="400"/>
              </a:spcAft>
              <a:buClr>
                <a:srgbClr val="5F6368"/>
              </a:buClr>
              <a:buFont typeface="Arial"/>
              <a:buChar char="•"/>
            </a:pPr>
            <a:r>
              <a:rPr sz="1000" b="0" i="0">
                <a:solidFill>
                  <a:srgbClr val="202124"/>
                </a:solidFill>
                <a:latin typeface="Google Sans Flex"/>
              </a:rPr>
              <a:t>One-time-code sign-in over chat</a:t>
            </a:r>
          </a:p>
          <a:p>
            <a:pPr algn="l" marL="128016" indent="-128016">
              <a:spcAft>
                <a:spcPts val="400"/>
              </a:spcAft>
              <a:buClr>
                <a:srgbClr val="5F6368"/>
              </a:buClr>
              <a:buFont typeface="Arial"/>
              <a:buChar char="•"/>
            </a:pPr>
            <a:r>
              <a:rPr sz="1000" b="0" i="0">
                <a:solidFill>
                  <a:srgbClr val="202124"/>
                </a:solidFill>
                <a:latin typeface="Google Sans Flex"/>
              </a:rPr>
              <a:t>Readiness, orders, returns, payouts</a:t>
            </a:r>
          </a:p>
        </p:txBody>
      </p:sp>
      <p:sp>
        <p:nvSpPr>
          <p:cNvPr id="130" name="Tech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45352"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D93025"/>
                </a:solidFill>
                <a:latin typeface="Google Sans Flex"/>
              </a:rPr>
              <a:t>Security &amp; operations</a:t>
            </a:r>
          </a:p>
          <a:p>
            <a:pPr algn="l" marL="128016" indent="-128016">
              <a:spcAft>
                <a:spcPts val="400"/>
              </a:spcAft>
              <a:buClr>
                <a:srgbClr val="D93025"/>
              </a:buClr>
              <a:buFont typeface="Arial"/>
              <a:buChar char="•"/>
            </a:pPr>
            <a:r>
              <a:rPr sz="1000" b="0" i="0">
                <a:solidFill>
                  <a:srgbClr val="202124"/>
                </a:solidFill>
                <a:latin typeface="Google Sans Flex"/>
              </a:rPr>
              <a:t>Tenant isolation, including AI context</a:t>
            </a:r>
          </a:p>
          <a:p>
            <a:pPr algn="l" marL="128016" indent="-128016">
              <a:spcAft>
                <a:spcPts val="400"/>
              </a:spcAft>
              <a:buClr>
                <a:srgbClr val="D93025"/>
              </a:buClr>
              <a:buFont typeface="Arial"/>
              <a:buChar char="•"/>
            </a:pPr>
            <a:r>
              <a:rPr sz="1000" b="0" i="0">
                <a:solidFill>
                  <a:srgbClr val="202124"/>
                </a:solidFill>
                <a:latin typeface="Google Sans Flex"/>
              </a:rPr>
              <a:t>Signed webhooks, fail-closed startup checks</a:t>
            </a:r>
          </a:p>
          <a:p>
            <a:pPr algn="l" marL="128016" indent="-128016">
              <a:spcAft>
                <a:spcPts val="400"/>
              </a:spcAft>
              <a:buClr>
                <a:srgbClr val="D93025"/>
              </a:buClr>
              <a:buFont typeface="Arial"/>
              <a:buChar char="•"/>
            </a:pPr>
            <a:r>
              <a:rPr sz="1000" b="0" i="0">
                <a:solidFill>
                  <a:srgbClr val="202124"/>
                </a:solidFill>
                <a:latin typeface="Google Sans Flex"/>
              </a:rPr>
              <a:t>Rate limits, OTP lockout, CSP</a:t>
            </a:r>
          </a:p>
          <a:p>
            <a:pPr algn="l" marL="128016" indent="-128016">
              <a:spcAft>
                <a:spcPts val="400"/>
              </a:spcAft>
              <a:buClr>
                <a:srgbClr val="D93025"/>
              </a:buClr>
              <a:buFont typeface="Arial"/>
              <a:buChar char="•"/>
            </a:pPr>
            <a:r>
              <a:rPr sz="1000" b="0" i="0">
                <a:solidFill>
                  <a:srgbClr val="202124"/>
                </a:solidFill>
                <a:latin typeface="Google Sans Flex"/>
              </a:rPr>
              <a:t>Built with Indonesia's PDP Law in mind</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56616" y="1161288"/>
            <a:ext cx="8430767" cy="274320"/>
          </a:xfrm>
          <a:prstGeom prst="rect">
            <a:avLst/>
          </a:prstGeom>
          <a:noFill/>
        </p:spPr>
        <p:txBody>
          <a:bodyPr wrap="square" lIns="18288" rIns="18288" tIns="18288" bIns="18288" anchor="t">
            <a:noAutofit/>
          </a:bodyPr>
          <a:lstStyle/>
          <a:p>
            <a:pPr algn="l"/>
            <a:r>
              <a:rPr sz="950" b="1" i="0">
                <a:solidFill>
                  <a:srgbClr val="202124"/>
                </a:solidFill>
                <a:latin typeface="Google Sans Flex"/>
              </a:rPr>
              <a:t>Pilot assumption: </a:t>
            </a:r>
            <a:r>
              <a:rPr sz="950" b="0" i="0">
                <a:solidFill>
                  <a:srgbClr val="202124"/>
                </a:solidFill>
                <a:latin typeface="Google Sans Flex"/>
              </a:rPr>
              <a:t>100 sellers · 3,000 products · 1,000 orders per month. Rough estimates, to be validated with the Google Cloud Pricing Calculator.</a:t>
            </a:r>
          </a:p>
        </p:txBody>
      </p:sp>
      <p:graphicFrame>
        <p:nvGraphicFramePr>
          <p:cNvPr id="129" name="Table 128"/>
          <p:cNvGraphicFramePr>
            <a:graphicFrameLocks noGrp="1"/>
          </p:cNvGraphicFramePr>
          <p:nvPr/>
        </p:nvGraphicFramePr>
        <p:xfrm>
          <a:off x="356616" y="1536192"/>
          <a:ext cx="5623560" cy="2743200"/>
        </p:xfrm>
        <a:graphic>
          <a:graphicData uri="http://schemas.openxmlformats.org/drawingml/2006/table">
            <a:tbl>
              <a:tblPr/>
              <a:tblGrid>
                <a:gridCol w="1828800"/>
                <a:gridCol w="2697480"/>
                <a:gridCol w="1097280"/>
              </a:tblGrid>
              <a:tr h="310896">
                <a:tc>
                  <a:txBody>
                    <a:bodyPr wrap="square" lIns="64008" rIns="64008" tIns="27432" bIns="27432" anchor="ctr">
                      <a:noAutofit/>
                    </a:bodyPr>
                    <a:lstStyle/>
                    <a:p>
                      <a:pPr algn="l"/>
                      <a:r>
                        <a:rPr sz="900" b="1" i="0">
                          <a:solidFill>
                            <a:srgbClr val="FFFFFF"/>
                          </a:solidFill>
                          <a:latin typeface="Google Sans Flex"/>
                        </a:rPr>
                        <a:t>Component</a:t>
                      </a:r>
                    </a:p>
                  </a:txBody>
                  <a:tcPr anchor="ctr">
                    <a:solidFill>
                      <a:srgbClr val="202124"/>
                    </a:solidFill>
                  </a:tcPr>
                </a:tc>
                <a:tc>
                  <a:txBody>
                    <a:bodyPr wrap="square" lIns="64008" rIns="64008" tIns="27432" bIns="27432" anchor="ctr">
                      <a:noAutofit/>
                    </a:bodyPr>
                    <a:lstStyle/>
                    <a:p>
                      <a:pPr algn="l"/>
                      <a:r>
                        <a:rPr sz="900" b="1" i="0">
                          <a:solidFill>
                            <a:srgbClr val="FFFFFF"/>
                          </a:solidFill>
                          <a:latin typeface="Google Sans Flex"/>
                        </a:rPr>
                        <a:t>Basis</a:t>
                      </a:r>
                    </a:p>
                  </a:txBody>
                  <a:tcPr anchor="ctr">
                    <a:solidFill>
                      <a:srgbClr val="202124"/>
                    </a:solidFill>
                  </a:tcPr>
                </a:tc>
                <a:tc>
                  <a:txBody>
                    <a:bodyPr wrap="square" lIns="64008" rIns="64008" tIns="27432" bIns="27432" anchor="ctr">
                      <a:noAutofit/>
                    </a:bodyPr>
                    <a:lstStyle/>
                    <a:p>
                      <a:pPr algn="r"/>
                      <a:r>
                        <a:rPr sz="900" b="1" i="0">
                          <a:solidFill>
                            <a:srgbClr val="FFFFFF"/>
                          </a:solidFill>
                          <a:latin typeface="Google Sans Flex"/>
                        </a:rPr>
                        <a:t>Est. / month</a:t>
                      </a:r>
                    </a:p>
                  </a:txBody>
                  <a:tcPr anchor="ctr">
                    <a:solidFill>
                      <a:srgbClr val="202124"/>
                    </a:solidFill>
                  </a:tcPr>
                </a:tc>
              </a:tr>
              <a:tr h="347472">
                <a:tc>
                  <a:txBody>
                    <a:bodyPr wrap="square" lIns="64008" rIns="64008" tIns="27432" bIns="27432" anchor="ctr">
                      <a:noAutofit/>
                    </a:bodyPr>
                    <a:lstStyle/>
                    <a:p>
                      <a:pPr algn="l"/>
                      <a:r>
                        <a:rPr sz="850" b="1" i="0">
                          <a:solidFill>
                            <a:srgbClr val="202124"/>
                          </a:solidFill>
                          <a:latin typeface="Google Sans Flex"/>
                        </a:rPr>
                        <a:t>Cloud Run, Firestore, Storage, Pub/Sub</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Low pilot traffic, mostly within free tiers</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US$10–30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Gemini on Vertex AI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~3,000 catalog extractions + ~2,000 seller-agent turns (buyers' agents run on their own models)</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US$15–60</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WhatsApp Cloud API</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~4 templates + 3–5 charged replies per order × 1,000 orders at ~IDR 357–460</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~US$160–260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Biteship</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Grow plan from 2 Nov 2026: Rp149,000 per month</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~US$9</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Payment-platform account</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Xendit xenPlatform: Rp25,000 per active seller per month (unconfirmed)</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~US$155</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QRIS payments</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MDR 0% to Rp100k (all) or Rp500k (micro), else 0.7%; fixed gateway fee, if any, paid by buyer</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Pass-through</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Total platform cost</a:t>
                      </a:r>
                    </a:p>
                  </a:txBody>
                  <a:tcPr anchor="ctr">
                    <a:solidFill>
                      <a:srgbClr val="E8F0FE"/>
                    </a:solidFill>
                  </a:tcPr>
                </a:tc>
                <a:tc>
                  <a:txBody>
                    <a:bodyPr wrap="square" lIns="64008" rIns="64008" tIns="27432" bIns="27432" anchor="ctr">
                      <a:noAutofit/>
                    </a:bodyPr>
                    <a:lstStyle/>
                    <a:p>
                      <a:pPr algn="l"/>
                      <a:r>
                        <a:rPr sz="850" b="1" i="0">
                          <a:solidFill>
                            <a:srgbClr val="202124"/>
                          </a:solidFill>
                          <a:latin typeface="Google Sans Flex"/>
                        </a:rPr>
                        <a:t/>
                      </a:r>
                    </a:p>
                  </a:txBody>
                  <a:tcPr anchor="ctr">
                    <a:solidFill>
                      <a:srgbClr val="E8F0FE"/>
                    </a:solidFill>
                  </a:tcPr>
                </a:tc>
                <a:tc>
                  <a:txBody>
                    <a:bodyPr wrap="square" lIns="64008" rIns="64008" tIns="27432" bIns="27432" anchor="ctr">
                      <a:noAutofit/>
                    </a:bodyPr>
                    <a:lstStyle/>
                    <a:p>
                      <a:pPr algn="r"/>
                      <a:r>
                        <a:rPr sz="850" b="1" i="0">
                          <a:solidFill>
                            <a:srgbClr val="202124"/>
                          </a:solidFill>
                          <a:latin typeface="Google Sans Flex"/>
                        </a:rPr>
                        <a:t>≈ US$350–520</a:t>
                      </a:r>
                    </a:p>
                  </a:txBody>
                  <a:tcPr anchor="ctr">
                    <a:solidFill>
                      <a:srgbClr val="E8F0FE"/>
                    </a:solidFill>
                  </a:tcPr>
                </a:tc>
              </a:tr>
            </a:tbl>
          </a:graphicData>
        </a:graphic>
      </p:graphicFrame>
      <p:sp>
        <p:nvSpPr>
          <p:cNvPr id="130" name="Unit economics"/>
          <p:cNvSpPr/>
          <p:nvPr/>
        </p:nvSpPr>
        <p:spPr>
          <a:xfrm>
            <a:off x="6208776" y="1536192"/>
            <a:ext cx="2578607" cy="2432304"/>
          </a:xfrm>
          <a:prstGeom prst="roundRect">
            <a:avLst>
              <a:gd name="adj" fmla="val 3007"/>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345936" y="1627632"/>
            <a:ext cx="2304287" cy="274320"/>
          </a:xfrm>
          <a:prstGeom prst="rect">
            <a:avLst/>
          </a:prstGeom>
          <a:noFill/>
        </p:spPr>
        <p:txBody>
          <a:bodyPr wrap="square" lIns="18288" rIns="18288" tIns="18288" bIns="18288" anchor="t">
            <a:noAutofit/>
          </a:bodyPr>
          <a:lstStyle/>
          <a:p>
            <a:pPr algn="l"/>
            <a:r>
              <a:rPr sz="1000" b="1" i="0">
                <a:solidFill>
                  <a:srgbClr val="188038"/>
                </a:solidFill>
                <a:latin typeface="Google Sans Flex"/>
              </a:rPr>
              <a:t>Unit economics per order</a:t>
            </a:r>
          </a:p>
        </p:txBody>
      </p:sp>
      <p:sp>
        <p:nvSpPr>
          <p:cNvPr id="132" name="TextBox 131"/>
          <p:cNvSpPr txBox="1"/>
          <p:nvPr/>
        </p:nvSpPr>
        <p:spPr>
          <a:xfrm>
            <a:off x="6345936" y="1920240"/>
            <a:ext cx="2304287" cy="411480"/>
          </a:xfrm>
          <a:prstGeom prst="rect">
            <a:avLst/>
          </a:prstGeom>
          <a:noFill/>
        </p:spPr>
        <p:txBody>
          <a:bodyPr wrap="square" lIns="18288" rIns="18288" tIns="18288" bIns="18288" anchor="t">
            <a:noAutofit/>
          </a:bodyPr>
          <a:lstStyle/>
          <a:p>
            <a:pPr algn="l"/>
            <a:r>
              <a:rPr sz="2000" b="1" i="0">
                <a:solidFill>
                  <a:srgbClr val="202124"/>
                </a:solidFill>
                <a:latin typeface="Google Sans Flex"/>
              </a:rPr>
              <a:t>≈ IDR 5–7.6k</a:t>
            </a:r>
          </a:p>
        </p:txBody>
      </p:sp>
      <p:sp>
        <p:nvSpPr>
          <p:cNvPr id="133" name="TextBox 132"/>
          <p:cNvSpPr txBox="1"/>
          <p:nvPr/>
        </p:nvSpPr>
        <p:spPr>
          <a:xfrm>
            <a:off x="6345936" y="2304288"/>
            <a:ext cx="2304287" cy="365760"/>
          </a:xfrm>
          <a:prstGeom prst="rect">
            <a:avLst/>
          </a:prstGeom>
          <a:noFill/>
        </p:spPr>
        <p:txBody>
          <a:bodyPr wrap="square" lIns="18288" rIns="18288" tIns="18288" bIns="18288" anchor="t">
            <a:noAutofit/>
          </a:bodyPr>
          <a:lstStyle/>
          <a:p>
            <a:pPr algn="l"/>
            <a:r>
              <a:rPr sz="850" b="0" i="0">
                <a:solidFill>
                  <a:srgbClr val="5F6368"/>
                </a:solidFill>
                <a:latin typeface="Google Sans Flex"/>
              </a:rPr>
              <a:t>platform cost per order at 10 orders per seller, accounts included</a:t>
            </a:r>
          </a:p>
        </p:txBody>
      </p:sp>
      <p:sp>
        <p:nvSpPr>
          <p:cNvPr id="134" name="TextBox 133"/>
          <p:cNvSpPr txBox="1"/>
          <p:nvPr/>
        </p:nvSpPr>
        <p:spPr>
          <a:xfrm>
            <a:off x="6345936" y="2743200"/>
            <a:ext cx="2304287" cy="411480"/>
          </a:xfrm>
          <a:prstGeom prst="rect">
            <a:avLst/>
          </a:prstGeom>
          <a:noFill/>
        </p:spPr>
        <p:txBody>
          <a:bodyPr wrap="square" lIns="18288" rIns="18288" tIns="18288" bIns="18288" anchor="t">
            <a:noAutofit/>
          </a:bodyPr>
          <a:lstStyle/>
          <a:p>
            <a:pPr algn="l"/>
            <a:r>
              <a:rPr sz="2000" b="1" i="0">
                <a:solidFill>
                  <a:srgbClr val="188038"/>
                </a:solidFill>
                <a:latin typeface="Google Sans Flex"/>
              </a:rPr>
              <a:t>IDR 6.8k</a:t>
            </a:r>
          </a:p>
        </p:txBody>
      </p:sp>
      <p:sp>
        <p:nvSpPr>
          <p:cNvPr id="135" name="TextBox 134"/>
          <p:cNvSpPr txBox="1"/>
          <p:nvPr/>
        </p:nvSpPr>
        <p:spPr>
          <a:xfrm>
            <a:off x="6345936" y="3127248"/>
            <a:ext cx="2304287" cy="640080"/>
          </a:xfrm>
          <a:prstGeom prst="rect">
            <a:avLst/>
          </a:prstGeom>
          <a:noFill/>
        </p:spPr>
        <p:txBody>
          <a:bodyPr wrap="square" lIns="18288" rIns="18288" tIns="18288" bIns="18288" anchor="t">
            <a:noAutofit/>
          </a:bodyPr>
          <a:lstStyle/>
          <a:p>
            <a:pPr algn="l"/>
            <a:r>
              <a:rPr sz="850" b="0" i="0">
                <a:solidFill>
                  <a:srgbClr val="5F6368"/>
                </a:solidFill>
                <a:latin typeface="Google Sans Flex"/>
              </a:rPr>
              <a:t>commission at 4% on an IDR 170k order. Break-even is about 20 orders per seller per month, so we are testing a minimum fee.</a:t>
            </a:r>
          </a:p>
        </p:txBody>
      </p:sp>
      <p:sp>
        <p:nvSpPr>
          <p:cNvPr id="136" name="TextBox 135"/>
          <p:cNvSpPr txBox="1"/>
          <p:nvPr/>
        </p:nvSpPr>
        <p:spPr>
          <a:xfrm>
            <a:off x="356616" y="4600000"/>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Price references: Meta WhatsApp pricing (service and in-window utility replies charged from 1 Oct 2026 per Meta's newer page, to be re-confirmed; Indonesian rate via Qontak); Biteship and Xendit price pages (account fee unconfirmed); Bank Indonesia QRIS MDR release; Vertex AI Gemini list prices. FX: US$1 ≈ IDR 16,000. Our arithmetic; Telegram has no per-message fee. Details: docs/10.</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Screenshots of the running prototype with mock payment and courier. Chat sign-up is built, the payment provider's identity check is not; the demo seller is ours. Product photos are synthetic samples.</a:t>
            </a:r>
          </a:p>
        </p:txBody>
      </p:sp>
      <p:sp>
        <p:nvSpPr>
          <p:cNvPr id="138" name="TextBox 137"/>
          <p:cNvSpPr txBox="1"/>
          <p:nvPr/>
        </p:nvSpPr>
        <p:spPr>
          <a:xfrm>
            <a:off x="356616"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Store link</a:t>
            </a:r>
          </a:p>
        </p:txBody>
      </p:sp>
      <p:sp>
        <p:nvSpPr>
          <p:cNvPr id="140" name="TextBox 139"/>
          <p:cNvSpPr txBox="1"/>
          <p:nvPr/>
        </p:nvSpPr>
        <p:spPr>
          <a:xfrm>
            <a:off x="1852808"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Product page</a:t>
            </a:r>
          </a:p>
        </p:txBody>
      </p:sp>
      <p:sp>
        <p:nvSpPr>
          <p:cNvPr id="142" name="TextBox 141"/>
          <p:cNvSpPr txBox="1"/>
          <p:nvPr/>
        </p:nvSpPr>
        <p:spPr>
          <a:xfrm>
            <a:off x="3349000"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Pay with QRIS</a:t>
            </a:r>
          </a:p>
        </p:txBody>
      </p:sp>
      <p:sp>
        <p:nvSpPr>
          <p:cNvPr id="147" name="Caption dashboard"/>
          <p:cNvSpPr txBox="1"/>
          <p:nvPr/>
        </p:nvSpPr>
        <p:spPr>
          <a:xfrm>
            <a:off x="4845192" y="4370832"/>
            <a:ext cx="3942191"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Seller dashboard</a:t>
            </a:r>
          </a:p>
        </p:txBody>
      </p:sp>
      <p:pic>
        <p:nvPicPr>
          <p:cNvPr id="143" name="Screenshot Store link" descr="Store link of the Etalase prototype"/>
          <p:cNvPicPr>
            <a:picLocks noChangeAspect="1"/>
          </p:cNvPicPr>
          <p:nvPr/>
        </p:nvPicPr>
        <p:blipFill>
          <a:blip r:embed="rId5"/>
          <a:stretch>
            <a:fillRect/>
          </a:stretch>
        </p:blipFill>
        <p:spPr>
          <a:xfrm>
            <a:off x="356616" y="1554480"/>
            <a:ext cx="1267592" cy="2743200"/>
          </a:xfrm>
          <a:prstGeom prst="rect">
            <a:avLst/>
          </a:prstGeom>
          <a:ln w="9525">
            <a:solidFill>
              <a:srgbClr val="C9D1D5"/>
            </a:solidFill>
          </a:ln>
        </p:spPr>
      </p:pic>
      <p:pic>
        <p:nvPicPr>
          <p:cNvPr id="144" name="Screenshot Product page" descr="Product page of the Etalase prototype"/>
          <p:cNvPicPr>
            <a:picLocks noChangeAspect="1"/>
          </p:cNvPicPr>
          <p:nvPr/>
        </p:nvPicPr>
        <p:blipFill>
          <a:blip r:embed="rId6"/>
          <a:stretch>
            <a:fillRect/>
          </a:stretch>
        </p:blipFill>
        <p:spPr>
          <a:xfrm>
            <a:off x="1852808" y="1554480"/>
            <a:ext cx="1267592" cy="2743200"/>
          </a:xfrm>
          <a:prstGeom prst="rect">
            <a:avLst/>
          </a:prstGeom>
          <a:ln w="9525">
            <a:solidFill>
              <a:srgbClr val="C9D1D5"/>
            </a:solidFill>
          </a:ln>
        </p:spPr>
      </p:pic>
      <p:pic>
        <p:nvPicPr>
          <p:cNvPr id="145" name="Screenshot Pay with QRIS" descr="Pay with QRIS of the Etalase prototype"/>
          <p:cNvPicPr>
            <a:picLocks noChangeAspect="1"/>
          </p:cNvPicPr>
          <p:nvPr/>
        </p:nvPicPr>
        <p:blipFill>
          <a:blip r:embed="rId7"/>
          <a:stretch>
            <a:fillRect/>
          </a:stretch>
        </p:blipFill>
        <p:spPr>
          <a:xfrm>
            <a:off x="3349000" y="1554480"/>
            <a:ext cx="1267592" cy="2743200"/>
          </a:xfrm>
          <a:prstGeom prst="rect">
            <a:avLst/>
          </a:prstGeom>
          <a:ln w="9525">
            <a:solidFill>
              <a:srgbClr val="C9D1D5"/>
            </a:solidFill>
          </a:ln>
        </p:spPr>
      </p:pic>
      <p:pic>
        <p:nvPicPr>
          <p:cNvPr id="146" name="Screenshot Seller dashboard" descr="Seller dashboard of the Etalase prototype"/>
          <p:cNvPicPr>
            <a:picLocks noChangeAspect="1"/>
          </p:cNvPicPr>
          <p:nvPr/>
        </p:nvPicPr>
        <p:blipFill>
          <a:blip r:embed="rId8"/>
          <a:stretch>
            <a:fillRect/>
          </a:stretch>
        </p:blipFill>
        <p:spPr>
          <a:xfrm>
            <a:off x="4845192" y="1806899"/>
            <a:ext cx="3942191" cy="2238362"/>
          </a:xfrm>
          <a:prstGeom prst="rect">
            <a:avLst/>
          </a:prstGeom>
          <a:ln w="9525">
            <a:solidFill>
              <a:srgbClr val="C9D1D5"/>
            </a:solid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670+ automated tests pass (stock races, payments, returns, webhooks, OTP abuse), plus an end-to-end run over real HTTP and the official UCP conformance suite: 31 passed, 20 failed, 26 skipped. “Not measured” cells need the Gemini run on Cloud Run, which has not happened yet.</a:t>
            </a:r>
          </a:p>
        </p:txBody>
      </p:sp>
      <p:graphicFrame>
        <p:nvGraphicFramePr>
          <p:cNvPr id="145" name="Table 144"/>
          <p:cNvGraphicFramePr>
            <a:graphicFrameLocks noGrp="1"/>
          </p:cNvGraphicFramePr>
          <p:nvPr/>
        </p:nvGraphicFramePr>
        <p:xfrm>
          <a:off x="356616" y="1536192"/>
          <a:ext cx="8430767" cy="3383280"/>
        </p:xfrm>
        <a:graphic>
          <a:graphicData uri="http://schemas.openxmlformats.org/drawingml/2006/table">
            <a:tbl>
              <a:tblPr/>
              <a:tblGrid>
                <a:gridCol w="1874519"/>
                <a:gridCol w="2743200"/>
                <a:gridCol w="1664208"/>
                <a:gridCol w="2148840"/>
              </a:tblGrid>
              <a:tr h="310896">
                <a:tc>
                  <a:txBody>
                    <a:bodyPr wrap="square" lIns="73152" rIns="73152" tIns="27432" bIns="27432" anchor="ctr">
                      <a:noAutofit/>
                    </a:bodyPr>
                    <a:lstStyle/>
                    <a:p>
                      <a:pPr algn="l"/>
                      <a:r>
                        <a:rPr sz="950" b="1" i="0">
                          <a:solidFill>
                            <a:srgbClr val="FFFFFF"/>
                          </a:solidFill>
                          <a:latin typeface="Google Sans Flex"/>
                        </a:rPr>
                        <a:t>Metric</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How we measure</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Target</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Result</a:t>
                      </a:r>
                    </a:p>
                  </a:txBody>
                  <a:tcPr anchor="ctr">
                    <a:solidFill>
                      <a:srgbClr val="202124"/>
                    </a:solidFill>
                  </a:tcPr>
                </a:tc>
              </a:tr>
              <a:tr h="384048">
                <a:tc>
                  <a:txBody>
                    <a:bodyPr wrap="square" lIns="73152" rIns="73152" tIns="27432" bIns="27432" anchor="ctr">
                      <a:noAutofit/>
                    </a:bodyPr>
                    <a:lstStyle/>
                    <a:p>
                      <a:pPr algn="l"/>
                      <a:r>
                        <a:rPr sz="950" b="1" i="0">
                          <a:solidFill>
                            <a:srgbClr val="202124"/>
                          </a:solidFill>
                          <a:latin typeface="Google Sans Flex"/>
                        </a:rPr>
                        <a:t>Catalog extraction accuracy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43 labelled seller messages: title, variant, price, stock</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90% of fields correct</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Rules only: 21/43 fully correct. Gemini not run</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Catalog build time</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Photos + voice note to published product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&lt; 15 s per product</a:t>
                      </a:r>
                    </a:p>
                  </a:txBody>
                  <a:tcPr anchor="ctr">
                    <a:solidFill>
                      <a:srgbClr val="F8F9FA"/>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Agent tool latency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p95 of search_products and create_checkout</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2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Overselling under load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100 concurrent reservations for the last unit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0 units oversold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 (in-memory)</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Seller alert speed</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Payment webhook to WhatsApp message</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5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Duplicate &amp; late payments</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Same event twice; payment after expiry</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No double change; auto refund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Returns and the payout hold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before the payout; silent seller; parcel returned or lost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never depends on the seller</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Stock-update understanding</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Intent accuracy on seller stock messages</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95%</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cxnSp>
        <p:nvCxnSpPr>
          <p:cNvPr id="152" name="Connector 151"/>
          <p:cNvCxnSpPr/>
          <p:nvPr/>
        </p:nvCxnSpPr>
        <p:spPr>
          <a:xfrm>
            <a:off x="1348740" y="1344168"/>
            <a:ext cx="6446519" cy="0"/>
          </a:xfrm>
          <a:prstGeom prst="line">
            <a:avLst/>
          </a:prstGeom>
          <a:ln w="25400">
            <a:solidFill>
              <a:srgbClr val="DADCE0"/>
            </a:solidFill>
          </a:ln>
        </p:spPr>
        <p:style>
          <a:lnRef idx="2">
            <a:schemeClr val="accent1"/>
          </a:lnRef>
          <a:fillRef idx="0">
            <a:schemeClr val="accent1"/>
          </a:fillRef>
          <a:effectRef idx="1">
            <a:schemeClr val="accent1"/>
          </a:effectRef>
          <a:fontRef idx="minor">
            <a:schemeClr val="tx1"/>
          </a:fontRef>
        </p:style>
      </p:cxnSp>
      <p:sp>
        <p:nvSpPr>
          <p:cNvPr id="153" name="Phase dot 1"/>
          <p:cNvSpPr/>
          <p:nvPr/>
        </p:nvSpPr>
        <p:spPr>
          <a:xfrm>
            <a:off x="1165860" y="1161288"/>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1</a:t>
            </a:r>
          </a:p>
        </p:txBody>
      </p:sp>
      <p:sp>
        <p:nvSpPr>
          <p:cNvPr id="154" name="Phase card 1"/>
          <p:cNvSpPr/>
          <p:nvPr/>
        </p:nvSpPr>
        <p:spPr>
          <a:xfrm>
            <a:off x="35661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8463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A73E8"/>
                </a:solidFill>
                <a:latin typeface="Google Sans Flex"/>
              </a:rPr>
              <a:t>Hackathon MVP</a:t>
            </a:r>
          </a:p>
          <a:p>
            <a:pPr algn="l" marL="128016" indent="-128016">
              <a:spcAft>
                <a:spcPts val="500"/>
              </a:spcAft>
              <a:buClr>
                <a:srgbClr val="1A73E8"/>
              </a:buClr>
              <a:buFont typeface="Arial"/>
              <a:buChar char="•"/>
            </a:pPr>
            <a:r>
              <a:rPr sz="1000" b="0" i="0">
                <a:solidFill>
                  <a:srgbClr val="202124"/>
                </a:solidFill>
                <a:latin typeface="Google Sans Flex"/>
              </a:rPr>
              <a:t>WhatsApp, Telegram, Instagram, CSV</a:t>
            </a:r>
          </a:p>
          <a:p>
            <a:pPr algn="l" marL="128016" indent="-128016">
              <a:spcAft>
                <a:spcPts val="500"/>
              </a:spcAft>
              <a:buClr>
                <a:srgbClr val="1A73E8"/>
              </a:buClr>
              <a:buFont typeface="Arial"/>
              <a:buChar char="•"/>
            </a:pPr>
            <a:r>
              <a:rPr sz="1000" b="0" i="0">
                <a:solidFill>
                  <a:srgbClr val="202124"/>
                </a:solidFill>
                <a:latin typeface="Google Sans Flex"/>
              </a:rPr>
              <a:t>MCP and store links live; UCP built and tested</a:t>
            </a:r>
          </a:p>
          <a:p>
            <a:pPr algn="l" marL="128016" indent="-128016">
              <a:spcAft>
                <a:spcPts val="500"/>
              </a:spcAft>
              <a:buClr>
                <a:srgbClr val="1A73E8"/>
              </a:buClr>
              <a:buFont typeface="Arial"/>
              <a:buChar char="•"/>
            </a:pPr>
            <a:r>
              <a:rPr sz="1000" b="0" i="0">
                <a:solidFill>
                  <a:srgbClr val="202124"/>
                </a:solidFill>
                <a:latin typeface="Google Sans Flex"/>
              </a:rPr>
              <a:t>Demo buyer agent on Gemini (ADK)</a:t>
            </a:r>
          </a:p>
          <a:p>
            <a:pPr algn="l" marL="128016" indent="-128016">
              <a:spcAft>
                <a:spcPts val="500"/>
              </a:spcAft>
              <a:buClr>
                <a:srgbClr val="1A73E8"/>
              </a:buClr>
              <a:buFont typeface="Arial"/>
              <a:buChar char="•"/>
            </a:pPr>
            <a:r>
              <a:rPr sz="1000" b="0" i="0">
                <a:solidFill>
                  <a:srgbClr val="202124"/>
                </a:solidFill>
                <a:latin typeface="Google Sans Flex"/>
              </a:rPr>
              <a:t>Payout hold and returns; mock QRIS and courier</a:t>
            </a:r>
          </a:p>
        </p:txBody>
      </p:sp>
      <p:sp>
        <p:nvSpPr>
          <p:cNvPr id="156" name="Phase dot 2"/>
          <p:cNvSpPr/>
          <p:nvPr/>
        </p:nvSpPr>
        <p:spPr>
          <a:xfrm>
            <a:off x="3314700" y="1161288"/>
            <a:ext cx="365760" cy="365760"/>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2</a:t>
            </a:r>
          </a:p>
        </p:txBody>
      </p:sp>
      <p:sp>
        <p:nvSpPr>
          <p:cNvPr id="157" name="Phase card 2"/>
          <p:cNvSpPr/>
          <p:nvPr/>
        </p:nvSpPr>
        <p:spPr>
          <a:xfrm>
            <a:off x="250545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63347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88038"/>
                </a:solidFill>
                <a:latin typeface="Google Sans Flex"/>
              </a:rPr>
              <a:t>Indonesia pilot</a:t>
            </a:r>
          </a:p>
          <a:p>
            <a:pPr algn="l" marL="128016" indent="-128016">
              <a:spcAft>
                <a:spcPts val="500"/>
              </a:spcAft>
              <a:buClr>
                <a:srgbClr val="188038"/>
              </a:buClr>
              <a:buFont typeface="Arial"/>
              <a:buChar char="•"/>
            </a:pPr>
            <a:r>
              <a:rPr sz="1000" b="0" i="0">
                <a:solidFill>
                  <a:srgbClr val="202124"/>
                </a:solidFill>
                <a:latin typeface="Google Sans Flex"/>
              </a:rPr>
              <a:t>50–100 sellers onboarded</a:t>
            </a:r>
          </a:p>
          <a:p>
            <a:pPr algn="l" marL="128016" indent="-128016">
              <a:spcAft>
                <a:spcPts val="500"/>
              </a:spcAft>
              <a:buClr>
                <a:srgbClr val="188038"/>
              </a:buClr>
              <a:buFont typeface="Arial"/>
              <a:buChar char="•"/>
            </a:pPr>
            <a:r>
              <a:rPr sz="1000" b="0" i="0">
                <a:solidFill>
                  <a:srgbClr val="202124"/>
                </a:solidFill>
                <a:latin typeface="Google Sans Flex"/>
              </a:rPr>
              <a:t>Firestore, Pub/Sub, Cloud Tasks</a:t>
            </a:r>
          </a:p>
          <a:p>
            <a:pPr algn="l" marL="128016" indent="-128016">
              <a:spcAft>
                <a:spcPts val="500"/>
              </a:spcAft>
              <a:buClr>
                <a:srgbClr val="188038"/>
              </a:buClr>
              <a:buFont typeface="Arial"/>
              <a:buChar char="•"/>
            </a:pPr>
            <a:r>
              <a:rPr sz="1000" b="0" i="0">
                <a:solidFill>
                  <a:srgbClr val="202124"/>
                </a:solidFill>
                <a:latin typeface="Google Sans Flex"/>
              </a:rPr>
              <a:t>KYC and payouts via sub-accounts</a:t>
            </a:r>
          </a:p>
          <a:p>
            <a:pPr algn="l" marL="128016" indent="-128016">
              <a:spcAft>
                <a:spcPts val="500"/>
              </a:spcAft>
              <a:buClr>
                <a:srgbClr val="188038"/>
              </a:buClr>
              <a:buFont typeface="Arial"/>
              <a:buChar char="•"/>
            </a:pPr>
            <a:r>
              <a:rPr sz="1000" b="0" i="0">
                <a:solidFill>
                  <a:srgbClr val="202124"/>
                </a:solidFill>
                <a:latin typeface="Google Sans Flex"/>
              </a:rPr>
              <a:t>Sheets sync, Merchant Center feed</a:t>
            </a:r>
          </a:p>
        </p:txBody>
      </p:sp>
      <p:sp>
        <p:nvSpPr>
          <p:cNvPr id="159" name="Phase dot 3"/>
          <p:cNvSpPr/>
          <p:nvPr/>
        </p:nvSpPr>
        <p:spPr>
          <a:xfrm>
            <a:off x="5463540" y="1161288"/>
            <a:ext cx="365760" cy="365760"/>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3</a:t>
            </a:r>
          </a:p>
        </p:txBody>
      </p:sp>
      <p:sp>
        <p:nvSpPr>
          <p:cNvPr id="160" name="Phase card 3"/>
          <p:cNvSpPr/>
          <p:nvPr/>
        </p:nvSpPr>
        <p:spPr>
          <a:xfrm>
            <a:off x="465429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78231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B06000"/>
                </a:solidFill>
                <a:latin typeface="Google Sans Flex"/>
              </a:rPr>
              <a:t>More channels</a:t>
            </a:r>
          </a:p>
          <a:p>
            <a:pPr algn="l" marL="128016" indent="-128016">
              <a:spcAft>
                <a:spcPts val="500"/>
              </a:spcAft>
              <a:buClr>
                <a:srgbClr val="B06000"/>
              </a:buClr>
              <a:buFont typeface="Arial"/>
              <a:buChar char="•"/>
            </a:pPr>
            <a:r>
              <a:rPr sz="1000" b="0" i="0">
                <a:solidFill>
                  <a:srgbClr val="202124"/>
                </a:solidFill>
                <a:latin typeface="Google Sans Flex"/>
              </a:rPr>
              <a:t>OMS adapters: Jubelio, Ginee</a:t>
            </a:r>
          </a:p>
          <a:p>
            <a:pPr algn="l" marL="128016" indent="-128016">
              <a:spcAft>
                <a:spcPts val="500"/>
              </a:spcAft>
              <a:buClr>
                <a:srgbClr val="B06000"/>
              </a:buClr>
              <a:buFont typeface="Arial"/>
              <a:buChar char="•"/>
            </a:pPr>
            <a:r>
              <a:rPr sz="1000" b="0" i="0">
                <a:solidFill>
                  <a:srgbClr val="202124"/>
                </a:solidFill>
                <a:latin typeface="Google Sans Flex"/>
              </a:rPr>
              <a:t>E-commerce plugins, WooCommerce first</a:t>
            </a:r>
          </a:p>
          <a:p>
            <a:pPr algn="l" marL="128016" indent="-128016">
              <a:spcAft>
                <a:spcPts val="500"/>
              </a:spcAft>
              <a:buClr>
                <a:srgbClr val="B06000"/>
              </a:buClr>
              <a:buFont typeface="Arial"/>
              <a:buChar char="•"/>
            </a:pPr>
            <a:r>
              <a:rPr sz="1000" b="0" i="0">
                <a:solidFill>
                  <a:srgbClr val="202124"/>
                </a:solidFill>
                <a:latin typeface="Google Sans Flex"/>
              </a:rPr>
              <a:t>Shopee and TikTok Shop API sync</a:t>
            </a:r>
          </a:p>
          <a:p>
            <a:pPr algn="l" marL="128016" indent="-128016">
              <a:spcAft>
                <a:spcPts val="500"/>
              </a:spcAft>
              <a:buClr>
                <a:srgbClr val="B06000"/>
              </a:buClr>
              <a:buFont typeface="Arial"/>
              <a:buChar char="•"/>
            </a:pPr>
            <a:r>
              <a:rPr sz="1000" b="0" i="0">
                <a:solidFill>
                  <a:srgbClr val="202124"/>
                </a:solidFill>
                <a:latin typeface="Google Sans Flex"/>
              </a:rPr>
              <a:t>Sales analytics for sellers</a:t>
            </a:r>
          </a:p>
        </p:txBody>
      </p:sp>
      <p:sp>
        <p:nvSpPr>
          <p:cNvPr id="162" name="Phase dot 4"/>
          <p:cNvSpPr/>
          <p:nvPr/>
        </p:nvSpPr>
        <p:spPr>
          <a:xfrm>
            <a:off x="7612380" y="1161288"/>
            <a:ext cx="365760" cy="365760"/>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4</a:t>
            </a:r>
          </a:p>
        </p:txBody>
      </p:sp>
      <p:sp>
        <p:nvSpPr>
          <p:cNvPr id="163" name="Phase card 4"/>
          <p:cNvSpPr/>
          <p:nvPr/>
        </p:nvSpPr>
        <p:spPr>
          <a:xfrm>
            <a:off x="680313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93115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D93025"/>
                </a:solidFill>
                <a:latin typeface="Google Sans Flex"/>
              </a:rPr>
              <a:t>Regional</a:t>
            </a:r>
          </a:p>
          <a:p>
            <a:pPr algn="l" marL="128016" indent="-128016">
              <a:spcAft>
                <a:spcPts val="500"/>
              </a:spcAft>
              <a:buClr>
                <a:srgbClr val="D93025"/>
              </a:buClr>
              <a:buFont typeface="Arial"/>
              <a:buChar char="•"/>
            </a:pPr>
            <a:r>
              <a:rPr sz="1000" b="0" i="0">
                <a:solidFill>
                  <a:srgbClr val="202124"/>
                </a:solidFill>
                <a:latin typeface="Google Sans Flex"/>
              </a:rPr>
              <a:t>Country packs: MY, PH, TH, VN</a:t>
            </a:r>
          </a:p>
          <a:p>
            <a:pPr algn="l" marL="128016" indent="-128016">
              <a:spcAft>
                <a:spcPts val="500"/>
              </a:spcAft>
              <a:buClr>
                <a:srgbClr val="D93025"/>
              </a:buClr>
              <a:buFont typeface="Arial"/>
              <a:buChar char="•"/>
            </a:pPr>
            <a:r>
              <a:rPr sz="1000" b="0" i="0">
                <a:solidFill>
                  <a:srgbClr val="202124"/>
                </a:solidFill>
                <a:latin typeface="Google Sans Flex"/>
              </a:rPr>
              <a:t>More chat adapters: Instagram DMs, LINE, Zalo</a:t>
            </a:r>
          </a:p>
          <a:p>
            <a:pPr algn="l" marL="128016" indent="-128016">
              <a:spcAft>
                <a:spcPts val="500"/>
              </a:spcAft>
              <a:buClr>
                <a:srgbClr val="D93025"/>
              </a:buClr>
              <a:buFont typeface="Arial"/>
              <a:buChar char="•"/>
            </a:pPr>
            <a:r>
              <a:rPr sz="1000" b="0" i="0">
                <a:solidFill>
                  <a:srgbClr val="202124"/>
                </a:solidFill>
                <a:latin typeface="Google Sans Flex"/>
              </a:rPr>
              <a:t>Stripe in supported markets</a:t>
            </a:r>
          </a:p>
          <a:p>
            <a:pPr algn="l" marL="128016" indent="-128016">
              <a:spcAft>
                <a:spcPts val="500"/>
              </a:spcAft>
              <a:buClr>
                <a:srgbClr val="D93025"/>
              </a:buClr>
              <a:buFont typeface="Arial"/>
              <a:buChar char="•"/>
            </a:pPr>
            <a:r>
              <a:rPr sz="1000" b="0" i="0">
                <a:solidFill>
                  <a:srgbClr val="202124"/>
                </a:solidFill>
                <a:latin typeface="Google Sans Flex"/>
              </a:rPr>
              <a:t>Cross-border shipping and duties</a:t>
            </a:r>
          </a:p>
        </p:txBody>
      </p:sp>
      <p:sp>
        <p:nvSpPr>
          <p:cNvPr id="165" name="Validation card"/>
          <p:cNvSpPr/>
          <p:nvPr/>
        </p:nvSpPr>
        <p:spPr>
          <a:xfrm>
            <a:off x="356616" y="3950208"/>
            <a:ext cx="8430767" cy="850391"/>
          </a:xfrm>
          <a:prstGeom prst="roundRect">
            <a:avLst>
              <a:gd name="adj" fmla="val 86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noAutofit/>
          </a:bodyPr>
          <a:lstStyle/>
          <a:p>
            <a:pPr algn="l">
              <a:spcAft>
                <a:spcPts val="300"/>
              </a:spcAft>
            </a:pPr>
            <a:r>
              <a:rPr sz="1000" b="1" i="0">
                <a:solidFill>
                  <a:srgbClr val="B06000"/>
                </a:solidFill>
                <a:latin typeface="Google Sans Flex"/>
              </a:rPr>
              <a:t>What we will validate next</a:t>
            </a:r>
          </a:p>
          <a:p>
            <a:pPr algn="l"/>
            <a:r>
              <a:rPr sz="900" b="0" i="0">
                <a:solidFill>
                  <a:srgbClr val="202124"/>
                </a:solidFill>
                <a:latin typeface="Google Sans Flex"/>
              </a:rPr>
              <a:t>Ten seller interviews: willingness to pay and to wait for the payout, orders per month (break-even ≈ 20), return rates · whether the payment provider can enforce the payout hold, and its legal classification · which door buyers use (recorded per order: store link, MCP, UCP) · UCP timing in Indonesia · extraction quality with Gemini</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1"/>
          <p:cNvSpPr/>
          <p:nvPr/>
        </p:nvSpPr>
        <p:spPr>
          <a:xfrm>
            <a:off x="356616" y="12527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539496" y="12527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GitHub public repository</a:t>
            </a:r>
          </a:p>
        </p:txBody>
      </p:sp>
      <p:sp>
        <p:nvSpPr>
          <p:cNvPr id="162" name="TextBox 161"/>
          <p:cNvSpPr txBox="1"/>
          <p:nvPr/>
        </p:nvSpPr>
        <p:spPr>
          <a:xfrm>
            <a:off x="3374136" y="12527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github.com/galihsatriawan/etalase</a:t>
            </a:r>
          </a:p>
        </p:txBody>
      </p:sp>
      <p:sp>
        <p:nvSpPr>
          <p:cNvPr id="163" name="Link row 2"/>
          <p:cNvSpPr/>
          <p:nvPr/>
        </p:nvSpPr>
        <p:spPr>
          <a:xfrm>
            <a:off x="356616" y="19385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39496" y="19385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Demo video (3 minutes)</a:t>
            </a:r>
          </a:p>
        </p:txBody>
      </p:sp>
      <p:sp>
        <p:nvSpPr>
          <p:cNvPr id="165" name="TextBox 164"/>
          <p:cNvSpPr txBox="1"/>
          <p:nvPr/>
        </p:nvSpPr>
        <p:spPr>
          <a:xfrm>
            <a:off x="3374136" y="19385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YouTube / Drive link]</a:t>
            </a:r>
          </a:p>
        </p:txBody>
      </p:sp>
      <p:sp>
        <p:nvSpPr>
          <p:cNvPr id="166" name="Link row 3"/>
          <p:cNvSpPr/>
          <p:nvPr/>
        </p:nvSpPr>
        <p:spPr>
          <a:xfrm>
            <a:off x="356616" y="26243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539496" y="26243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Final product link</a:t>
            </a:r>
          </a:p>
        </p:txBody>
      </p:sp>
      <p:sp>
        <p:nvSpPr>
          <p:cNvPr id="168" name="TextBox 167"/>
          <p:cNvSpPr txBox="1"/>
          <p:nvPr/>
        </p:nvSpPr>
        <p:spPr>
          <a:xfrm>
            <a:off x="3374136" y="26243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Cloud Run URL]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