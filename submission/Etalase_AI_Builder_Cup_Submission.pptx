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6.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59" r:id="rId4"/>
  </p:sldMasterIdLst>
  <p:notesMasterIdLst>
    <p:notesMasterId r:id="rId5"/>
  </p:notesMasterIdLst>
  <p:sldIdLst>
    <p:sldId id="256" r:id="rId6"/>
    <p:sldId id="258" r:id="rId8"/>
    <p:sldId id="259" r:id="rId9"/>
    <p:sldId id="260" r:id="rId10"/>
    <p:sldId id="261" r:id="rId11"/>
    <p:sldId id="262" r:id="rId12"/>
    <p:sldId id="263" r:id="rId13"/>
    <p:sldId id="264" r:id="rId14"/>
    <p:sldId id="265" r:id="rId15"/>
    <p:sldId id="266" r:id="rId16"/>
    <p:sldId id="267" r:id="rId17"/>
    <p:sldId id="268" r:id="rId18"/>
    <p:sldId id="269" r:id="rId19"/>
    <p:sldId id="271" r:id="rId21"/>
  </p:sldIdLst>
  <p:sldSz cy="5143500" cx="9144000"/>
  <p:notesSz cx="6858000" cy="9144000"/>
  <p:embeddedFontLst>
    <p:embeddedFont>
      <p:font typeface="Google Sans Flex Medium"/>
      <p:regular r:id="rId22"/>
      <p:bold r:id="rId23"/>
    </p:embeddedFont>
    <p:embeddedFont>
      <p:font typeface="Google Sans Flex"/>
      <p:regular r:id="rId24"/>
      <p:bold r:id="rId25"/>
    </p:embeddedFont>
    <p:embeddedFont>
      <p:font typeface="Google Sans Flex SemiBold"/>
      <p:regular r:id="rId26"/>
      <p:bold r:id="rId27"/>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font" Target="fonts/GoogleSansFlexMedium-regular.fntdata"/><Relationship Id="rId23" Type="http://schemas.openxmlformats.org/officeDocument/2006/relationships/font" Target="fonts/GoogleSansFlexMedium-bold.fntdata"/><Relationship Id="rId24" Type="http://schemas.openxmlformats.org/officeDocument/2006/relationships/font" Target="fonts/GoogleSansFlex-regular.fntdata"/><Relationship Id="rId25" Type="http://schemas.openxmlformats.org/officeDocument/2006/relationships/font" Target="fonts/GoogleSansFlex-bold.fntdata"/><Relationship Id="rId26" Type="http://schemas.openxmlformats.org/officeDocument/2006/relationships/font" Target="fonts/GoogleSansFlexSemiBold-regular.fntdata"/><Relationship Id="rId27" Type="http://schemas.openxmlformats.org/officeDocument/2006/relationships/font" Target="fonts/GoogleSansFlexSemiBold-bold.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 name="Shape 50"/>
        <p:cNvGrpSpPr/>
        <p:nvPr/>
      </p:nvGrpSpPr>
      <p:grpSpPr>
        <a:xfrm>
          <a:off x="0" y="0"/>
          <a:ext cx="0" cy="0"/>
          <a:chOff x="0" y="0"/>
          <a:chExt cx="0" cy="0"/>
        </a:xfrm>
      </p:grpSpPr>
      <p:sp>
        <p:nvSpPr>
          <p:cNvPr id="51" name="Google Shape;51;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52" name="Google Shape;52;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 name="Shape 65"/>
        <p:cNvGrpSpPr/>
        <p:nvPr/>
      </p:nvGrpSpPr>
      <p:grpSpPr>
        <a:xfrm>
          <a:off x="0" y="0"/>
          <a:ext cx="0" cy="0"/>
          <a:chOff x="0" y="0"/>
          <a:chExt cx="0" cy="0"/>
        </a:xfrm>
      </p:grpSpPr>
      <p:sp>
        <p:nvSpPr>
          <p:cNvPr id="66" name="Google Shape;66;g3fb085bff3c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7" name="Google Shape;67;g3fb085bff3c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2" name="Shape 72"/>
        <p:cNvGrpSpPr/>
        <p:nvPr/>
      </p:nvGrpSpPr>
      <p:grpSpPr>
        <a:xfrm>
          <a:off x="0" y="0"/>
          <a:ext cx="0" cy="0"/>
          <a:chOff x="0" y="0"/>
          <a:chExt cx="0" cy="0"/>
        </a:xfrm>
      </p:grpSpPr>
      <p:sp>
        <p:nvSpPr>
          <p:cNvPr id="73" name="Google Shape;73;g3fb085bff3c_0_1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4" name="Google Shape;74;g3fb085bff3c_0_1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0" name="Shape 80"/>
        <p:cNvGrpSpPr/>
        <p:nvPr/>
      </p:nvGrpSpPr>
      <p:grpSpPr>
        <a:xfrm>
          <a:off x="0" y="0"/>
          <a:ext cx="0" cy="0"/>
          <a:chOff x="0" y="0"/>
          <a:chExt cx="0" cy="0"/>
        </a:xfrm>
      </p:grpSpPr>
      <p:sp>
        <p:nvSpPr>
          <p:cNvPr id="81" name="Google Shape;81;g3fb085bff3c_0_1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2" name="Google Shape;82;g3fb085bff3c_0_1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8" name="Shape 88"/>
        <p:cNvGrpSpPr/>
        <p:nvPr/>
      </p:nvGrpSpPr>
      <p:grpSpPr>
        <a:xfrm>
          <a:off x="0" y="0"/>
          <a:ext cx="0" cy="0"/>
          <a:chOff x="0" y="0"/>
          <a:chExt cx="0" cy="0"/>
        </a:xfrm>
      </p:grpSpPr>
      <p:sp>
        <p:nvSpPr>
          <p:cNvPr id="89" name="Google Shape;89;g3fb085bff3c_0_2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0" name="Google Shape;90;g3fb085bff3c_0_2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 name="Shape 96"/>
        <p:cNvGrpSpPr/>
        <p:nvPr/>
      </p:nvGrpSpPr>
      <p:grpSpPr>
        <a:xfrm>
          <a:off x="0" y="0"/>
          <a:ext cx="0" cy="0"/>
          <a:chOff x="0" y="0"/>
          <a:chExt cx="0" cy="0"/>
        </a:xfrm>
      </p:grpSpPr>
      <p:sp>
        <p:nvSpPr>
          <p:cNvPr id="97" name="Google Shape;97;g3fb085bff3c_0_2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8" name="Google Shape;98;g3fb085bff3c_0_2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4" name="Shape 104"/>
        <p:cNvGrpSpPr/>
        <p:nvPr/>
      </p:nvGrpSpPr>
      <p:grpSpPr>
        <a:xfrm>
          <a:off x="0" y="0"/>
          <a:ext cx="0" cy="0"/>
          <a:chOff x="0" y="0"/>
          <a:chExt cx="0" cy="0"/>
        </a:xfrm>
      </p:grpSpPr>
      <p:sp>
        <p:nvSpPr>
          <p:cNvPr id="105" name="Google Shape;105;g3fb085bff3c_0_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6" name="Google Shape;106;g3fb085bff3c_0_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2" name="Shape 112"/>
        <p:cNvGrpSpPr/>
        <p:nvPr/>
      </p:nvGrpSpPr>
      <p:grpSpPr>
        <a:xfrm>
          <a:off x="0" y="0"/>
          <a:ext cx="0" cy="0"/>
          <a:chOff x="0" y="0"/>
          <a:chExt cx="0" cy="0"/>
        </a:xfrm>
      </p:grpSpPr>
      <p:sp>
        <p:nvSpPr>
          <p:cNvPr id="113" name="Google Shape;113;g3fb085bff3c_0_3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4" name="Google Shape;114;g3fb085bff3c_0_3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0" name="Shape 120"/>
        <p:cNvGrpSpPr/>
        <p:nvPr/>
      </p:nvGrpSpPr>
      <p:grpSpPr>
        <a:xfrm>
          <a:off x="0" y="0"/>
          <a:ext cx="0" cy="0"/>
          <a:chOff x="0" y="0"/>
          <a:chExt cx="0" cy="0"/>
        </a:xfrm>
      </p:grpSpPr>
      <p:sp>
        <p:nvSpPr>
          <p:cNvPr id="121" name="Google Shape;121;g3fb085bff3c_0_4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2" name="Google Shape;122;g3fb085bff3c_0_4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 name="Shape 128"/>
        <p:cNvGrpSpPr/>
        <p:nvPr/>
      </p:nvGrpSpPr>
      <p:grpSpPr>
        <a:xfrm>
          <a:off x="0" y="0"/>
          <a:ext cx="0" cy="0"/>
          <a:chOff x="0" y="0"/>
          <a:chExt cx="0" cy="0"/>
        </a:xfrm>
      </p:grpSpPr>
      <p:sp>
        <p:nvSpPr>
          <p:cNvPr id="129" name="Google Shape;129;g3fb085bff3c_0_4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0" name="Google Shape;130;g3fb085bff3c_0_4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6" name="Shape 136"/>
        <p:cNvGrpSpPr/>
        <p:nvPr/>
      </p:nvGrpSpPr>
      <p:grpSpPr>
        <a:xfrm>
          <a:off x="0" y="0"/>
          <a:ext cx="0" cy="0"/>
          <a:chOff x="0" y="0"/>
          <a:chExt cx="0" cy="0"/>
        </a:xfrm>
      </p:grpSpPr>
      <p:sp>
        <p:nvSpPr>
          <p:cNvPr id="137" name="Google Shape;137;g3fb085bff3c_0_5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8" name="Google Shape;138;g3fb085bff3c_0_5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4" name="Shape 144"/>
        <p:cNvGrpSpPr/>
        <p:nvPr/>
      </p:nvGrpSpPr>
      <p:grpSpPr>
        <a:xfrm>
          <a:off x="0" y="0"/>
          <a:ext cx="0" cy="0"/>
          <a:chOff x="0" y="0"/>
          <a:chExt cx="0" cy="0"/>
        </a:xfrm>
      </p:grpSpPr>
      <p:sp>
        <p:nvSpPr>
          <p:cNvPr id="145" name="Google Shape;145;g3fb085bff3c_0_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46" name="Google Shape;146;g3fb085bff3c_0_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2" name="Shape 152"/>
        <p:cNvGrpSpPr/>
        <p:nvPr/>
      </p:nvGrpSpPr>
      <p:grpSpPr>
        <a:xfrm>
          <a:off x="0" y="0"/>
          <a:ext cx="0" cy="0"/>
          <a:chOff x="0" y="0"/>
          <a:chExt cx="0" cy="0"/>
        </a:xfrm>
      </p:grpSpPr>
      <p:sp>
        <p:nvSpPr>
          <p:cNvPr id="153" name="Google Shape;153;g3fb085bff3c_0_6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4" name="Google Shape;154;g3fb085bff3c_0_6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7" name="Shape 167"/>
        <p:cNvGrpSpPr/>
        <p:nvPr/>
      </p:nvGrpSpPr>
      <p:grpSpPr>
        <a:xfrm>
          <a:off x="0" y="0"/>
          <a:ext cx="0" cy="0"/>
          <a:chOff x="0" y="0"/>
          <a:chExt cx="0" cy="0"/>
        </a:xfrm>
      </p:grpSpPr>
      <p:sp>
        <p:nvSpPr>
          <p:cNvPr id="168" name="Google Shape;168;g3fb085bff3c_0_6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69" name="Google Shape;169;g3fb085bff3c_0_6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GB"/>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3.png"/><Relationship Id="rId4"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4.png"/><Relationship Id="rId4" Type="http://schemas.openxmlformats.org/officeDocument/2006/relationships/image" Target="../media/image2.png"/><Relationship Id="rId5" Type="http://schemas.openxmlformats.org/officeDocument/2006/relationships/image" Target="../media/image6.png"/><Relationship Id="rId6" Type="http://schemas.openxmlformats.org/officeDocument/2006/relationships/image" Target="../media/image7.png"/><Relationship Id="rId7" Type="http://schemas.openxmlformats.org/officeDocument/2006/relationships/image" Target="../media/image8.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4.png"/><Relationship Id="rId4" Type="http://schemas.openxmlformats.org/officeDocument/2006/relationships/image" Target="../media/image2.png"/><Relationship Id="rId5" Type="http://schemas.openxmlformats.org/officeDocument/2006/relationships/image" Target="../media/image9.png"/><Relationship Id="rId6" Type="http://schemas.openxmlformats.org/officeDocument/2006/relationships/image" Target="../media/image10.png"/><Relationship Id="rId7" Type="http://schemas.openxmlformats.org/officeDocument/2006/relationships/image" Target="../media/image11.png"/><Relationship Id="rId8" Type="http://schemas.openxmlformats.org/officeDocument/2006/relationships/image" Target="../media/image12.png"/><Relationship Id="rId9" Type="http://schemas.openxmlformats.org/officeDocument/2006/relationships/image" Target="../media/image13.png"/><Relationship Id="rId10" Type="http://schemas.openxmlformats.org/officeDocument/2006/relationships/image" Target="../media/image14.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4.png"/><Relationship Id="rId4"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4.png"/><Relationship Id="rId4"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4.png"/><Relationship Id="rId4"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4.png"/><Relationship Id="rId4" Type="http://schemas.openxmlformats.org/officeDocument/2006/relationships/image" Target="../media/image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4.png"/><Relationship Id="rId4" Type="http://schemas.openxmlformats.org/officeDocument/2006/relationships/image" Target="../media/image2.png"/><Relationship Id="rId5" Type="http://schemas.openxmlformats.org/officeDocument/2006/relationships/image" Target="../media/image1.png"/><Relationship Id="rId6" Type="http://schemas.openxmlformats.org/officeDocument/2006/relationships/image" Target="../media/image15.png"/><Relationship Id="rId7" Type="http://schemas.openxmlformats.org/officeDocument/2006/relationships/image" Target="../media/image16.png"/><Relationship Id="rId8" Type="http://schemas.openxmlformats.org/officeDocument/2006/relationships/image" Target="../media/image17.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4.png"/><Relationship Id="rId4" Type="http://schemas.openxmlformats.org/officeDocument/2006/relationships/image" Target="../media/image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4.png"/><Relationship Id="rId4" Type="http://schemas.openxmlformats.org/officeDocument/2006/relationships/image" Target="../media/image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4.png"/><Relationship Id="rId4" Type="http://schemas.openxmlformats.org/officeDocument/2006/relationships/image" Target="../media/image2.png"/><Relationship Id="rId5" Type="http://schemas.openxmlformats.org/officeDocument/2006/relationships/hyperlink" Target="https://github.com/galihsatriawan/etalase" TargetMode="External"/><Relationship Id="rId6" Type="http://schemas.openxmlformats.org/officeDocument/2006/relationships/hyperlink" Target="https://etalase-demo-2gzn7hbgwa-et.a.run.app/demo"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image" Target="../media/image4.png"/><Relationship Id="rId4" Type="http://schemas.openxmlformats.org/officeDocument/2006/relationships/image" Target="../media/image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 name="Shape 53"/>
        <p:cNvGrpSpPr/>
        <p:nvPr/>
      </p:nvGrpSpPr>
      <p:grpSpPr>
        <a:xfrm>
          <a:off x="0" y="0"/>
          <a:ext cx="0" cy="0"/>
          <a:chOff x="0" y="0"/>
          <a:chExt cx="0" cy="0"/>
        </a:xfrm>
      </p:grpSpPr>
      <p:sp>
        <p:nvSpPr>
          <p:cNvPr id="54" name="Google Shape;54;p13"/>
          <p:cNvSpPr txBox="1"/>
          <p:nvPr/>
        </p:nvSpPr>
        <p:spPr>
          <a:xfrm>
            <a:off x="146600" y="2902694"/>
            <a:ext cx="8760000" cy="20037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2100">
                <a:latin typeface="Google Sans Flex SemiBold"/>
                <a:ea typeface="Google Sans Flex SemiBold"/>
                <a:cs typeface="Google Sans Flex SemiBold"/>
                <a:sym typeface="Google Sans Flex SemiBold"/>
              </a:rPr>
              <a:t>Team Details</a:t>
            </a:r>
            <a:endParaRPr sz="2100">
              <a:latin typeface="Google Sans Flex SemiBold"/>
              <a:ea typeface="Google Sans Flex SemiBold"/>
              <a:cs typeface="Google Sans Flex SemiBold"/>
              <a:sym typeface="Google Sans Flex SemiBold"/>
            </a:endParaRPr>
          </a:p>
          <a:p>
            <a:pPr indent="0" lvl="0" marL="0" rtl="0" algn="l">
              <a:spcBef>
                <a:spcPts val="0"/>
              </a:spcBef>
              <a:spcAft>
                <a:spcPts val="0"/>
              </a:spcAft>
              <a:buNone/>
            </a:pPr>
            <a:r>
              <a:t/>
            </a:r>
            <a:endParaRPr sz="1800">
              <a:latin typeface="Google Sans Flex Medium"/>
              <a:ea typeface="Google Sans Flex Medium"/>
              <a:cs typeface="Google Sans Flex Medium"/>
              <a:sym typeface="Google Sans Flex Medium"/>
            </a:endParaRPr>
          </a:p>
          <a:p>
            <a:pPr indent="-342900" lvl="1" marL="914400" rtl="0" algn="l">
              <a:spcBef>
                <a:spcPts val="0"/>
              </a:spcBef>
              <a:spcAft>
                <a:spcPts val="0"/>
              </a:spcAft>
              <a:buSzPts val="1800"/>
              <a:buFont typeface="Google Sans Flex"/>
              <a:buAutoNum type="alphaLcPeriod"/>
            </a:pPr>
            <a:r>
              <a:rPr lang="en-GB" sz="1800">
                <a:latin typeface="Google Sans Flex"/>
                <a:ea typeface="Google Sans Flex"/>
                <a:cs typeface="Google Sans Flex"/>
                <a:sym typeface="Google Sans Flex"/>
              </a:rPr>
              <a:t>Team name: </a:t>
            </a:r>
            <a:r>
              <a:rPr sz="1800" b="1">
                <a:latin typeface="Google Sans Flex"/>
              </a:rPr>
              <a:t>Prompt &amp; Pray</a:t>
            </a:r>
            <a:endParaRPr sz="1800">
              <a:latin typeface="Google Sans Flex"/>
              <a:ea typeface="Google Sans Flex"/>
              <a:cs typeface="Google Sans Flex"/>
              <a:sym typeface="Google Sans Flex"/>
            </a:endParaRPr>
          </a:p>
          <a:p>
            <a:pPr indent="-342900" lvl="1" marL="914400" rtl="0" algn="l">
              <a:spcBef>
                <a:spcPts val="0"/>
              </a:spcBef>
              <a:spcAft>
                <a:spcPts val="0"/>
              </a:spcAft>
              <a:buSzPts val="1800"/>
              <a:buFont typeface="Google Sans Flex"/>
              <a:buAutoNum type="alphaLcPeriod"/>
            </a:pPr>
            <a:r>
              <a:rPr lang="en-GB" sz="1800">
                <a:latin typeface="Google Sans Flex"/>
                <a:ea typeface="Google Sans Flex"/>
                <a:cs typeface="Google Sans Flex"/>
                <a:sym typeface="Google Sans Flex"/>
              </a:rPr>
              <a:t>Team leader name: </a:t>
            </a:r>
            <a:r>
              <a:rPr sz="1800" b="1">
                <a:latin typeface="Google Sans Flex"/>
              </a:rPr>
              <a:t>Galih Anggi Satriawan</a:t>
            </a:r>
            <a:endParaRPr sz="1800">
              <a:latin typeface="Google Sans Flex"/>
              <a:ea typeface="Google Sans Flex"/>
              <a:cs typeface="Google Sans Flex"/>
              <a:sym typeface="Google Sans Flex"/>
            </a:endParaRPr>
          </a:p>
          <a:p>
            <a:pPr indent="-342900" lvl="1" marL="914400" rtl="0" algn="l">
              <a:spcBef>
                <a:spcPts val="0"/>
              </a:spcBef>
              <a:spcAft>
                <a:spcPts val="0"/>
              </a:spcAft>
              <a:buSzPts val="1800"/>
              <a:buFont typeface="Google Sans Flex"/>
              <a:buAutoNum type="alphaLcPeriod"/>
            </a:pPr>
            <a:r>
              <a:rPr lang="en-GB" sz="1800">
                <a:latin typeface="Google Sans Flex"/>
                <a:ea typeface="Google Sans Flex"/>
                <a:cs typeface="Google Sans Flex"/>
                <a:sym typeface="Google Sans Flex"/>
              </a:rPr>
              <a:t>Problem Statement: </a:t>
            </a:r>
            <a:r>
              <a:rPr sz="1800" b="1">
                <a:latin typeface="Google Sans Flex"/>
              </a:rPr>
              <a:t>Retail &amp; Commerce: Intelligent Customer and Business Experiences. Etalase makes WhatsApp &amp; Instagram sellers discoverable and buyable by AI shopping agents</a:t>
            </a:r>
            <a:endParaRPr sz="1800">
              <a:latin typeface="Google Sans Flex"/>
              <a:ea typeface="Google Sans Flex"/>
              <a:cs typeface="Google Sans Flex"/>
              <a:sym typeface="Google Sans Flex"/>
            </a:endParaRPr>
          </a:p>
          <a:p>
            <a:pPr indent="0" lvl="0" marL="0" rtl="0" algn="l">
              <a:spcBef>
                <a:spcPts val="0"/>
              </a:spcBef>
              <a:spcAft>
                <a:spcPts val="0"/>
              </a:spcAft>
              <a:buNone/>
            </a:pPr>
            <a:r>
              <a:t/>
            </a:r>
            <a:endParaRPr sz="1800">
              <a:latin typeface="Google Sans Flex Medium"/>
              <a:ea typeface="Google Sans Flex Medium"/>
              <a:cs typeface="Google Sans Flex Medium"/>
              <a:sym typeface="Google Sans Flex Medium"/>
            </a:endParaRPr>
          </a:p>
        </p:txBody>
      </p:sp>
      <p:pic>
        <p:nvPicPr>
          <p:cNvPr id="55" name="Google Shape;55;p13" title="Frame 144.png"/>
          <p:cNvPicPr preferRelativeResize="0"/>
          <p:nvPr/>
        </p:nvPicPr>
        <p:blipFill>
          <a:blip r:embed="rId3">
            <a:alphaModFix/>
          </a:blip>
          <a:stretch>
            <a:fillRect/>
          </a:stretch>
        </p:blipFill>
        <p:spPr>
          <a:xfrm>
            <a:off x="0" y="-3"/>
            <a:ext cx="9144000" cy="2715526"/>
          </a:xfrm>
          <a:prstGeom prst="rect">
            <a:avLst/>
          </a:prstGeom>
          <a:noFill/>
          <a:ln>
            <a:noFill/>
          </a:ln>
        </p:spPr>
      </p:pic>
      <p:pic>
        <p:nvPicPr>
          <p:cNvPr id="56" name="Google Shape;56;p13" title="Frame 144.png"/>
          <p:cNvPicPr preferRelativeResize="0"/>
          <p:nvPr/>
        </p:nvPicPr>
        <p:blipFill rotWithShape="1">
          <a:blip r:embed="rId4">
            <a:alphaModFix/>
          </a:blip>
          <a:srcRect b="98001" l="0" r="0" t="0"/>
          <a:stretch/>
        </p:blipFill>
        <p:spPr>
          <a:xfrm>
            <a:off x="0" y="5093562"/>
            <a:ext cx="9144000" cy="54275"/>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8" name="Shape 68"/>
        <p:cNvGrpSpPr/>
        <p:nvPr/>
      </p:nvGrpSpPr>
      <p:grpSpPr>
        <a:xfrm>
          <a:off x="0" y="0"/>
          <a:ext cx="0" cy="0"/>
          <a:chOff x="0" y="0"/>
          <a:chExt cx="0" cy="0"/>
        </a:xfrm>
      </p:grpSpPr>
      <p:pic>
        <p:nvPicPr>
          <p:cNvPr id="69" name="Google Shape;69;p15" title="Group 427319979.png"/>
          <p:cNvPicPr preferRelativeResize="0"/>
          <p:nvPr/>
        </p:nvPicPr>
        <p:blipFill>
          <a:blip r:embed="rId3">
            <a:alphaModFix/>
          </a:blip>
          <a:stretch>
            <a:fillRect/>
          </a:stretch>
        </p:blipFill>
        <p:spPr>
          <a:xfrm>
            <a:off x="0" y="1"/>
            <a:ext cx="9144000" cy="507359"/>
          </a:xfrm>
          <a:prstGeom prst="rect">
            <a:avLst/>
          </a:prstGeom>
          <a:noFill/>
          <a:ln>
            <a:noFill/>
          </a:ln>
        </p:spPr>
      </p:pic>
      <p:sp>
        <p:nvSpPr>
          <p:cNvPr id="70" name="Google Shape;70;p15"/>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71" name="Google Shape;71;p15"/>
          <p:cNvSpPr txBox="1"/>
          <p:nvPr/>
        </p:nvSpPr>
        <p:spPr>
          <a:xfrm>
            <a:off x="265350" y="663825"/>
            <a:ext cx="8943000" cy="4572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Brief about the idea</a:t>
            </a:r>
            <a:endParaRPr sz="1600">
              <a:latin typeface="Google Sans Flex Medium"/>
              <a:ea typeface="Google Sans Flex Medium"/>
              <a:cs typeface="Google Sans Flex Medium"/>
              <a:sym typeface="Google Sans Flex Medium"/>
            </a:endParaRPr>
          </a:p>
        </p:txBody>
      </p:sp>
      <p:sp>
        <p:nvSpPr>
          <p:cNvPr id="72" name="TextBox 71"/>
          <p:cNvSpPr txBox="1"/>
          <p:nvPr/>
        </p:nvSpPr>
        <p:spPr>
          <a:xfrm>
            <a:off x="356616" y="1161288"/>
            <a:ext cx="5074920" cy="749808"/>
          </a:xfrm>
          <a:prstGeom prst="rect">
            <a:avLst/>
          </a:prstGeom>
          <a:noFill/>
        </p:spPr>
        <p:txBody>
          <a:bodyPr wrap="square" lIns="18288" rIns="18288" tIns="18288" bIns="18288" anchor="t">
            <a:noAutofit/>
          </a:bodyPr>
          <a:lstStyle/>
          <a:p>
            <a:pPr algn="l"/>
            <a:r>
              <a:rPr sz="1200" b="1" i="0">
                <a:solidFill>
                  <a:srgbClr val="202124"/>
                </a:solidFill>
                <a:latin typeface="Google Sans Flex"/>
              </a:rPr>
              <a:t>Etalase turns a WhatsApp seller's product photos and chats into a storefront that AI shopping agents and ordinary shoppers can find and buy from, with every order landing back in the seller's chat.</a:t>
            </a:r>
          </a:p>
        </p:txBody>
      </p:sp>
      <p:sp>
        <p:nvSpPr>
          <p:cNvPr id="73" name="TextBox 72"/>
          <p:cNvSpPr txBox="1"/>
          <p:nvPr/>
        </p:nvSpPr>
        <p:spPr>
          <a:xfrm>
            <a:off x="356616" y="1965960"/>
            <a:ext cx="5074920" cy="896112"/>
          </a:xfrm>
          <a:prstGeom prst="rect">
            <a:avLst/>
          </a:prstGeom>
          <a:noFill/>
        </p:spPr>
        <p:txBody>
          <a:bodyPr wrap="square" lIns="18288" rIns="18288" tIns="18288" bIns="18288" anchor="t">
            <a:noAutofit/>
          </a:bodyPr>
          <a:lstStyle/>
          <a:p>
            <a:pPr algn="l">
              <a:spcAft>
                <a:spcPts val="100"/>
              </a:spcAft>
            </a:pPr>
            <a:r>
              <a:rPr sz="1000" b="1" i="0">
                <a:solidFill>
                  <a:srgbClr val="B06000"/>
                </a:solidFill>
                <a:latin typeface="Google Sans Flex"/>
              </a:rPr>
              <a:t>Why now</a:t>
            </a:r>
          </a:p>
          <a:p>
            <a:pPr algn="l"/>
            <a:r>
              <a:rPr sz="950" b="0" i="0">
                <a:solidFill>
                  <a:srgbClr val="202124"/>
                </a:solidFill>
                <a:latin typeface="Google Sans Flex"/>
              </a:rPr>
              <a:t>AI shopping is arriving. Google's UCP checkout is live in the US, started with select retailers in Australia and is in limited test in India. Indonesia has no date; there, AI discovery is live but agent checkout is not. Morgan Stanley's US scenario: US$190–385B by 2030.</a:t>
            </a:r>
          </a:p>
        </p:txBody>
      </p:sp>
      <p:sp>
        <p:nvSpPr>
          <p:cNvPr id="74" name="TextBox 73"/>
          <p:cNvSpPr txBox="1"/>
          <p:nvPr/>
        </p:nvSpPr>
        <p:spPr>
          <a:xfrm>
            <a:off x="356616" y="2889504"/>
            <a:ext cx="5074920" cy="896112"/>
          </a:xfrm>
          <a:prstGeom prst="rect">
            <a:avLst/>
          </a:prstGeom>
          <a:noFill/>
        </p:spPr>
        <p:txBody>
          <a:bodyPr wrap="square" lIns="18288" rIns="18288" tIns="18288" bIns="18288" anchor="t">
            <a:noAutofit/>
          </a:bodyPr>
          <a:lstStyle/>
          <a:p>
            <a:pPr algn="l">
              <a:spcAft>
                <a:spcPts val="100"/>
              </a:spcAft>
            </a:pPr>
            <a:r>
              <a:rPr sz="1000" b="1" i="0">
                <a:solidFill>
                  <a:srgbClr val="1A73E8"/>
                </a:solidFill>
                <a:latin typeface="Google Sans Flex"/>
              </a:rPr>
              <a:t>The problem</a:t>
            </a:r>
          </a:p>
          <a:p>
            <a:pPr algn="l"/>
            <a:r>
              <a:rPr sz="950" b="0" i="0">
                <a:solidFill>
                  <a:srgbClr val="202124"/>
                </a:solidFill>
                <a:latin typeface="Google Sans Flex"/>
              </a:rPr>
              <a:t>Agents only read structured catalogs. Across Southeast Asia, small sellers run on chat apps such as WhatsApp, LINE, Zalo and Messenger, with catalogs in photos and messages, so agents cannot see them. When agent checkout arrives, that demand flows to marketplaces and big brands instead.</a:t>
            </a:r>
          </a:p>
        </p:txBody>
      </p:sp>
      <p:sp>
        <p:nvSpPr>
          <p:cNvPr id="75" name="TextBox 74"/>
          <p:cNvSpPr txBox="1"/>
          <p:nvPr/>
        </p:nvSpPr>
        <p:spPr>
          <a:xfrm>
            <a:off x="356616" y="3813048"/>
            <a:ext cx="5074920" cy="868680"/>
          </a:xfrm>
          <a:prstGeom prst="rect">
            <a:avLst/>
          </a:prstGeom>
          <a:noFill/>
        </p:spPr>
        <p:txBody>
          <a:bodyPr wrap="square" lIns="18288" rIns="18288" tIns="18288" bIns="18288" anchor="t">
            <a:noAutofit/>
          </a:bodyPr>
          <a:lstStyle/>
          <a:p>
            <a:pPr algn="l">
              <a:spcAft>
                <a:spcPts val="100"/>
              </a:spcAft>
            </a:pPr>
            <a:r>
              <a:rPr sz="1000" b="1" i="0">
                <a:solidFill>
                  <a:srgbClr val="188038"/>
                </a:solidFill>
                <a:latin typeface="Google Sans Flex"/>
              </a:rPr>
              <a:t>Our solution</a:t>
            </a:r>
          </a:p>
          <a:p>
            <a:pPr algn="l"/>
            <a:r>
              <a:rPr sz="950" b="0" i="0">
                <a:solidFill>
                  <a:srgbClr val="202124"/>
                </a:solidFill>
                <a:latin typeface="Google Sans Flex"/>
              </a:rPr>
              <a:t>Gemini builds the catalog from photos, voice notes and spreadsheets. Etalase publishes it over MCP (any agent, today), UCP (for Google's surfaces, when they arrive) and a store link, reserves stock, takes QRIS payments and holds the payout through a return window. The seller confirms and ships from WhatsApp or Telegram.</a:t>
            </a:r>
          </a:p>
        </p:txBody>
      </p:sp>
      <p:sp>
        <p:nvSpPr>
          <p:cNvPr id="76" name="Stat card 1"/>
          <p:cNvSpPr/>
          <p:nvPr/>
        </p:nvSpPr>
        <p:spPr>
          <a:xfrm>
            <a:off x="5669280" y="1161288"/>
            <a:ext cx="3118104" cy="786384"/>
          </a:xfrm>
          <a:prstGeom prst="roundRect">
            <a:avLst>
              <a:gd name="adj" fmla="val 9302"/>
            </a:avLst>
          </a:prstGeom>
          <a:solidFill>
            <a:srgbClr val="E8F0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TextBox 76"/>
          <p:cNvSpPr txBox="1"/>
          <p:nvPr/>
        </p:nvSpPr>
        <p:spPr>
          <a:xfrm>
            <a:off x="5779008" y="1207008"/>
            <a:ext cx="2926080" cy="347472"/>
          </a:xfrm>
          <a:prstGeom prst="rect">
            <a:avLst/>
          </a:prstGeom>
          <a:noFill/>
        </p:spPr>
        <p:txBody>
          <a:bodyPr wrap="square" lIns="18288" rIns="18288" tIns="18288" bIns="18288" anchor="t">
            <a:noAutofit/>
          </a:bodyPr>
          <a:lstStyle/>
          <a:p>
            <a:pPr algn="l"/>
            <a:r>
              <a:rPr sz="1900" b="1" i="0">
                <a:solidFill>
                  <a:srgbClr val="1A73E8"/>
                </a:solidFill>
                <a:latin typeface="Google Sans Flex"/>
              </a:rPr>
              <a:t>US$185B</a:t>
            </a:r>
          </a:p>
        </p:txBody>
      </p:sp>
      <p:sp>
        <p:nvSpPr>
          <p:cNvPr id="78" name="TextBox 77"/>
          <p:cNvSpPr txBox="1"/>
          <p:nvPr/>
        </p:nvSpPr>
        <p:spPr>
          <a:xfrm>
            <a:off x="5779008" y="1545336"/>
            <a:ext cx="2926080" cy="384048"/>
          </a:xfrm>
          <a:prstGeom prst="rect">
            <a:avLst/>
          </a:prstGeom>
          <a:noFill/>
        </p:spPr>
        <p:txBody>
          <a:bodyPr wrap="square" lIns="18288" rIns="18288" tIns="18288" bIns="18288" anchor="t">
            <a:noAutofit/>
          </a:bodyPr>
          <a:lstStyle/>
          <a:p>
            <a:pPr algn="l"/>
            <a:r>
              <a:rPr sz="850" b="0" i="0">
                <a:solidFill>
                  <a:srgbClr val="202124"/>
                </a:solidFill>
                <a:latin typeface="Google Sans Flex"/>
              </a:rPr>
              <a:t>Southeast Asia e-commerce GMV in 2025; consumer interest in AI is 3× the global average</a:t>
            </a:r>
          </a:p>
        </p:txBody>
      </p:sp>
      <p:sp>
        <p:nvSpPr>
          <p:cNvPr id="79" name="Stat card 2"/>
          <p:cNvSpPr/>
          <p:nvPr/>
        </p:nvSpPr>
        <p:spPr>
          <a:xfrm>
            <a:off x="5669280" y="2066543"/>
            <a:ext cx="3118104" cy="786384"/>
          </a:xfrm>
          <a:prstGeom prst="roundRect">
            <a:avLst>
              <a:gd name="adj" fmla="val 9302"/>
            </a:avLst>
          </a:prstGeom>
          <a:solidFill>
            <a:srgbClr val="E6F4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TextBox 79"/>
          <p:cNvSpPr txBox="1"/>
          <p:nvPr/>
        </p:nvSpPr>
        <p:spPr>
          <a:xfrm>
            <a:off x="5779008" y="2112263"/>
            <a:ext cx="2926080" cy="347472"/>
          </a:xfrm>
          <a:prstGeom prst="rect">
            <a:avLst/>
          </a:prstGeom>
          <a:noFill/>
        </p:spPr>
        <p:txBody>
          <a:bodyPr wrap="square" lIns="18288" rIns="18288" tIns="18288" bIns="18288" anchor="t">
            <a:noAutofit/>
          </a:bodyPr>
          <a:lstStyle/>
          <a:p>
            <a:pPr algn="l"/>
            <a:r>
              <a:rPr sz="1900" b="1" i="0">
                <a:solidFill>
                  <a:srgbClr val="188038"/>
                </a:solidFill>
                <a:latin typeface="Google Sans Flex"/>
              </a:rPr>
              <a:t>95%</a:t>
            </a:r>
          </a:p>
        </p:txBody>
      </p:sp>
      <p:sp>
        <p:nvSpPr>
          <p:cNvPr id="81" name="TextBox 80"/>
          <p:cNvSpPr txBox="1"/>
          <p:nvPr/>
        </p:nvSpPr>
        <p:spPr>
          <a:xfrm>
            <a:off x="5779008" y="2450591"/>
            <a:ext cx="2926080" cy="384048"/>
          </a:xfrm>
          <a:prstGeom prst="rect">
            <a:avLst/>
          </a:prstGeom>
          <a:noFill/>
        </p:spPr>
        <p:txBody>
          <a:bodyPr wrap="square" lIns="18288" rIns="18288" tIns="18288" bIns="18288" anchor="t">
            <a:noAutofit/>
          </a:bodyPr>
          <a:lstStyle/>
          <a:p>
            <a:pPr algn="l"/>
            <a:r>
              <a:rPr sz="850" b="0" i="0">
                <a:solidFill>
                  <a:srgbClr val="202124"/>
                </a:solidFill>
                <a:latin typeface="Google Sans Flex"/>
              </a:rPr>
              <a:t>of Indonesian e-commerce businesses use chat apps such as WhatsApp to sell; only 18% use marketplaces (BPS 2023, multiple answers)</a:t>
            </a:r>
          </a:p>
        </p:txBody>
      </p:sp>
      <p:sp>
        <p:nvSpPr>
          <p:cNvPr id="82" name="Stat card 3"/>
          <p:cNvSpPr/>
          <p:nvPr/>
        </p:nvSpPr>
        <p:spPr>
          <a:xfrm>
            <a:off x="5669280" y="2971800"/>
            <a:ext cx="3118104" cy="786384"/>
          </a:xfrm>
          <a:prstGeom prst="roundRect">
            <a:avLst>
              <a:gd name="adj" fmla="val 9302"/>
            </a:avLst>
          </a:prstGeom>
          <a:solidFill>
            <a:srgbClr val="FEF7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TextBox 82"/>
          <p:cNvSpPr txBox="1"/>
          <p:nvPr/>
        </p:nvSpPr>
        <p:spPr>
          <a:xfrm>
            <a:off x="5779008" y="3017520"/>
            <a:ext cx="2926080" cy="347472"/>
          </a:xfrm>
          <a:prstGeom prst="rect">
            <a:avLst/>
          </a:prstGeom>
          <a:noFill/>
        </p:spPr>
        <p:txBody>
          <a:bodyPr wrap="square" lIns="18288" rIns="18288" tIns="18288" bIns="18288" anchor="t">
            <a:noAutofit/>
          </a:bodyPr>
          <a:lstStyle/>
          <a:p>
            <a:pPr algn="l"/>
            <a:r>
              <a:rPr sz="1900" b="1" i="0">
                <a:solidFill>
                  <a:srgbClr val="B06000"/>
                </a:solidFill>
                <a:latin typeface="Google Sans Flex"/>
              </a:rPr>
              <a:t>1.8%</a:t>
            </a:r>
          </a:p>
        </p:txBody>
      </p:sp>
      <p:sp>
        <p:nvSpPr>
          <p:cNvPr id="84" name="TextBox 83"/>
          <p:cNvSpPr txBox="1"/>
          <p:nvPr/>
        </p:nvSpPr>
        <p:spPr>
          <a:xfrm>
            <a:off x="5779008" y="3355848"/>
            <a:ext cx="2926080" cy="384048"/>
          </a:xfrm>
          <a:prstGeom prst="rect">
            <a:avLst/>
          </a:prstGeom>
          <a:noFill/>
        </p:spPr>
        <p:txBody>
          <a:bodyPr wrap="square" lIns="18288" rIns="18288" tIns="18288" bIns="18288" anchor="t">
            <a:noAutofit/>
          </a:bodyPr>
          <a:lstStyle/>
          <a:p>
            <a:pPr algn="l"/>
            <a:r>
              <a:rPr sz="850" b="0" i="0">
                <a:solidFill>
                  <a:srgbClr val="202124"/>
                </a:solidFill>
                <a:latin typeface="Google Sans Flex"/>
              </a:rPr>
              <a:t>of Indonesian e-commerce businesses sell through their own website, so few have a structured catalog (BPS, 2023)</a:t>
            </a:r>
          </a:p>
        </p:txBody>
      </p:sp>
      <p:sp>
        <p:nvSpPr>
          <p:cNvPr id="85" name="Stat card 4"/>
          <p:cNvSpPr/>
          <p:nvPr/>
        </p:nvSpPr>
        <p:spPr>
          <a:xfrm>
            <a:off x="5669280" y="3877056"/>
            <a:ext cx="3118104" cy="786384"/>
          </a:xfrm>
          <a:prstGeom prst="roundRect">
            <a:avLst>
              <a:gd name="adj" fmla="val 9302"/>
            </a:avLst>
          </a:prstGeom>
          <a:solidFill>
            <a:srgbClr val="FCE8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TextBox 85"/>
          <p:cNvSpPr txBox="1"/>
          <p:nvPr/>
        </p:nvSpPr>
        <p:spPr>
          <a:xfrm>
            <a:off x="5779008" y="3922776"/>
            <a:ext cx="2926080" cy="347472"/>
          </a:xfrm>
          <a:prstGeom prst="rect">
            <a:avLst/>
          </a:prstGeom>
          <a:noFill/>
        </p:spPr>
        <p:txBody>
          <a:bodyPr wrap="square" lIns="18288" rIns="18288" tIns="18288" bIns="18288" anchor="t">
            <a:noAutofit/>
          </a:bodyPr>
          <a:lstStyle/>
          <a:p>
            <a:pPr algn="l"/>
            <a:r>
              <a:rPr sz="1900" b="1" i="0">
                <a:solidFill>
                  <a:srgbClr val="D93025"/>
                </a:solidFill>
                <a:latin typeface="Google Sans Flex"/>
              </a:rPr>
              <a:t>11%</a:t>
            </a:r>
          </a:p>
        </p:txBody>
      </p:sp>
      <p:sp>
        <p:nvSpPr>
          <p:cNvPr id="87" name="TextBox 86"/>
          <p:cNvSpPr txBox="1"/>
          <p:nvPr/>
        </p:nvSpPr>
        <p:spPr>
          <a:xfrm>
            <a:off x="5779008" y="4261104"/>
            <a:ext cx="2926080" cy="384048"/>
          </a:xfrm>
          <a:prstGeom prst="rect">
            <a:avLst/>
          </a:prstGeom>
          <a:noFill/>
        </p:spPr>
        <p:txBody>
          <a:bodyPr wrap="square" lIns="18288" rIns="18288" tIns="18288" bIns="18288" anchor="t">
            <a:noAutofit/>
          </a:bodyPr>
          <a:lstStyle/>
          <a:p>
            <a:pPr algn="l"/>
            <a:r>
              <a:rPr sz="850" b="0" i="0">
                <a:solidFill>
                  <a:srgbClr val="202124"/>
                </a:solidFill>
                <a:latin typeface="Google Sans Flex"/>
              </a:rPr>
              <a:t>of small and mid-size merchants are ready for AI shopping agents, vs 19% of large merchants (2026)</a:t>
            </a:r>
          </a:p>
        </p:txBody>
      </p:sp>
      <p:sp>
        <p:nvSpPr>
          <p:cNvPr id="88" name="TextBox 87"/>
          <p:cNvSpPr txBox="1"/>
          <p:nvPr/>
        </p:nvSpPr>
        <p:spPr>
          <a:xfrm>
            <a:off x="356616" y="4718304"/>
            <a:ext cx="8430767" cy="274320"/>
          </a:xfrm>
          <a:prstGeom prst="rect">
            <a:avLst/>
          </a:prstGeom>
          <a:noFill/>
        </p:spPr>
        <p:txBody>
          <a:bodyPr wrap="square" lIns="18288" rIns="18288" tIns="18288" bIns="18288" anchor="t">
            <a:noAutofit/>
          </a:bodyPr>
          <a:lstStyle/>
          <a:p>
            <a:pPr algn="l"/>
            <a:r>
              <a:rPr sz="700" b="0" i="0">
                <a:solidFill>
                  <a:srgbClr val="5F6368"/>
                </a:solidFill>
                <a:latin typeface="Google Sans Flex"/>
              </a:rPr>
              <a:t>Sources: e-Conomy SEA 2025 (Google, Temasek, Bain, Nov 2025); BPS Statistik E-Commerce 2023 (pub. Jan 2025; businesses can use several channels); PYMNTS × Visa, 2026 Global Digital Shopping Index (Sep 2026, global vendor survey); Morgan Stanley, “Here Come the Shopping Bots” (US only). Links in the repo: docs/15-evidence.md.</a:t>
            </a: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5" name="Shape 75"/>
        <p:cNvGrpSpPr/>
        <p:nvPr/>
      </p:nvGrpSpPr>
      <p:grpSpPr>
        <a:xfrm>
          <a:off x="0" y="0"/>
          <a:ext cx="0" cy="0"/>
          <a:chOff x="0" y="0"/>
          <a:chExt cx="0" cy="0"/>
        </a:xfrm>
      </p:grpSpPr>
      <p:pic>
        <p:nvPicPr>
          <p:cNvPr id="76" name="Google Shape;76;p16"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77" name="Google Shape;77;p16"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78" name="Google Shape;78;p16"/>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79" name="Google Shape;79;p16"/>
          <p:cNvSpPr txBox="1"/>
          <p:nvPr/>
        </p:nvSpPr>
        <p:spPr>
          <a:xfrm>
            <a:off x="265350" y="663825"/>
            <a:ext cx="8943000" cy="4572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SemiBold"/>
                <a:ea typeface="Google Sans Flex SemiBold"/>
                <a:cs typeface="Google Sans Flex SemiBold"/>
                <a:sym typeface="Google Sans Flex SemiBold"/>
              </a:rPr>
              <a:t>Opportunities</a:t>
            </a:r>
            <a:endParaRPr sz="1600">
              <a:latin typeface="Google Sans Flex SemiBold"/>
              <a:ea typeface="Google Sans Flex SemiBold"/>
              <a:cs typeface="Google Sans Flex SemiBold"/>
              <a:sym typeface="Google Sans Flex SemiBold"/>
            </a:endParaRPr>
          </a:p>
        </p:txBody>
      </p:sp>
      <p:sp>
        <p:nvSpPr>
          <p:cNvPr id="80" name="Opportunity card 1"/>
          <p:cNvSpPr/>
          <p:nvPr/>
        </p:nvSpPr>
        <p:spPr>
          <a:xfrm>
            <a:off x="356616" y="1161288"/>
            <a:ext cx="2688336" cy="3502152"/>
          </a:xfrm>
          <a:prstGeom prst="roundRect">
            <a:avLst>
              <a:gd name="adj" fmla="val 2721"/>
            </a:avLst>
          </a:prstGeom>
          <a:solidFill>
            <a:srgbClr val="E8F0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Icon bg compare"/>
          <p:cNvSpPr/>
          <p:nvPr/>
        </p:nvSpPr>
        <p:spPr>
          <a:xfrm>
            <a:off x="521208" y="1325880"/>
            <a:ext cx="420624" cy="420624"/>
          </a:xfrm>
          <a:prstGeom prst="ellipse">
            <a:avLst/>
          </a:prstGeom>
          <a:solidFill>
            <a:srgbClr val="1A73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2" name="Picture 81" descr="compare.png"/>
          <p:cNvPicPr>
            <a:picLocks noChangeAspect="1"/>
          </p:cNvPicPr>
          <p:nvPr/>
        </p:nvPicPr>
        <p:blipFill>
          <a:blip r:embed="rId5"/>
          <a:stretch>
            <a:fillRect/>
          </a:stretch>
        </p:blipFill>
        <p:spPr>
          <a:xfrm>
            <a:off x="613745" y="1418417"/>
            <a:ext cx="235549" cy="235549"/>
          </a:xfrm>
          <a:prstGeom prst="rect">
            <a:avLst/>
          </a:prstGeom>
        </p:spPr>
      </p:pic>
      <p:sp>
        <p:nvSpPr>
          <p:cNvPr id="83" name="TextBox 82"/>
          <p:cNvSpPr txBox="1"/>
          <p:nvPr/>
        </p:nvSpPr>
        <p:spPr>
          <a:xfrm>
            <a:off x="1033271" y="1307592"/>
            <a:ext cx="1901952" cy="457200"/>
          </a:xfrm>
          <a:prstGeom prst="rect">
            <a:avLst/>
          </a:prstGeom>
          <a:noFill/>
        </p:spPr>
        <p:txBody>
          <a:bodyPr wrap="square" lIns="18288" rIns="18288" tIns="18288" bIns="18288" anchor="ctr">
            <a:noAutofit/>
          </a:bodyPr>
          <a:lstStyle/>
          <a:p>
            <a:pPr algn="l"/>
            <a:r>
              <a:rPr sz="1150" b="1" i="0">
                <a:solidFill>
                  <a:srgbClr val="202124"/>
                </a:solidFill>
                <a:latin typeface="Google Sans Flex"/>
              </a:rPr>
              <a:t>How is it different?</a:t>
            </a:r>
          </a:p>
        </p:txBody>
      </p:sp>
      <p:sp>
        <p:nvSpPr>
          <p:cNvPr id="84" name="TextBox 83"/>
          <p:cNvSpPr txBox="1"/>
          <p:nvPr/>
        </p:nvSpPr>
        <p:spPr>
          <a:xfrm>
            <a:off x="502920" y="1892808"/>
            <a:ext cx="2414016" cy="2697480"/>
          </a:xfrm>
          <a:prstGeom prst="rect">
            <a:avLst/>
          </a:prstGeom>
          <a:noFill/>
        </p:spPr>
        <p:txBody>
          <a:bodyPr wrap="square" lIns="18288" rIns="18288" tIns="18288" bIns="18288" anchor="t">
            <a:noAutofit/>
          </a:bodyPr>
          <a:lstStyle/>
          <a:p>
            <a:pPr algn="l" marL="128016" indent="-128016">
              <a:spcAft>
                <a:spcPts val="600"/>
              </a:spcAft>
              <a:buClr>
                <a:srgbClr val="1A73E8"/>
              </a:buClr>
              <a:buFont typeface="Arial"/>
              <a:buChar char="•"/>
            </a:pPr>
            <a:r>
              <a:rPr sz="1050" b="0" i="0">
                <a:solidFill>
                  <a:srgbClr val="202124"/>
                </a:solidFill>
                <a:latin typeface="Google Sans Flex"/>
              </a:rPr>
              <a:t>Agent-readiness tools (Era, ShopAgentic, AgentReady) serve Shopify-style stores that already have product data</a:t>
            </a:r>
          </a:p>
          <a:p>
            <a:pPr algn="l" marL="128016" indent="-128016">
              <a:spcAft>
                <a:spcPts val="600"/>
              </a:spcAft>
              <a:buClr>
                <a:srgbClr val="1A73E8"/>
              </a:buClr>
              <a:buFont typeface="Arial"/>
              <a:buChar char="•"/>
            </a:pPr>
            <a:r>
              <a:rPr sz="1050" b="0" i="0">
                <a:solidFill>
                  <a:srgbClr val="202124"/>
                </a:solidFill>
                <a:latin typeface="Google Sans Flex"/>
              </a:rPr>
              <a:t>Marketplaces and platforms make sellers agent-ready only inside their own ecosystem, at their fees</a:t>
            </a:r>
          </a:p>
          <a:p>
            <a:pPr algn="l" marL="128016" indent="-128016">
              <a:spcAft>
                <a:spcPts val="600"/>
              </a:spcAft>
              <a:buClr>
                <a:srgbClr val="1A73E8"/>
              </a:buClr>
              <a:buFont typeface="Arial"/>
              <a:buChar char="•"/>
            </a:pPr>
            <a:r>
              <a:rPr sz="1050" b="0" i="0">
                <a:solidFill>
                  <a:srgbClr val="202124"/>
                </a:solidFill>
                <a:latin typeface="Google Sans Flex"/>
              </a:rPr>
              <a:t>Chat tools (Meta AI, cshub, Mayar) serve human buyers; we found none that builds the catalog from photos</a:t>
            </a:r>
          </a:p>
          <a:p>
            <a:pPr algn="l" marL="128016" indent="-128016">
              <a:spcAft>
                <a:spcPts val="600"/>
              </a:spcAft>
              <a:buClr>
                <a:srgbClr val="1A73E8"/>
              </a:buClr>
              <a:buFont typeface="Arial"/>
              <a:buChar char="•"/>
            </a:pPr>
            <a:r>
              <a:rPr sz="1050" b="1" i="0">
                <a:solidFill>
                  <a:srgbClr val="202124"/>
                </a:solidFill>
                <a:latin typeface="Google Sans Flex"/>
              </a:rPr>
              <a:t>Etalase serves sellers who run on chat: photos to catalog, a store link, MCP and UCP</a:t>
            </a:r>
          </a:p>
        </p:txBody>
      </p:sp>
      <p:sp>
        <p:nvSpPr>
          <p:cNvPr id="85" name="Opportunity card 2"/>
          <p:cNvSpPr/>
          <p:nvPr/>
        </p:nvSpPr>
        <p:spPr>
          <a:xfrm>
            <a:off x="3227832" y="1161288"/>
            <a:ext cx="2688336" cy="3502152"/>
          </a:xfrm>
          <a:prstGeom prst="roundRect">
            <a:avLst>
              <a:gd name="adj" fmla="val 2721"/>
            </a:avLst>
          </a:prstGeom>
          <a:solidFill>
            <a:srgbClr val="E6F4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Icon bg solve"/>
          <p:cNvSpPr/>
          <p:nvPr/>
        </p:nvSpPr>
        <p:spPr>
          <a:xfrm>
            <a:off x="3392424" y="1325880"/>
            <a:ext cx="420624" cy="420624"/>
          </a:xfrm>
          <a:prstGeom prst="ellipse">
            <a:avLst/>
          </a:prstGeom>
          <a:solidFill>
            <a:srgbClr val="1880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7" name="Picture 86" descr="solve.png"/>
          <p:cNvPicPr>
            <a:picLocks noChangeAspect="1"/>
          </p:cNvPicPr>
          <p:nvPr/>
        </p:nvPicPr>
        <p:blipFill>
          <a:blip r:embed="rId6"/>
          <a:stretch>
            <a:fillRect/>
          </a:stretch>
        </p:blipFill>
        <p:spPr>
          <a:xfrm>
            <a:off x="3484961" y="1418417"/>
            <a:ext cx="235549" cy="235549"/>
          </a:xfrm>
          <a:prstGeom prst="rect">
            <a:avLst/>
          </a:prstGeom>
        </p:spPr>
      </p:pic>
      <p:sp>
        <p:nvSpPr>
          <p:cNvPr id="88" name="TextBox 87"/>
          <p:cNvSpPr txBox="1"/>
          <p:nvPr/>
        </p:nvSpPr>
        <p:spPr>
          <a:xfrm>
            <a:off x="3904488" y="1307592"/>
            <a:ext cx="1901952" cy="457200"/>
          </a:xfrm>
          <a:prstGeom prst="rect">
            <a:avLst/>
          </a:prstGeom>
          <a:noFill/>
        </p:spPr>
        <p:txBody>
          <a:bodyPr wrap="square" lIns="18288" rIns="18288" tIns="18288" bIns="18288" anchor="ctr">
            <a:noAutofit/>
          </a:bodyPr>
          <a:lstStyle/>
          <a:p>
            <a:pPr algn="l"/>
            <a:r>
              <a:rPr sz="1150" b="1" i="0">
                <a:solidFill>
                  <a:srgbClr val="202124"/>
                </a:solidFill>
                <a:latin typeface="Google Sans Flex"/>
              </a:rPr>
              <a:t>How does it solve the problem?</a:t>
            </a:r>
          </a:p>
        </p:txBody>
      </p:sp>
      <p:sp>
        <p:nvSpPr>
          <p:cNvPr id="89" name="TextBox 88"/>
          <p:cNvSpPr txBox="1"/>
          <p:nvPr/>
        </p:nvSpPr>
        <p:spPr>
          <a:xfrm>
            <a:off x="3374136" y="1892808"/>
            <a:ext cx="2414016" cy="2697480"/>
          </a:xfrm>
          <a:prstGeom prst="rect">
            <a:avLst/>
          </a:prstGeom>
          <a:noFill/>
        </p:spPr>
        <p:txBody>
          <a:bodyPr wrap="square" lIns="18288" rIns="18288" tIns="18288" bIns="18288" anchor="t">
            <a:noAutofit/>
          </a:bodyPr>
          <a:lstStyle/>
          <a:p>
            <a:pPr algn="l" marL="128016" indent="-128016">
              <a:spcAft>
                <a:spcPts val="600"/>
              </a:spcAft>
              <a:buClr>
                <a:srgbClr val="188038"/>
              </a:buClr>
              <a:buFont typeface="Arial"/>
              <a:buChar char="•"/>
            </a:pPr>
            <a:r>
              <a:rPr sz="1050" b="0" i="0">
                <a:solidFill>
                  <a:srgbClr val="202124"/>
                </a:solidFill>
                <a:latin typeface="Google Sans Flex"/>
              </a:rPr>
              <a:t>Builds the catalog from what sellers already have: photos, voice notes, chats, spreadsheets</a:t>
            </a:r>
          </a:p>
          <a:p>
            <a:pPr algn="l" marL="128016" indent="-128016">
              <a:spcAft>
                <a:spcPts val="600"/>
              </a:spcAft>
              <a:buClr>
                <a:srgbClr val="188038"/>
              </a:buClr>
              <a:buFont typeface="Arial"/>
              <a:buChar char="•"/>
            </a:pPr>
            <a:r>
              <a:rPr sz="1050" b="0" i="0">
                <a:solidFill>
                  <a:srgbClr val="202124"/>
                </a:solidFill>
                <a:latin typeface="Google Sans Flex"/>
              </a:rPr>
              <a:t>Publishes it in agent-readable form (MCP tools, UCP checkout API, schema.org) and as a store link anyone can open</a:t>
            </a:r>
          </a:p>
          <a:p>
            <a:pPr algn="l" marL="128016" indent="-128016">
              <a:spcAft>
                <a:spcPts val="600"/>
              </a:spcAft>
              <a:buClr>
                <a:srgbClr val="188038"/>
              </a:buClr>
              <a:buFont typeface="Arial"/>
              <a:buChar char="•"/>
            </a:pPr>
            <a:r>
              <a:rPr sz="1050" b="0" i="0">
                <a:solidFill>
                  <a:srgbClr val="202124"/>
                </a:solidFill>
                <a:latin typeface="Google Sans Flex"/>
              </a:rPr>
              <a:t>Runs a safe checkout: stock reservation, seller confirmation, QRIS, courier rates, and a payout held until the return window ends</a:t>
            </a:r>
          </a:p>
          <a:p>
            <a:pPr algn="l" marL="128016" indent="-128016">
              <a:spcAft>
                <a:spcPts val="600"/>
              </a:spcAft>
              <a:buClr>
                <a:srgbClr val="188038"/>
              </a:buClr>
              <a:buFont typeface="Arial"/>
              <a:buChar char="•"/>
            </a:pPr>
            <a:r>
              <a:rPr sz="1050" b="0" i="0">
                <a:solidFill>
                  <a:srgbClr val="202124"/>
                </a:solidFill>
                <a:latin typeface="Google Sans Flex"/>
              </a:rPr>
              <a:t>Keeps the seller in WhatsApp (or Telegram), with no new app to learn</a:t>
            </a:r>
          </a:p>
        </p:txBody>
      </p:sp>
      <p:sp>
        <p:nvSpPr>
          <p:cNvPr id="90" name="Opportunity card 3"/>
          <p:cNvSpPr/>
          <p:nvPr/>
        </p:nvSpPr>
        <p:spPr>
          <a:xfrm>
            <a:off x="6099048" y="1161288"/>
            <a:ext cx="2688336" cy="3502152"/>
          </a:xfrm>
          <a:prstGeom prst="roundRect">
            <a:avLst>
              <a:gd name="adj" fmla="val 2721"/>
            </a:avLst>
          </a:prstGeom>
          <a:solidFill>
            <a:srgbClr val="FCE8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Icon bg star"/>
          <p:cNvSpPr/>
          <p:nvPr/>
        </p:nvSpPr>
        <p:spPr>
          <a:xfrm>
            <a:off x="6263640" y="1325880"/>
            <a:ext cx="420624" cy="420624"/>
          </a:xfrm>
          <a:prstGeom prst="ellipse">
            <a:avLst/>
          </a:prstGeom>
          <a:solidFill>
            <a:srgbClr val="D930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2" name="Picture 91" descr="star.png"/>
          <p:cNvPicPr>
            <a:picLocks noChangeAspect="1"/>
          </p:cNvPicPr>
          <p:nvPr/>
        </p:nvPicPr>
        <p:blipFill>
          <a:blip r:embed="rId7"/>
          <a:stretch>
            <a:fillRect/>
          </a:stretch>
        </p:blipFill>
        <p:spPr>
          <a:xfrm>
            <a:off x="6356177" y="1418417"/>
            <a:ext cx="235549" cy="235549"/>
          </a:xfrm>
          <a:prstGeom prst="rect">
            <a:avLst/>
          </a:prstGeom>
        </p:spPr>
      </p:pic>
      <p:sp>
        <p:nvSpPr>
          <p:cNvPr id="93" name="TextBox 92"/>
          <p:cNvSpPr txBox="1"/>
          <p:nvPr/>
        </p:nvSpPr>
        <p:spPr>
          <a:xfrm>
            <a:off x="6775704" y="1307592"/>
            <a:ext cx="1901952" cy="457200"/>
          </a:xfrm>
          <a:prstGeom prst="rect">
            <a:avLst/>
          </a:prstGeom>
          <a:noFill/>
        </p:spPr>
        <p:txBody>
          <a:bodyPr wrap="square" lIns="18288" rIns="18288" tIns="18288" bIns="18288" anchor="ctr">
            <a:noAutofit/>
          </a:bodyPr>
          <a:lstStyle/>
          <a:p>
            <a:pPr algn="l"/>
            <a:r>
              <a:rPr sz="1150" b="1" i="0">
                <a:solidFill>
                  <a:srgbClr val="202124"/>
                </a:solidFill>
                <a:latin typeface="Google Sans Flex"/>
              </a:rPr>
              <a:t>USP of the solution</a:t>
            </a:r>
          </a:p>
        </p:txBody>
      </p:sp>
      <p:sp>
        <p:nvSpPr>
          <p:cNvPr id="94" name="TextBox 93"/>
          <p:cNvSpPr txBox="1"/>
          <p:nvPr/>
        </p:nvSpPr>
        <p:spPr>
          <a:xfrm>
            <a:off x="6245352" y="1892808"/>
            <a:ext cx="2414016" cy="2697480"/>
          </a:xfrm>
          <a:prstGeom prst="rect">
            <a:avLst/>
          </a:prstGeom>
          <a:noFill/>
        </p:spPr>
        <p:txBody>
          <a:bodyPr wrap="square" lIns="18288" rIns="18288" tIns="18288" bIns="18288" anchor="t">
            <a:noAutofit/>
          </a:bodyPr>
          <a:lstStyle/>
          <a:p>
            <a:pPr algn="l" marL="128016" indent="-128016">
              <a:spcAft>
                <a:spcPts val="600"/>
              </a:spcAft>
              <a:buClr>
                <a:srgbClr val="D93025"/>
              </a:buClr>
              <a:buFont typeface="Arial"/>
              <a:buChar char="•"/>
            </a:pPr>
            <a:r>
              <a:rPr sz="1050" b="1" i="0">
                <a:solidFill>
                  <a:srgbClr val="202124"/>
                </a:solidFill>
                <a:latin typeface="Google Sans Flex"/>
              </a:rPr>
              <a:t>From WhatsApp photos to an agent-ready catalog with Gemini, no site to build first</a:t>
            </a:r>
          </a:p>
          <a:p>
            <a:pPr algn="l" marL="128016" indent="-128016">
              <a:spcAft>
                <a:spcPts val="600"/>
              </a:spcAft>
              <a:buClr>
                <a:srgbClr val="D93025"/>
              </a:buClr>
              <a:buFont typeface="Arial"/>
              <a:buChar char="•"/>
            </a:pPr>
            <a:r>
              <a:rPr sz="1050" b="0" i="0">
                <a:solidFill>
                  <a:srgbClr val="202124"/>
                </a:solidFill>
                <a:latin typeface="Google Sans Flex"/>
              </a:rPr>
              <a:t>Brings chat-first micro-sellers into AI commerce with a channel they own, paid only per order</a:t>
            </a:r>
          </a:p>
          <a:p>
            <a:pPr algn="l" marL="128016" indent="-128016">
              <a:spcAft>
                <a:spcPts val="600"/>
              </a:spcAft>
              <a:buClr>
                <a:srgbClr val="D93025"/>
              </a:buClr>
              <a:buFont typeface="Arial"/>
              <a:buChar char="•"/>
            </a:pPr>
            <a:r>
              <a:rPr sz="1050" b="0" i="0">
                <a:solidFill>
                  <a:srgbClr val="202124"/>
                </a:solidFill>
                <a:latin typeface="Google Sans Flex"/>
              </a:rPr>
              <a:t>One core with pluggable country packs for payment, shipping and OMS</a:t>
            </a:r>
          </a:p>
          <a:p>
            <a:pPr algn="l" marL="128016" indent="-128016">
              <a:spcAft>
                <a:spcPts val="600"/>
              </a:spcAft>
              <a:buClr>
                <a:srgbClr val="D93025"/>
              </a:buClr>
              <a:buFont typeface="Arial"/>
              <a:buChar char="•"/>
            </a:pPr>
            <a:r>
              <a:rPr sz="1050" b="0" i="0">
                <a:solidFill>
                  <a:srgbClr val="202124"/>
                </a:solidFill>
                <a:latin typeface="Google Sans Flex"/>
              </a:rPr>
              <a:t>Privacy by design: tenant-isolated AI and minimal data, built with Indonesia's PDP Law in mind</a:t>
            </a: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3" name="Shape 83"/>
        <p:cNvGrpSpPr/>
        <p:nvPr/>
      </p:nvGrpSpPr>
      <p:grpSpPr>
        <a:xfrm>
          <a:off x="0" y="0"/>
          <a:ext cx="0" cy="0"/>
          <a:chOff x="0" y="0"/>
          <a:chExt cx="0" cy="0"/>
        </a:xfrm>
      </p:grpSpPr>
      <p:pic>
        <p:nvPicPr>
          <p:cNvPr id="84" name="Google Shape;84;p17"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85" name="Google Shape;85;p17"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86" name="Google Shape;86;p17"/>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87" name="Google Shape;87;p17"/>
          <p:cNvSpPr txBox="1"/>
          <p:nvPr/>
        </p:nvSpPr>
        <p:spPr>
          <a:xfrm>
            <a:off x="265350" y="663825"/>
            <a:ext cx="8943000" cy="4572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List of features offered by the solution</a:t>
            </a:r>
            <a:endParaRPr sz="1600">
              <a:latin typeface="Google Sans Flex Medium"/>
              <a:ea typeface="Google Sans Flex Medium"/>
              <a:cs typeface="Google Sans Flex Medium"/>
              <a:sym typeface="Google Sans Flex Medium"/>
            </a:endParaRPr>
          </a:p>
        </p:txBody>
      </p:sp>
      <p:sp>
        <p:nvSpPr>
          <p:cNvPr id="88" name="Feature card 1"/>
          <p:cNvSpPr/>
          <p:nvPr/>
        </p:nvSpPr>
        <p:spPr>
          <a:xfrm>
            <a:off x="356616" y="1161288"/>
            <a:ext cx="2688336" cy="1673352"/>
          </a:xfrm>
          <a:prstGeom prst="roundRect">
            <a:avLst>
              <a:gd name="adj" fmla="val 4371"/>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Icon bg catalog"/>
          <p:cNvSpPr/>
          <p:nvPr/>
        </p:nvSpPr>
        <p:spPr>
          <a:xfrm>
            <a:off x="521208" y="1325880"/>
            <a:ext cx="420624" cy="420624"/>
          </a:xfrm>
          <a:prstGeom prst="ellipse">
            <a:avLst/>
          </a:prstGeom>
          <a:solidFill>
            <a:srgbClr val="1A73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0" name="Picture 89" descr="catalog.png"/>
          <p:cNvPicPr>
            <a:picLocks noChangeAspect="1"/>
          </p:cNvPicPr>
          <p:nvPr/>
        </p:nvPicPr>
        <p:blipFill>
          <a:blip r:embed="rId5"/>
          <a:stretch>
            <a:fillRect/>
          </a:stretch>
        </p:blipFill>
        <p:spPr>
          <a:xfrm>
            <a:off x="613745" y="1418417"/>
            <a:ext cx="235549" cy="235549"/>
          </a:xfrm>
          <a:prstGeom prst="rect">
            <a:avLst/>
          </a:prstGeom>
        </p:spPr>
      </p:pic>
      <p:sp>
        <p:nvSpPr>
          <p:cNvPr id="91" name="TextBox 90"/>
          <p:cNvSpPr txBox="1"/>
          <p:nvPr/>
        </p:nvSpPr>
        <p:spPr>
          <a:xfrm>
            <a:off x="1033271" y="1307592"/>
            <a:ext cx="1901952" cy="457200"/>
          </a:xfrm>
          <a:prstGeom prst="rect">
            <a:avLst/>
          </a:prstGeom>
          <a:noFill/>
        </p:spPr>
        <p:txBody>
          <a:bodyPr wrap="square" lIns="18288" rIns="18288" tIns="18288" bIns="18288" anchor="ctr">
            <a:noAutofit/>
          </a:bodyPr>
          <a:lstStyle/>
          <a:p>
            <a:pPr algn="l"/>
            <a:r>
              <a:rPr sz="1150" b="1" i="0">
                <a:solidFill>
                  <a:srgbClr val="202124"/>
                </a:solidFill>
                <a:latin typeface="Google Sans Flex"/>
              </a:rPr>
              <a:t>AI catalog builder</a:t>
            </a:r>
          </a:p>
        </p:txBody>
      </p:sp>
      <p:sp>
        <p:nvSpPr>
          <p:cNvPr id="92" name="Status 1"/>
          <p:cNvSpPr/>
          <p:nvPr/>
        </p:nvSpPr>
        <p:spPr>
          <a:xfrm>
            <a:off x="502920" y="1837943"/>
            <a:ext cx="429768" cy="201168"/>
          </a:xfrm>
          <a:prstGeom prst="roundRect">
            <a:avLst>
              <a:gd name="adj" fmla="val 50000"/>
            </a:avLst>
          </a:prstGeom>
          <a:solidFill>
            <a:srgbClr val="E6F4EA"/>
          </a:solidFill>
          <a:ln w="6350">
            <a:solidFill>
              <a:srgbClr val="188038"/>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ctr"/>
            <a:r>
              <a:rPr sz="750" b="1" i="0">
                <a:solidFill>
                  <a:srgbClr val="188038"/>
                </a:solidFill>
                <a:latin typeface="Google Sans Flex"/>
              </a:rPr>
              <a:t>Built</a:t>
            </a:r>
          </a:p>
        </p:txBody>
      </p:sp>
      <p:sp>
        <p:nvSpPr>
          <p:cNvPr id="93" name="TextBox 92"/>
          <p:cNvSpPr txBox="1"/>
          <p:nvPr/>
        </p:nvSpPr>
        <p:spPr>
          <a:xfrm>
            <a:off x="502920" y="2093976"/>
            <a:ext cx="2414016" cy="685800"/>
          </a:xfrm>
          <a:prstGeom prst="rect">
            <a:avLst/>
          </a:prstGeom>
          <a:noFill/>
        </p:spPr>
        <p:txBody>
          <a:bodyPr wrap="square" lIns="18288" rIns="18288" tIns="18288" bIns="18288" anchor="t">
            <a:noAutofit/>
          </a:bodyPr>
          <a:lstStyle/>
          <a:p>
            <a:pPr algn="l"/>
            <a:r>
              <a:rPr sz="950" b="0" i="0">
                <a:solidFill>
                  <a:srgbClr val="202124"/>
                </a:solidFill>
                <a:latin typeface="Google Sans Flex"/>
              </a:rPr>
              <a:t>Gemini reads product photos, voice notes, captions and CSV files, then drafts products, variants, prices and weights for the seller to confirm.</a:t>
            </a:r>
          </a:p>
        </p:txBody>
      </p:sp>
      <p:sp>
        <p:nvSpPr>
          <p:cNvPr id="94" name="Feature card 2"/>
          <p:cNvSpPr/>
          <p:nvPr/>
        </p:nvSpPr>
        <p:spPr>
          <a:xfrm>
            <a:off x="3227832" y="1161288"/>
            <a:ext cx="2688336" cy="1673352"/>
          </a:xfrm>
          <a:prstGeom prst="roundRect">
            <a:avLst>
              <a:gd name="adj" fmla="val 4371"/>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Icon bg storefront"/>
          <p:cNvSpPr/>
          <p:nvPr/>
        </p:nvSpPr>
        <p:spPr>
          <a:xfrm>
            <a:off x="3392424" y="1325880"/>
            <a:ext cx="420624" cy="420624"/>
          </a:xfrm>
          <a:prstGeom prst="ellipse">
            <a:avLst/>
          </a:prstGeom>
          <a:solidFill>
            <a:srgbClr val="1A73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6" name="Picture 95" descr="storefront.png"/>
          <p:cNvPicPr>
            <a:picLocks noChangeAspect="1"/>
          </p:cNvPicPr>
          <p:nvPr/>
        </p:nvPicPr>
        <p:blipFill>
          <a:blip r:embed="rId6"/>
          <a:stretch>
            <a:fillRect/>
          </a:stretch>
        </p:blipFill>
        <p:spPr>
          <a:xfrm>
            <a:off x="3484961" y="1418417"/>
            <a:ext cx="235549" cy="235549"/>
          </a:xfrm>
          <a:prstGeom prst="rect">
            <a:avLst/>
          </a:prstGeom>
        </p:spPr>
      </p:pic>
      <p:sp>
        <p:nvSpPr>
          <p:cNvPr id="97" name="TextBox 96"/>
          <p:cNvSpPr txBox="1"/>
          <p:nvPr/>
        </p:nvSpPr>
        <p:spPr>
          <a:xfrm>
            <a:off x="3904488" y="1307592"/>
            <a:ext cx="1901952" cy="457200"/>
          </a:xfrm>
          <a:prstGeom prst="rect">
            <a:avLst/>
          </a:prstGeom>
          <a:noFill/>
        </p:spPr>
        <p:txBody>
          <a:bodyPr wrap="square" lIns="18288" rIns="18288" tIns="18288" bIns="18288" anchor="ctr">
            <a:noAutofit/>
          </a:bodyPr>
          <a:lstStyle/>
          <a:p>
            <a:pPr algn="l"/>
            <a:r>
              <a:rPr sz="1150" b="1" i="0">
                <a:solidFill>
                  <a:srgbClr val="202124"/>
                </a:solidFill>
                <a:latin typeface="Google Sans Flex"/>
              </a:rPr>
              <a:t>Agent-ready storefront</a:t>
            </a:r>
          </a:p>
        </p:txBody>
      </p:sp>
      <p:sp>
        <p:nvSpPr>
          <p:cNvPr id="98" name="Status 2"/>
          <p:cNvSpPr/>
          <p:nvPr/>
        </p:nvSpPr>
        <p:spPr>
          <a:xfrm>
            <a:off x="3374136" y="1837943"/>
            <a:ext cx="429768" cy="201168"/>
          </a:xfrm>
          <a:prstGeom prst="roundRect">
            <a:avLst>
              <a:gd name="adj" fmla="val 50000"/>
            </a:avLst>
          </a:prstGeom>
          <a:solidFill>
            <a:srgbClr val="E6F4EA"/>
          </a:solidFill>
          <a:ln w="6350">
            <a:solidFill>
              <a:srgbClr val="188038"/>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ctr"/>
            <a:r>
              <a:rPr sz="750" b="1" i="0">
                <a:solidFill>
                  <a:srgbClr val="188038"/>
                </a:solidFill>
                <a:latin typeface="Google Sans Flex"/>
              </a:rPr>
              <a:t>Built</a:t>
            </a:r>
          </a:p>
        </p:txBody>
      </p:sp>
      <p:sp>
        <p:nvSpPr>
          <p:cNvPr id="99" name="TextBox 98"/>
          <p:cNvSpPr txBox="1"/>
          <p:nvPr/>
        </p:nvSpPr>
        <p:spPr>
          <a:xfrm>
            <a:off x="3374136" y="2093976"/>
            <a:ext cx="2414016" cy="685800"/>
          </a:xfrm>
          <a:prstGeom prst="rect">
            <a:avLst/>
          </a:prstGeom>
          <a:noFill/>
        </p:spPr>
        <p:txBody>
          <a:bodyPr wrap="square" lIns="18288" rIns="18288" tIns="18288" bIns="18288" anchor="t">
            <a:noAutofit/>
          </a:bodyPr>
          <a:lstStyle/>
          <a:p>
            <a:pPr algn="l"/>
            <a:r>
              <a:rPr sz="950" b="0" i="0">
                <a:solidFill>
                  <a:srgbClr val="202124"/>
                </a:solidFill>
                <a:latin typeface="Google Sans Flex"/>
              </a:rPr>
              <a:t>Each shop has its own address, speaks MCP, UCP and schema.org, scores 0–100 for agent readiness, and has a store link for buyers without an agent.</a:t>
            </a:r>
          </a:p>
        </p:txBody>
      </p:sp>
      <p:sp>
        <p:nvSpPr>
          <p:cNvPr id="100" name="Feature card 3"/>
          <p:cNvSpPr/>
          <p:nvPr/>
        </p:nvSpPr>
        <p:spPr>
          <a:xfrm>
            <a:off x="6099048" y="1161288"/>
            <a:ext cx="2688336" cy="1673352"/>
          </a:xfrm>
          <a:prstGeom prst="roundRect">
            <a:avLst>
              <a:gd name="adj" fmla="val 4371"/>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Icon bg whatsapp"/>
          <p:cNvSpPr/>
          <p:nvPr/>
        </p:nvSpPr>
        <p:spPr>
          <a:xfrm>
            <a:off x="6263640" y="1325880"/>
            <a:ext cx="420624" cy="420624"/>
          </a:xfrm>
          <a:prstGeom prst="ellipse">
            <a:avLst/>
          </a:prstGeom>
          <a:solidFill>
            <a:srgbClr val="1880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2" name="Picture 101" descr="whatsapp.png"/>
          <p:cNvPicPr>
            <a:picLocks noChangeAspect="1"/>
          </p:cNvPicPr>
          <p:nvPr/>
        </p:nvPicPr>
        <p:blipFill>
          <a:blip r:embed="rId7"/>
          <a:stretch>
            <a:fillRect/>
          </a:stretch>
        </p:blipFill>
        <p:spPr>
          <a:xfrm>
            <a:off x="6356177" y="1418417"/>
            <a:ext cx="235549" cy="235549"/>
          </a:xfrm>
          <a:prstGeom prst="rect">
            <a:avLst/>
          </a:prstGeom>
        </p:spPr>
      </p:pic>
      <p:sp>
        <p:nvSpPr>
          <p:cNvPr id="103" name="TextBox 102"/>
          <p:cNvSpPr txBox="1"/>
          <p:nvPr/>
        </p:nvSpPr>
        <p:spPr>
          <a:xfrm>
            <a:off x="6775704" y="1307592"/>
            <a:ext cx="1901952" cy="457200"/>
          </a:xfrm>
          <a:prstGeom prst="rect">
            <a:avLst/>
          </a:prstGeom>
          <a:noFill/>
        </p:spPr>
        <p:txBody>
          <a:bodyPr wrap="square" lIns="18288" rIns="18288" tIns="18288" bIns="18288" anchor="ctr">
            <a:noAutofit/>
          </a:bodyPr>
          <a:lstStyle/>
          <a:p>
            <a:pPr algn="l"/>
            <a:r>
              <a:rPr sz="1150" b="1" i="0">
                <a:solidFill>
                  <a:srgbClr val="202124"/>
                </a:solidFill>
                <a:latin typeface="Google Sans Flex"/>
              </a:rPr>
              <a:t>WhatsApp seller agent</a:t>
            </a:r>
          </a:p>
        </p:txBody>
      </p:sp>
      <p:sp>
        <p:nvSpPr>
          <p:cNvPr id="104" name="Status 3"/>
          <p:cNvSpPr/>
          <p:nvPr/>
        </p:nvSpPr>
        <p:spPr>
          <a:xfrm>
            <a:off x="6245352" y="1837943"/>
            <a:ext cx="429768" cy="201168"/>
          </a:xfrm>
          <a:prstGeom prst="roundRect">
            <a:avLst>
              <a:gd name="adj" fmla="val 50000"/>
            </a:avLst>
          </a:prstGeom>
          <a:solidFill>
            <a:srgbClr val="E6F4EA"/>
          </a:solidFill>
          <a:ln w="6350">
            <a:solidFill>
              <a:srgbClr val="188038"/>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ctr"/>
            <a:r>
              <a:rPr sz="750" b="1" i="0">
                <a:solidFill>
                  <a:srgbClr val="188038"/>
                </a:solidFill>
                <a:latin typeface="Google Sans Flex"/>
              </a:rPr>
              <a:t>Built</a:t>
            </a:r>
          </a:p>
        </p:txBody>
      </p:sp>
      <p:sp>
        <p:nvSpPr>
          <p:cNvPr id="105" name="TextBox 104"/>
          <p:cNvSpPr txBox="1"/>
          <p:nvPr/>
        </p:nvSpPr>
        <p:spPr>
          <a:xfrm>
            <a:off x="6245352" y="2093976"/>
            <a:ext cx="2414016" cy="685800"/>
          </a:xfrm>
          <a:prstGeom prst="rect">
            <a:avLst/>
          </a:prstGeom>
          <a:noFill/>
        </p:spPr>
        <p:txBody>
          <a:bodyPr wrap="square" lIns="18288" rIns="18288" tIns="18288" bIns="18288" anchor="t">
            <a:noAutofit/>
          </a:bodyPr>
          <a:lstStyle/>
          <a:p>
            <a:pPr algn="l"/>
            <a:r>
              <a:rPr sz="950" b="0" i="0">
                <a:solidFill>
                  <a:srgbClr val="202124"/>
                </a:solidFill>
                <a:latin typeface="Google Sans Flex"/>
              </a:rPr>
              <a:t>An ADK agent updates stock, prices and orders on WhatsApp or Telegram, and new sellers sign up in chat. Buttons never go through the model.</a:t>
            </a:r>
          </a:p>
        </p:txBody>
      </p:sp>
      <p:sp>
        <p:nvSpPr>
          <p:cNvPr id="106" name="Feature card 4"/>
          <p:cNvSpPr/>
          <p:nvPr/>
        </p:nvSpPr>
        <p:spPr>
          <a:xfrm>
            <a:off x="356616" y="2990088"/>
            <a:ext cx="2688336" cy="1673352"/>
          </a:xfrm>
          <a:prstGeom prst="roundRect">
            <a:avLst>
              <a:gd name="adj" fmla="val 4371"/>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Icon bg checkout"/>
          <p:cNvSpPr/>
          <p:nvPr/>
        </p:nvSpPr>
        <p:spPr>
          <a:xfrm>
            <a:off x="521208" y="3154680"/>
            <a:ext cx="420624" cy="420624"/>
          </a:xfrm>
          <a:prstGeom prst="ellipse">
            <a:avLst/>
          </a:prstGeom>
          <a:solidFill>
            <a:srgbClr val="1A73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8" name="Picture 107" descr="checkout.png"/>
          <p:cNvPicPr>
            <a:picLocks noChangeAspect="1"/>
          </p:cNvPicPr>
          <p:nvPr/>
        </p:nvPicPr>
        <p:blipFill>
          <a:blip r:embed="rId8"/>
          <a:stretch>
            <a:fillRect/>
          </a:stretch>
        </p:blipFill>
        <p:spPr>
          <a:xfrm>
            <a:off x="613745" y="3247217"/>
            <a:ext cx="235549" cy="235549"/>
          </a:xfrm>
          <a:prstGeom prst="rect">
            <a:avLst/>
          </a:prstGeom>
        </p:spPr>
      </p:pic>
      <p:sp>
        <p:nvSpPr>
          <p:cNvPr id="109" name="TextBox 108"/>
          <p:cNvSpPr txBox="1"/>
          <p:nvPr/>
        </p:nvSpPr>
        <p:spPr>
          <a:xfrm>
            <a:off x="1033271" y="3136392"/>
            <a:ext cx="1901952" cy="457200"/>
          </a:xfrm>
          <a:prstGeom prst="rect">
            <a:avLst/>
          </a:prstGeom>
          <a:noFill/>
        </p:spPr>
        <p:txBody>
          <a:bodyPr wrap="square" lIns="18288" rIns="18288" tIns="18288" bIns="18288" anchor="ctr">
            <a:noAutofit/>
          </a:bodyPr>
          <a:lstStyle/>
          <a:p>
            <a:pPr algn="l"/>
            <a:r>
              <a:rPr sz="1150" b="1" i="0">
                <a:solidFill>
                  <a:srgbClr val="202124"/>
                </a:solidFill>
                <a:latin typeface="Google Sans Flex"/>
              </a:rPr>
              <a:t>Safe agent checkout</a:t>
            </a:r>
          </a:p>
        </p:txBody>
      </p:sp>
      <p:sp>
        <p:nvSpPr>
          <p:cNvPr id="110" name="Status 4"/>
          <p:cNvSpPr/>
          <p:nvPr/>
        </p:nvSpPr>
        <p:spPr>
          <a:xfrm>
            <a:off x="502920" y="3666744"/>
            <a:ext cx="1223467" cy="201168"/>
          </a:xfrm>
          <a:prstGeom prst="roundRect">
            <a:avLst>
              <a:gd name="adj" fmla="val 50000"/>
            </a:avLst>
          </a:prstGeom>
          <a:solidFill>
            <a:srgbClr val="E8F0FE"/>
          </a:solidFill>
          <a:ln w="6350">
            <a:solidFill>
              <a:srgbClr val="1A73E8"/>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ctr"/>
            <a:r>
              <a:rPr sz="750" b="1" i="0">
                <a:solidFill>
                  <a:srgbClr val="1A73E8"/>
                </a:solidFill>
                <a:latin typeface="Google Sans Flex"/>
              </a:rPr>
              <a:t>Built · QRIS mocked</a:t>
            </a:r>
          </a:p>
        </p:txBody>
      </p:sp>
      <p:sp>
        <p:nvSpPr>
          <p:cNvPr id="111" name="TextBox 110"/>
          <p:cNvSpPr txBox="1"/>
          <p:nvPr/>
        </p:nvSpPr>
        <p:spPr>
          <a:xfrm>
            <a:off x="502920" y="3922776"/>
            <a:ext cx="2414016" cy="685800"/>
          </a:xfrm>
          <a:prstGeom prst="rect">
            <a:avLst/>
          </a:prstGeom>
          <a:noFill/>
        </p:spPr>
        <p:txBody>
          <a:bodyPr wrap="square" lIns="18288" rIns="18288" tIns="18288" bIns="18288" anchor="t">
            <a:noAutofit/>
          </a:bodyPr>
          <a:lstStyle/>
          <a:p>
            <a:pPr algn="l"/>
            <a:r>
              <a:rPr sz="950" b="0" i="0">
                <a:solidFill>
                  <a:srgbClr val="202124"/>
                </a:solidFill>
                <a:latin typeface="Google Sans Flex"/>
              </a:rPr>
              <a:t>A cart of up to 10 products is reserved all or nothing; uncertain stock is confirmed with the seller before payment. 0 oversold when 100 buyers race.</a:t>
            </a:r>
          </a:p>
        </p:txBody>
      </p:sp>
      <p:sp>
        <p:nvSpPr>
          <p:cNvPr id="112" name="Feature card 5"/>
          <p:cNvSpPr/>
          <p:nvPr/>
        </p:nvSpPr>
        <p:spPr>
          <a:xfrm>
            <a:off x="3227832" y="2990088"/>
            <a:ext cx="2688336" cy="1673352"/>
          </a:xfrm>
          <a:prstGeom prst="roundRect">
            <a:avLst>
              <a:gd name="adj" fmla="val 4371"/>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Icon bg shipping"/>
          <p:cNvSpPr/>
          <p:nvPr/>
        </p:nvSpPr>
        <p:spPr>
          <a:xfrm>
            <a:off x="3392424" y="3154680"/>
            <a:ext cx="420624" cy="420624"/>
          </a:xfrm>
          <a:prstGeom prst="ellipse">
            <a:avLst/>
          </a:prstGeom>
          <a:solidFill>
            <a:srgbClr val="1A73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4" name="Picture 113" descr="shipping.png"/>
          <p:cNvPicPr>
            <a:picLocks noChangeAspect="1"/>
          </p:cNvPicPr>
          <p:nvPr/>
        </p:nvPicPr>
        <p:blipFill>
          <a:blip r:embed="rId9"/>
          <a:stretch>
            <a:fillRect/>
          </a:stretch>
        </p:blipFill>
        <p:spPr>
          <a:xfrm>
            <a:off x="3484961" y="3247217"/>
            <a:ext cx="235549" cy="235549"/>
          </a:xfrm>
          <a:prstGeom prst="rect">
            <a:avLst/>
          </a:prstGeom>
        </p:spPr>
      </p:pic>
      <p:sp>
        <p:nvSpPr>
          <p:cNvPr id="115" name="TextBox 114"/>
          <p:cNvSpPr txBox="1"/>
          <p:nvPr/>
        </p:nvSpPr>
        <p:spPr>
          <a:xfrm>
            <a:off x="3904488" y="3136392"/>
            <a:ext cx="1901952" cy="457200"/>
          </a:xfrm>
          <a:prstGeom prst="rect">
            <a:avLst/>
          </a:prstGeom>
          <a:noFill/>
        </p:spPr>
        <p:txBody>
          <a:bodyPr wrap="square" lIns="18288" rIns="18288" tIns="18288" bIns="18288" anchor="ctr">
            <a:noAutofit/>
          </a:bodyPr>
          <a:lstStyle/>
          <a:p>
            <a:pPr algn="l"/>
            <a:r>
              <a:rPr sz="1150" b="1" i="0">
                <a:solidFill>
                  <a:srgbClr val="202124"/>
                </a:solidFill>
                <a:latin typeface="Google Sans Flex"/>
              </a:rPr>
              <a:t>Shipping &amp; payouts</a:t>
            </a:r>
          </a:p>
        </p:txBody>
      </p:sp>
      <p:sp>
        <p:nvSpPr>
          <p:cNvPr id="116" name="Status 5"/>
          <p:cNvSpPr/>
          <p:nvPr/>
        </p:nvSpPr>
        <p:spPr>
          <a:xfrm>
            <a:off x="3374136" y="3666744"/>
            <a:ext cx="940003" cy="201168"/>
          </a:xfrm>
          <a:prstGeom prst="roundRect">
            <a:avLst>
              <a:gd name="adj" fmla="val 50000"/>
            </a:avLst>
          </a:prstGeom>
          <a:solidFill>
            <a:srgbClr val="FEF7E0"/>
          </a:solidFill>
          <a:ln w="6350">
            <a:solidFill>
              <a:srgbClr val="B06000"/>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ctr"/>
            <a:r>
              <a:rPr sz="750" b="1" i="0">
                <a:solidFill>
                  <a:srgbClr val="B06000"/>
                </a:solidFill>
                <a:latin typeface="Google Sans Flex"/>
              </a:rPr>
              <a:t>Mocked in demo</a:t>
            </a:r>
          </a:p>
        </p:txBody>
      </p:sp>
      <p:sp>
        <p:nvSpPr>
          <p:cNvPr id="117" name="TextBox 116"/>
          <p:cNvSpPr txBox="1"/>
          <p:nvPr/>
        </p:nvSpPr>
        <p:spPr>
          <a:xfrm>
            <a:off x="3374136" y="3922776"/>
            <a:ext cx="2414016" cy="685800"/>
          </a:xfrm>
          <a:prstGeom prst="rect">
            <a:avLst/>
          </a:prstGeom>
          <a:noFill/>
        </p:spPr>
        <p:txBody>
          <a:bodyPr wrap="square" lIns="18288" rIns="18288" tIns="18288" bIns="18288" anchor="t">
            <a:noAutofit/>
          </a:bodyPr>
          <a:lstStyle/>
          <a:p>
            <a:pPr algn="l"/>
            <a:r>
              <a:rPr sz="950" b="0" i="0">
                <a:solidFill>
                  <a:srgbClr val="202124"/>
                </a:solidFill>
                <a:latin typeface="Google Sans Flex"/>
              </a:rPr>
              <a:t>Courier rates; the payout waits out a return window, then is released minus commission. Biteship and Xendit are wired; the demo uses mocks.</a:t>
            </a:r>
          </a:p>
        </p:txBody>
      </p:sp>
      <p:sp>
        <p:nvSpPr>
          <p:cNvPr id="118" name="Feature card 6"/>
          <p:cNvSpPr/>
          <p:nvPr/>
        </p:nvSpPr>
        <p:spPr>
          <a:xfrm>
            <a:off x="6099048" y="2990088"/>
            <a:ext cx="2688336" cy="1673352"/>
          </a:xfrm>
          <a:prstGeom prst="roundRect">
            <a:avLst>
              <a:gd name="adj" fmla="val 4371"/>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Icon bg connectors"/>
          <p:cNvSpPr/>
          <p:nvPr/>
        </p:nvSpPr>
        <p:spPr>
          <a:xfrm>
            <a:off x="6263640" y="3154680"/>
            <a:ext cx="420624" cy="420624"/>
          </a:xfrm>
          <a:prstGeom prst="ellipse">
            <a:avLst/>
          </a:prstGeom>
          <a:solidFill>
            <a:srgbClr val="1A73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0" name="Picture 119" descr="connectors.png"/>
          <p:cNvPicPr>
            <a:picLocks noChangeAspect="1"/>
          </p:cNvPicPr>
          <p:nvPr/>
        </p:nvPicPr>
        <p:blipFill>
          <a:blip r:embed="rId10"/>
          <a:stretch>
            <a:fillRect/>
          </a:stretch>
        </p:blipFill>
        <p:spPr>
          <a:xfrm>
            <a:off x="6356177" y="3247217"/>
            <a:ext cx="235549" cy="235549"/>
          </a:xfrm>
          <a:prstGeom prst="rect">
            <a:avLst/>
          </a:prstGeom>
        </p:spPr>
      </p:pic>
      <p:sp>
        <p:nvSpPr>
          <p:cNvPr id="121" name="TextBox 120"/>
          <p:cNvSpPr txBox="1"/>
          <p:nvPr/>
        </p:nvSpPr>
        <p:spPr>
          <a:xfrm>
            <a:off x="6775704" y="3136392"/>
            <a:ext cx="1901952" cy="457200"/>
          </a:xfrm>
          <a:prstGeom prst="rect">
            <a:avLst/>
          </a:prstGeom>
          <a:noFill/>
        </p:spPr>
        <p:txBody>
          <a:bodyPr wrap="square" lIns="18288" rIns="18288" tIns="18288" bIns="18288" anchor="ctr">
            <a:noAutofit/>
          </a:bodyPr>
          <a:lstStyle/>
          <a:p>
            <a:pPr algn="l"/>
            <a:r>
              <a:rPr sz="1150" b="1" i="0">
                <a:solidFill>
                  <a:srgbClr val="202124"/>
                </a:solidFill>
                <a:latin typeface="Google Sans Flex"/>
              </a:rPr>
              <a:t>Connectors</a:t>
            </a:r>
          </a:p>
        </p:txBody>
      </p:sp>
      <p:sp>
        <p:nvSpPr>
          <p:cNvPr id="122" name="Status 6"/>
          <p:cNvSpPr/>
          <p:nvPr/>
        </p:nvSpPr>
        <p:spPr>
          <a:xfrm>
            <a:off x="6245352" y="3666744"/>
            <a:ext cx="1110081" cy="201168"/>
          </a:xfrm>
          <a:prstGeom prst="roundRect">
            <a:avLst>
              <a:gd name="adj" fmla="val 50000"/>
            </a:avLst>
          </a:prstGeom>
          <a:solidFill>
            <a:srgbClr val="E8F0FE"/>
          </a:solidFill>
          <a:ln w="6350">
            <a:solidFill>
              <a:srgbClr val="1A73E8"/>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ctr"/>
            <a:r>
              <a:rPr sz="750" b="1" i="0">
                <a:solidFill>
                  <a:srgbClr val="1A73E8"/>
                </a:solidFill>
                <a:latin typeface="Google Sans Flex"/>
              </a:rPr>
              <a:t>Built · more next</a:t>
            </a:r>
          </a:p>
        </p:txBody>
      </p:sp>
      <p:sp>
        <p:nvSpPr>
          <p:cNvPr id="123" name="TextBox 122"/>
          <p:cNvSpPr txBox="1"/>
          <p:nvPr/>
        </p:nvSpPr>
        <p:spPr>
          <a:xfrm>
            <a:off x="6245352" y="3922776"/>
            <a:ext cx="2414016" cy="685800"/>
          </a:xfrm>
          <a:prstGeom prst="rect">
            <a:avLst/>
          </a:prstGeom>
          <a:noFill/>
        </p:spPr>
        <p:txBody>
          <a:bodyPr wrap="square" lIns="18288" rIns="18288" tIns="18288" bIns="18288" anchor="t">
            <a:noAutofit/>
          </a:bodyPr>
          <a:lstStyle/>
          <a:p>
            <a:pPr algn="l"/>
            <a:r>
              <a:rPr sz="950" b="0" i="0">
                <a:solidFill>
                  <a:srgbClr val="202124"/>
                </a:solidFill>
                <a:latin typeface="Google Sans Flex"/>
              </a:rPr>
              <a:t>Instagram post import and an OpenAPI Connector API for website builders work today. Google Sheets, OMSs and WooCommerce come next.</a:t>
            </a: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1" name="Shape 91"/>
        <p:cNvGrpSpPr/>
        <p:nvPr/>
      </p:nvGrpSpPr>
      <p:grpSpPr>
        <a:xfrm>
          <a:off x="0" y="0"/>
          <a:ext cx="0" cy="0"/>
          <a:chOff x="0" y="0"/>
          <a:chExt cx="0" cy="0"/>
        </a:xfrm>
      </p:grpSpPr>
      <p:pic>
        <p:nvPicPr>
          <p:cNvPr id="92" name="Google Shape;92;p18"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93" name="Google Shape;93;p18"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94" name="Google Shape;94;p18"/>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95" name="Google Shape;95;p18"/>
          <p:cNvSpPr txBox="1"/>
          <p:nvPr/>
        </p:nvSpPr>
        <p:spPr>
          <a:xfrm>
            <a:off x="265350" y="663825"/>
            <a:ext cx="8943000" cy="4572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Process flow diagram or Use-case diagram</a:t>
            </a:r>
            <a:endParaRPr sz="1600">
              <a:latin typeface="Google Sans Flex Medium"/>
              <a:ea typeface="Google Sans Flex Medium"/>
              <a:cs typeface="Google Sans Flex Medium"/>
              <a:sym typeface="Google Sans Flex Medium"/>
            </a:endParaRPr>
          </a:p>
        </p:txBody>
      </p:sp>
      <p:sp>
        <p:nvSpPr>
          <p:cNvPr id="96" name="Lane bg 1"/>
          <p:cNvSpPr/>
          <p:nvPr/>
        </p:nvSpPr>
        <p:spPr>
          <a:xfrm>
            <a:off x="356616" y="1161288"/>
            <a:ext cx="8430767" cy="640080"/>
          </a:xfrm>
          <a:prstGeom prst="rect">
            <a:avLst/>
          </a:prstGeom>
          <a:solidFill>
            <a:srgbClr val="F8F9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Lane label 1"/>
          <p:cNvSpPr/>
          <p:nvPr/>
        </p:nvSpPr>
        <p:spPr>
          <a:xfrm>
            <a:off x="356616" y="1216152"/>
            <a:ext cx="1024128" cy="530352"/>
          </a:xfrm>
          <a:prstGeom prst="roundRect">
            <a:avLst>
              <a:gd name="adj" fmla="val 10344"/>
            </a:avLst>
          </a:prstGeom>
          <a:solidFill>
            <a:srgbClr val="E6F4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noAutofit/>
          </a:bodyPr>
          <a:lstStyle/>
          <a:p>
            <a:pPr algn="l"/>
            <a:r>
              <a:rPr sz="850" b="1" i="0">
                <a:solidFill>
                  <a:srgbClr val="188038"/>
                </a:solidFill>
                <a:latin typeface="Google Sans Flex"/>
              </a:rPr>
              <a:t>Seller (WhatsApp)</a:t>
            </a:r>
          </a:p>
        </p:txBody>
      </p:sp>
      <p:sp>
        <p:nvSpPr>
          <p:cNvPr id="98" name="Lane label 2"/>
          <p:cNvSpPr/>
          <p:nvPr/>
        </p:nvSpPr>
        <p:spPr>
          <a:xfrm>
            <a:off x="356616" y="1856231"/>
            <a:ext cx="1024128" cy="530352"/>
          </a:xfrm>
          <a:prstGeom prst="roundRect">
            <a:avLst>
              <a:gd name="adj" fmla="val 10344"/>
            </a:avLst>
          </a:prstGeom>
          <a:solidFill>
            <a:srgbClr val="E8F0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noAutofit/>
          </a:bodyPr>
          <a:lstStyle/>
          <a:p>
            <a:pPr algn="l"/>
            <a:r>
              <a:rPr sz="850" b="1" i="0">
                <a:solidFill>
                  <a:srgbClr val="1A73E8"/>
                </a:solidFill>
                <a:latin typeface="Google Sans Flex"/>
              </a:rPr>
              <a:t>Etalase</a:t>
            </a:r>
          </a:p>
        </p:txBody>
      </p:sp>
      <p:sp>
        <p:nvSpPr>
          <p:cNvPr id="99" name="Lane bg 3"/>
          <p:cNvSpPr/>
          <p:nvPr/>
        </p:nvSpPr>
        <p:spPr>
          <a:xfrm>
            <a:off x="356616" y="2441448"/>
            <a:ext cx="8430767" cy="640080"/>
          </a:xfrm>
          <a:prstGeom prst="rect">
            <a:avLst/>
          </a:prstGeom>
          <a:solidFill>
            <a:srgbClr val="F8F9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Lane label 3"/>
          <p:cNvSpPr/>
          <p:nvPr/>
        </p:nvSpPr>
        <p:spPr>
          <a:xfrm>
            <a:off x="356616" y="2496312"/>
            <a:ext cx="1024128" cy="530352"/>
          </a:xfrm>
          <a:prstGeom prst="roundRect">
            <a:avLst>
              <a:gd name="adj" fmla="val 10344"/>
            </a:avLst>
          </a:prstGeom>
          <a:solidFill>
            <a:srgbClr val="FEF7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noAutofit/>
          </a:bodyPr>
          <a:lstStyle/>
          <a:p>
            <a:pPr algn="l"/>
            <a:r>
              <a:rPr sz="850" b="1" i="0">
                <a:solidFill>
                  <a:srgbClr val="B06000"/>
                </a:solidFill>
                <a:latin typeface="Google Sans Flex"/>
              </a:rPr>
              <a:t>Buyer's AI agent</a:t>
            </a:r>
          </a:p>
        </p:txBody>
      </p:sp>
      <p:sp>
        <p:nvSpPr>
          <p:cNvPr id="101" name="Lane label 4"/>
          <p:cNvSpPr/>
          <p:nvPr/>
        </p:nvSpPr>
        <p:spPr>
          <a:xfrm>
            <a:off x="356616" y="3136391"/>
            <a:ext cx="1024128" cy="530352"/>
          </a:xfrm>
          <a:prstGeom prst="roundRect">
            <a:avLst>
              <a:gd name="adj" fmla="val 10344"/>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noAutofit/>
          </a:bodyPr>
          <a:lstStyle/>
          <a:p>
            <a:pPr algn="l"/>
            <a:r>
              <a:rPr sz="850" b="1" i="0">
                <a:solidFill>
                  <a:srgbClr val="5F6368"/>
                </a:solidFill>
                <a:latin typeface="Google Sans Flex"/>
              </a:rPr>
              <a:t>Buyer</a:t>
            </a:r>
          </a:p>
        </p:txBody>
      </p:sp>
      <p:sp>
        <p:nvSpPr>
          <p:cNvPr id="102" name="Lane bg 5"/>
          <p:cNvSpPr/>
          <p:nvPr/>
        </p:nvSpPr>
        <p:spPr>
          <a:xfrm>
            <a:off x="356616" y="3721608"/>
            <a:ext cx="8430767" cy="640080"/>
          </a:xfrm>
          <a:prstGeom prst="rect">
            <a:avLst/>
          </a:prstGeom>
          <a:solidFill>
            <a:srgbClr val="F8F9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Lane label 5"/>
          <p:cNvSpPr/>
          <p:nvPr/>
        </p:nvSpPr>
        <p:spPr>
          <a:xfrm>
            <a:off x="356616" y="3776472"/>
            <a:ext cx="1024128" cy="530352"/>
          </a:xfrm>
          <a:prstGeom prst="roundRect">
            <a:avLst>
              <a:gd name="adj" fmla="val 10344"/>
            </a:avLst>
          </a:prstGeom>
          <a:solidFill>
            <a:srgbClr val="FCE8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noAutofit/>
          </a:bodyPr>
          <a:lstStyle/>
          <a:p>
            <a:pPr algn="l"/>
            <a:r>
              <a:rPr sz="850" b="1" i="0">
                <a:solidFill>
                  <a:srgbClr val="D93025"/>
                </a:solidFill>
                <a:latin typeface="Google Sans Flex"/>
              </a:rPr>
              <a:t>Payment &amp; courier</a:t>
            </a:r>
          </a:p>
        </p:txBody>
      </p:sp>
      <p:sp>
        <p:nvSpPr>
          <p:cNvPr id="104" name="Step 1"/>
          <p:cNvSpPr/>
          <p:nvPr/>
        </p:nvSpPr>
        <p:spPr>
          <a:xfrm>
            <a:off x="1517904" y="1225295"/>
            <a:ext cx="721360" cy="512064"/>
          </a:xfrm>
          <a:prstGeom prst="roundRect">
            <a:avLst>
              <a:gd name="adj" fmla="val 10714"/>
            </a:avLst>
          </a:prstGeom>
          <a:solidFill>
            <a:srgbClr val="FFFFFF"/>
          </a:solidFill>
          <a:ln w="12700">
            <a:solidFill>
              <a:srgbClr val="188038"/>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l"/>
            <a:r>
              <a:rPr sz="750" b="1" i="0">
                <a:solidFill>
                  <a:srgbClr val="188038"/>
                </a:solidFill>
                <a:latin typeface="Google Sans Flex"/>
              </a:rPr>
              <a:t>1  </a:t>
            </a:r>
            <a:r>
              <a:rPr sz="750" b="0" i="0">
                <a:solidFill>
                  <a:srgbClr val="202124"/>
                </a:solidFill>
                <a:latin typeface="Google Sans Flex"/>
              </a:rPr>
              <a:t>Sends photos + voice note</a:t>
            </a:r>
          </a:p>
        </p:txBody>
      </p:sp>
      <p:sp>
        <p:nvSpPr>
          <p:cNvPr id="105" name="Step 2"/>
          <p:cNvSpPr/>
          <p:nvPr/>
        </p:nvSpPr>
        <p:spPr>
          <a:xfrm>
            <a:off x="2330704" y="1865376"/>
            <a:ext cx="721360" cy="512064"/>
          </a:xfrm>
          <a:prstGeom prst="roundRect">
            <a:avLst>
              <a:gd name="adj" fmla="val 10714"/>
            </a:avLst>
          </a:prstGeom>
          <a:solidFill>
            <a:srgbClr val="FFFFFF"/>
          </a:solidFill>
          <a:ln w="12700">
            <a:solidFill>
              <a:srgbClr val="1A73E8"/>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l"/>
            <a:r>
              <a:rPr sz="750" b="1" i="0">
                <a:solidFill>
                  <a:srgbClr val="1A73E8"/>
                </a:solidFill>
                <a:latin typeface="Google Sans Flex"/>
              </a:rPr>
              <a:t>2  </a:t>
            </a:r>
            <a:r>
              <a:rPr sz="750" b="0" i="0">
                <a:solidFill>
                  <a:srgbClr val="202124"/>
                </a:solidFill>
                <a:latin typeface="Google Sans Flex"/>
              </a:rPr>
              <a:t>Gemini builds catalog, publishes it</a:t>
            </a:r>
          </a:p>
        </p:txBody>
      </p:sp>
      <p:sp>
        <p:nvSpPr>
          <p:cNvPr id="106" name="Step 3"/>
          <p:cNvSpPr/>
          <p:nvPr/>
        </p:nvSpPr>
        <p:spPr>
          <a:xfrm>
            <a:off x="3143504" y="3145535"/>
            <a:ext cx="721360" cy="512064"/>
          </a:xfrm>
          <a:prstGeom prst="roundRect">
            <a:avLst>
              <a:gd name="adj" fmla="val 10714"/>
            </a:avLst>
          </a:prstGeom>
          <a:solidFill>
            <a:srgbClr val="FFFFFF"/>
          </a:solidFill>
          <a:ln w="12700">
            <a:solidFill>
              <a:srgbClr val="5F6368"/>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l"/>
            <a:r>
              <a:rPr sz="750" b="1" i="0">
                <a:solidFill>
                  <a:srgbClr val="5F6368"/>
                </a:solidFill>
                <a:latin typeface="Google Sans Flex"/>
              </a:rPr>
              <a:t>3  </a:t>
            </a:r>
            <a:r>
              <a:rPr sz="750" b="0" i="0">
                <a:solidFill>
                  <a:srgbClr val="202124"/>
                </a:solidFill>
                <a:latin typeface="Google Sans Flex"/>
              </a:rPr>
              <a:t>Asks agent for a product</a:t>
            </a:r>
          </a:p>
        </p:txBody>
      </p:sp>
      <p:sp>
        <p:nvSpPr>
          <p:cNvPr id="107" name="Step 4"/>
          <p:cNvSpPr/>
          <p:nvPr/>
        </p:nvSpPr>
        <p:spPr>
          <a:xfrm>
            <a:off x="3956304" y="2505456"/>
            <a:ext cx="721360" cy="512064"/>
          </a:xfrm>
          <a:prstGeom prst="roundRect">
            <a:avLst>
              <a:gd name="adj" fmla="val 10714"/>
            </a:avLst>
          </a:prstGeom>
          <a:solidFill>
            <a:srgbClr val="FFFFFF"/>
          </a:solidFill>
          <a:ln w="12700">
            <a:solidFill>
              <a:srgbClr val="B06000"/>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l"/>
            <a:r>
              <a:rPr sz="750" b="1" i="0">
                <a:solidFill>
                  <a:srgbClr val="B06000"/>
                </a:solidFill>
                <a:latin typeface="Google Sans Flex"/>
              </a:rPr>
              <a:t>4  </a:t>
            </a:r>
            <a:r>
              <a:rPr sz="750" b="0" i="0">
                <a:solidFill>
                  <a:srgbClr val="202124"/>
                </a:solidFill>
                <a:latin typeface="Google Sans Flex"/>
              </a:rPr>
              <a:t>Search &amp; checkout via UCP / MCP</a:t>
            </a:r>
          </a:p>
        </p:txBody>
      </p:sp>
      <p:sp>
        <p:nvSpPr>
          <p:cNvPr id="108" name="Step 5"/>
          <p:cNvSpPr/>
          <p:nvPr/>
        </p:nvSpPr>
        <p:spPr>
          <a:xfrm>
            <a:off x="4769104" y="1865376"/>
            <a:ext cx="721360" cy="512064"/>
          </a:xfrm>
          <a:prstGeom prst="roundRect">
            <a:avLst>
              <a:gd name="adj" fmla="val 10714"/>
            </a:avLst>
          </a:prstGeom>
          <a:solidFill>
            <a:srgbClr val="FFFFFF"/>
          </a:solidFill>
          <a:ln w="12700">
            <a:solidFill>
              <a:srgbClr val="1A73E8"/>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l"/>
            <a:r>
              <a:rPr sz="750" b="1" i="0">
                <a:solidFill>
                  <a:srgbClr val="1A73E8"/>
                </a:solidFill>
                <a:latin typeface="Google Sans Flex"/>
              </a:rPr>
              <a:t>5  </a:t>
            </a:r>
            <a:r>
              <a:rPr sz="750" b="0" i="0">
                <a:solidFill>
                  <a:srgbClr val="202124"/>
                </a:solidFill>
                <a:latin typeface="Google Sans Flex"/>
              </a:rPr>
              <a:t>Reserves stock, courier rate, QRIS</a:t>
            </a:r>
          </a:p>
        </p:txBody>
      </p:sp>
      <p:sp>
        <p:nvSpPr>
          <p:cNvPr id="109" name="Step 6"/>
          <p:cNvSpPr/>
          <p:nvPr/>
        </p:nvSpPr>
        <p:spPr>
          <a:xfrm>
            <a:off x="5581904" y="3145535"/>
            <a:ext cx="721360" cy="512064"/>
          </a:xfrm>
          <a:prstGeom prst="roundRect">
            <a:avLst>
              <a:gd name="adj" fmla="val 10714"/>
            </a:avLst>
          </a:prstGeom>
          <a:solidFill>
            <a:srgbClr val="FFFFFF"/>
          </a:solidFill>
          <a:ln w="12700">
            <a:solidFill>
              <a:srgbClr val="5F6368"/>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l"/>
            <a:r>
              <a:rPr sz="750" b="1" i="0">
                <a:solidFill>
                  <a:srgbClr val="5F6368"/>
                </a:solidFill>
                <a:latin typeface="Google Sans Flex"/>
              </a:rPr>
              <a:t>6  </a:t>
            </a:r>
            <a:r>
              <a:rPr sz="750" b="0" i="0">
                <a:solidFill>
                  <a:srgbClr val="202124"/>
                </a:solidFill>
                <a:latin typeface="Google Sans Flex"/>
              </a:rPr>
              <a:t>Pays with QRIS</a:t>
            </a:r>
          </a:p>
        </p:txBody>
      </p:sp>
      <p:sp>
        <p:nvSpPr>
          <p:cNvPr id="110" name="Step 7"/>
          <p:cNvSpPr/>
          <p:nvPr/>
        </p:nvSpPr>
        <p:spPr>
          <a:xfrm>
            <a:off x="6394704" y="3785616"/>
            <a:ext cx="721360" cy="512064"/>
          </a:xfrm>
          <a:prstGeom prst="roundRect">
            <a:avLst>
              <a:gd name="adj" fmla="val 10714"/>
            </a:avLst>
          </a:prstGeom>
          <a:solidFill>
            <a:srgbClr val="FFFFFF"/>
          </a:solidFill>
          <a:ln w="12700">
            <a:solidFill>
              <a:srgbClr val="D93025"/>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l"/>
            <a:r>
              <a:rPr sz="750" b="1" i="0">
                <a:solidFill>
                  <a:srgbClr val="D93025"/>
                </a:solidFill>
                <a:latin typeface="Google Sans Flex"/>
              </a:rPr>
              <a:t>7  </a:t>
            </a:r>
            <a:r>
              <a:rPr sz="750" b="0" i="0">
                <a:solidFill>
                  <a:srgbClr val="202124"/>
                </a:solidFill>
                <a:latin typeface="Google Sans Flex"/>
              </a:rPr>
              <a:t>Payment confirmed (webhook)</a:t>
            </a:r>
          </a:p>
        </p:txBody>
      </p:sp>
      <p:sp>
        <p:nvSpPr>
          <p:cNvPr id="111" name="Step 8"/>
          <p:cNvSpPr/>
          <p:nvPr/>
        </p:nvSpPr>
        <p:spPr>
          <a:xfrm>
            <a:off x="7207503" y="1225295"/>
            <a:ext cx="721360" cy="512064"/>
          </a:xfrm>
          <a:prstGeom prst="roundRect">
            <a:avLst>
              <a:gd name="adj" fmla="val 10714"/>
            </a:avLst>
          </a:prstGeom>
          <a:solidFill>
            <a:srgbClr val="FFFFFF"/>
          </a:solidFill>
          <a:ln w="12700">
            <a:solidFill>
              <a:srgbClr val="188038"/>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l"/>
            <a:r>
              <a:rPr sz="750" b="1" i="0">
                <a:solidFill>
                  <a:srgbClr val="188038"/>
                </a:solidFill>
                <a:latin typeface="Google Sans Flex"/>
              </a:rPr>
              <a:t>8  </a:t>
            </a:r>
            <a:r>
              <a:rPr sz="750" b="0" i="0">
                <a:solidFill>
                  <a:srgbClr val="202124"/>
                </a:solidFill>
                <a:latin typeface="Google Sans Flex"/>
              </a:rPr>
              <a:t>Accepts order in WhatsApp</a:t>
            </a:r>
          </a:p>
        </p:txBody>
      </p:sp>
      <p:sp>
        <p:nvSpPr>
          <p:cNvPr id="112" name="Step 9"/>
          <p:cNvSpPr/>
          <p:nvPr/>
        </p:nvSpPr>
        <p:spPr>
          <a:xfrm>
            <a:off x="8020304" y="3785616"/>
            <a:ext cx="721360" cy="512064"/>
          </a:xfrm>
          <a:prstGeom prst="roundRect">
            <a:avLst>
              <a:gd name="adj" fmla="val 10714"/>
            </a:avLst>
          </a:prstGeom>
          <a:solidFill>
            <a:srgbClr val="FFFFFF"/>
          </a:solidFill>
          <a:ln w="12700">
            <a:solidFill>
              <a:srgbClr val="D93025"/>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l"/>
            <a:r>
              <a:rPr sz="750" b="1" i="0">
                <a:solidFill>
                  <a:srgbClr val="D93025"/>
                </a:solidFill>
                <a:latin typeface="Google Sans Flex"/>
              </a:rPr>
              <a:t>9  </a:t>
            </a:r>
            <a:r>
              <a:rPr sz="750" b="0" i="0">
                <a:solidFill>
                  <a:srgbClr val="202124"/>
                </a:solidFill>
                <a:latin typeface="Google Sans Flex"/>
              </a:rPr>
              <a:t>Courier pickup &amp; tracking</a:t>
            </a:r>
          </a:p>
        </p:txBody>
      </p:sp>
      <p:sp>
        <p:nvSpPr>
          <p:cNvPr id="113" name="Step 10"/>
          <p:cNvSpPr/>
          <p:nvPr/>
        </p:nvSpPr>
        <p:spPr>
          <a:xfrm>
            <a:off x="8020304" y="1865376"/>
            <a:ext cx="721360" cy="512064"/>
          </a:xfrm>
          <a:prstGeom prst="roundRect">
            <a:avLst>
              <a:gd name="adj" fmla="val 10714"/>
            </a:avLst>
          </a:prstGeom>
          <a:solidFill>
            <a:srgbClr val="FFFFFF"/>
          </a:solidFill>
          <a:ln w="12700">
            <a:solidFill>
              <a:srgbClr val="1A73E8"/>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l"/>
            <a:r>
              <a:rPr sz="750" b="1" i="0">
                <a:solidFill>
                  <a:srgbClr val="1A73E8"/>
                </a:solidFill>
                <a:latin typeface="Google Sans Flex"/>
              </a:rPr>
              <a:t>10  Payout after the return window</a:t>
            </a:r>
          </a:p>
        </p:txBody>
      </p:sp>
      <p:cxnSp>
        <p:nvCxnSpPr>
          <p:cNvPr id="114" name="Connector 113"/>
          <p:cNvCxnSpPr/>
          <p:nvPr/>
        </p:nvCxnSpPr>
        <p:spPr>
          <a:xfrm>
            <a:off x="2239264" y="1481328"/>
            <a:ext cx="91440" cy="640080"/>
          </a:xfrm>
          <a:prstGeom prst="bentConnector3">
            <a:avLst/>
          </a:prstGeom>
          <a:ln w="12700">
            <a:solidFill>
              <a:srgbClr val="5F636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5" name="Connector 114"/>
          <p:cNvCxnSpPr/>
          <p:nvPr/>
        </p:nvCxnSpPr>
        <p:spPr>
          <a:xfrm>
            <a:off x="3052064" y="2121408"/>
            <a:ext cx="91440" cy="1280160"/>
          </a:xfrm>
          <a:prstGeom prst="bentConnector3">
            <a:avLst/>
          </a:prstGeom>
          <a:ln w="12700">
            <a:solidFill>
              <a:srgbClr val="5F636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6" name="Connector 115"/>
          <p:cNvCxnSpPr/>
          <p:nvPr/>
        </p:nvCxnSpPr>
        <p:spPr>
          <a:xfrm flipV="1">
            <a:off x="3864864" y="2761487"/>
            <a:ext cx="91440" cy="640081"/>
          </a:xfrm>
          <a:prstGeom prst="bentConnector3">
            <a:avLst/>
          </a:prstGeom>
          <a:ln w="12700">
            <a:solidFill>
              <a:srgbClr val="5F636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7" name="Connector 116"/>
          <p:cNvCxnSpPr/>
          <p:nvPr/>
        </p:nvCxnSpPr>
        <p:spPr>
          <a:xfrm flipV="1">
            <a:off x="4677664" y="2121408"/>
            <a:ext cx="91440" cy="640079"/>
          </a:xfrm>
          <a:prstGeom prst="bentConnector3">
            <a:avLst/>
          </a:prstGeom>
          <a:ln w="12700">
            <a:solidFill>
              <a:srgbClr val="5F636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8" name="Connector 117"/>
          <p:cNvCxnSpPr/>
          <p:nvPr/>
        </p:nvCxnSpPr>
        <p:spPr>
          <a:xfrm>
            <a:off x="5490464" y="2121408"/>
            <a:ext cx="91440" cy="1280160"/>
          </a:xfrm>
          <a:prstGeom prst="bentConnector3">
            <a:avLst/>
          </a:prstGeom>
          <a:ln w="12700">
            <a:solidFill>
              <a:srgbClr val="5F636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9" name="Connector 118"/>
          <p:cNvCxnSpPr/>
          <p:nvPr/>
        </p:nvCxnSpPr>
        <p:spPr>
          <a:xfrm>
            <a:off x="6303264" y="3401568"/>
            <a:ext cx="91440" cy="640080"/>
          </a:xfrm>
          <a:prstGeom prst="bentConnector3">
            <a:avLst/>
          </a:prstGeom>
          <a:ln w="12700">
            <a:solidFill>
              <a:srgbClr val="5F636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0" name="Connector 119"/>
          <p:cNvCxnSpPr/>
          <p:nvPr/>
        </p:nvCxnSpPr>
        <p:spPr>
          <a:xfrm flipV="1">
            <a:off x="7116064" y="1481328"/>
            <a:ext cx="91439" cy="2560320"/>
          </a:xfrm>
          <a:prstGeom prst="bentConnector3">
            <a:avLst/>
          </a:prstGeom>
          <a:ln w="12700">
            <a:solidFill>
              <a:srgbClr val="5F636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1" name="Connector 120"/>
          <p:cNvCxnSpPr/>
          <p:nvPr/>
        </p:nvCxnSpPr>
        <p:spPr>
          <a:xfrm>
            <a:off x="7928864" y="1481328"/>
            <a:ext cx="91440" cy="2560320"/>
          </a:xfrm>
          <a:prstGeom prst="bentConnector3">
            <a:avLst/>
          </a:prstGeom>
          <a:ln w="12700">
            <a:solidFill>
              <a:srgbClr val="5F636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2" name="Connector 121"/>
          <p:cNvCxnSpPr/>
          <p:nvPr/>
        </p:nvCxnSpPr>
        <p:spPr>
          <a:xfrm flipV="1">
            <a:off x="8380983" y="2377440"/>
            <a:ext cx="0" cy="1408176"/>
          </a:xfrm>
          <a:prstGeom prst="line">
            <a:avLst/>
          </a:prstGeom>
          <a:ln w="12700">
            <a:solidFill>
              <a:srgbClr val="5F636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3" name="TextBox 122"/>
          <p:cNvSpPr txBox="1"/>
          <p:nvPr/>
        </p:nvSpPr>
        <p:spPr>
          <a:xfrm>
            <a:off x="356616" y="4425696"/>
            <a:ext cx="8430767" cy="274320"/>
          </a:xfrm>
          <a:prstGeom prst="rect">
            <a:avLst/>
          </a:prstGeom>
          <a:noFill/>
        </p:spPr>
        <p:txBody>
          <a:bodyPr wrap="square" lIns="18288" rIns="18288" tIns="18288" bIns="18288" anchor="t">
            <a:noAutofit/>
          </a:bodyPr>
          <a:lstStyle/>
          <a:p>
            <a:pPr algn="l"/>
            <a:r>
              <a:rPr sz="800" b="0" i="1">
                <a:solidFill>
                  <a:srgbClr val="5F6368"/>
                </a:solidFill>
                <a:latin typeface="Google Sans Flex"/>
              </a:rPr>
              <a:t>A buyer without an agent opens the store link and follows the same steps from 5. If stock confidence is low (stale or nearly sold out), the seller confirms stock before the QRIS link is sent. Stock reservations expire after 15 minutes if unpaid.</a:t>
            </a: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9" name="Shape 99"/>
        <p:cNvGrpSpPr/>
        <p:nvPr/>
      </p:nvGrpSpPr>
      <p:grpSpPr>
        <a:xfrm>
          <a:off x="0" y="0"/>
          <a:ext cx="0" cy="0"/>
          <a:chOff x="0" y="0"/>
          <a:chExt cx="0" cy="0"/>
        </a:xfrm>
      </p:grpSpPr>
      <p:pic>
        <p:nvPicPr>
          <p:cNvPr id="100" name="Google Shape;100;p19"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01" name="Google Shape;101;p19"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02" name="Google Shape;102;p19"/>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03" name="Google Shape;103;p19"/>
          <p:cNvSpPr txBox="1"/>
          <p:nvPr/>
        </p:nvSpPr>
        <p:spPr>
          <a:xfrm>
            <a:off x="265350" y="663825"/>
            <a:ext cx="8943000" cy="4572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Wireframes/Mock diagrams of the proposed solution (optional)</a:t>
            </a:r>
            <a:endParaRPr sz="1600">
              <a:latin typeface="Google Sans Flex Medium"/>
              <a:ea typeface="Google Sans Flex Medium"/>
              <a:cs typeface="Google Sans Flex Medium"/>
              <a:sym typeface="Google Sans Flex Medium"/>
            </a:endParaRPr>
          </a:p>
        </p:txBody>
      </p:sp>
      <p:sp>
        <p:nvSpPr>
          <p:cNvPr id="104" name="Phone 1"/>
          <p:cNvSpPr/>
          <p:nvPr/>
        </p:nvSpPr>
        <p:spPr>
          <a:xfrm>
            <a:off x="768096" y="1161288"/>
            <a:ext cx="2103120" cy="3529584"/>
          </a:xfrm>
          <a:prstGeom prst="roundRect">
            <a:avLst>
              <a:gd name="adj" fmla="val 8695"/>
            </a:avLst>
          </a:prstGeom>
          <a:solidFill>
            <a:srgbClr val="EFEAE2"/>
          </a:solidFill>
          <a:ln w="19050">
            <a:solidFill>
              <a:srgbClr val="20212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Phone 1 header"/>
          <p:cNvSpPr/>
          <p:nvPr/>
        </p:nvSpPr>
        <p:spPr>
          <a:xfrm>
            <a:off x="822960" y="1216152"/>
            <a:ext cx="1993391" cy="347472"/>
          </a:xfrm>
          <a:prstGeom prst="roundRect">
            <a:avLst>
              <a:gd name="adj" fmla="val 36842"/>
            </a:avLst>
          </a:prstGeom>
          <a:solidFill>
            <a:srgbClr val="075E5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noAutofit/>
          </a:bodyPr>
          <a:lstStyle/>
          <a:p>
            <a:pPr algn="l"/>
            <a:r>
              <a:rPr sz="850" b="1" i="0">
                <a:solidFill>
                  <a:srgbClr val="FFFFFF"/>
                </a:solidFill>
                <a:latin typeface="Google Sans Flex"/>
              </a:rPr>
              <a:t>1 · Seller onboarding (WhatsApp)</a:t>
            </a:r>
          </a:p>
        </p:txBody>
      </p:sp>
      <p:sp>
        <p:nvSpPr>
          <p:cNvPr id="106" name="Rounded Rectangle 105"/>
          <p:cNvSpPr/>
          <p:nvPr/>
        </p:nvSpPr>
        <p:spPr>
          <a:xfrm>
            <a:off x="1207007" y="1673352"/>
            <a:ext cx="1536192" cy="571500"/>
          </a:xfrm>
          <a:prstGeom prst="roundRect">
            <a:avLst>
              <a:gd name="adj" fmla="val 12800"/>
            </a:avLst>
          </a:prstGeom>
          <a:solidFill>
            <a:srgbClr val="D9FD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noAutofit/>
          </a:bodyPr>
          <a:lstStyle/>
          <a:p>
            <a:pPr algn="l"/>
            <a:r>
              <a:rPr sz="750" b="0" i="0">
                <a:solidFill>
                  <a:srgbClr val="202124"/>
                </a:solidFill>
                <a:latin typeface="Google Sans Flex"/>
              </a:rPr>
              <a:t>[5 product photos]</a:t>
            </a:r>
          </a:p>
          <a:p>
            <a:pPr algn="l"/>
            <a:r>
              <a:rPr sz="750" b="0" i="0">
                <a:solidFill>
                  <a:srgbClr val="202124"/>
                </a:solidFill>
                <a:latin typeface="Google Sans Flex"/>
              </a:rPr>
              <a:t>Voice note 0:18: “voal hijab, black 5, navy 3, 85 ribu”</a:t>
            </a:r>
          </a:p>
        </p:txBody>
      </p:sp>
      <p:sp>
        <p:nvSpPr>
          <p:cNvPr id="107" name="Rounded Rectangle 106"/>
          <p:cNvSpPr/>
          <p:nvPr/>
        </p:nvSpPr>
        <p:spPr>
          <a:xfrm>
            <a:off x="896112" y="2299716"/>
            <a:ext cx="1536192" cy="691515"/>
          </a:xfrm>
          <a:prstGeom prst="roundRect">
            <a:avLst>
              <a:gd name="adj" fmla="val 10578"/>
            </a:avLst>
          </a:prstGeom>
          <a:solidFill>
            <a:srgbClr val="FFFFFF"/>
          </a:solidFill>
          <a:ln w="6350">
            <a:solidFill>
              <a:srgbClr val="DADCE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noAutofit/>
          </a:bodyPr>
          <a:lstStyle/>
          <a:p>
            <a:pPr algn="l"/>
            <a:r>
              <a:rPr sz="750" b="1" i="0">
                <a:solidFill>
                  <a:srgbClr val="202124"/>
                </a:solidFill>
                <a:latin typeface="Google Sans Flex"/>
              </a:rPr>
              <a:t>Found 5 products</a:t>
            </a:r>
          </a:p>
          <a:p>
            <a:pPr algn="l"/>
            <a:r>
              <a:rPr sz="750" b="0" i="0">
                <a:solidFill>
                  <a:srgbClr val="202124"/>
                </a:solidFill>
                <a:latin typeface="Google Sans Flex"/>
              </a:rPr>
              <a:t>Voal Hijab: Black (5), Navy (3)</a:t>
            </a:r>
          </a:p>
          <a:p>
            <a:pPr algn="l"/>
            <a:r>
              <a:rPr sz="750" b="0" i="0">
                <a:solidFill>
                  <a:srgbClr val="202124"/>
                </a:solidFill>
                <a:latin typeface="Google Sans Flex"/>
              </a:rPr>
              <a:t>Rp85,000 · est. 150 g</a:t>
            </a:r>
          </a:p>
          <a:p>
            <a:pPr algn="l"/>
            <a:r>
              <a:rPr sz="750" b="0" i="0">
                <a:solidFill>
                  <a:srgbClr val="202124"/>
                </a:solidFill>
                <a:latin typeface="Google Sans Flex"/>
              </a:rPr>
              <a:t>Publish to AI agents?</a:t>
            </a:r>
          </a:p>
        </p:txBody>
      </p:sp>
      <p:sp>
        <p:nvSpPr>
          <p:cNvPr id="108" name="Rounded Rectangle 107"/>
          <p:cNvSpPr/>
          <p:nvPr/>
        </p:nvSpPr>
        <p:spPr>
          <a:xfrm>
            <a:off x="896112" y="3046095"/>
            <a:ext cx="740664" cy="219456"/>
          </a:xfrm>
          <a:prstGeom prst="roundRect">
            <a:avLst>
              <a:gd name="adj" fmla="val 25000"/>
            </a:avLst>
          </a:prstGeom>
          <a:solidFill>
            <a:srgbClr val="FFFFFF"/>
          </a:solidFill>
          <a:ln w="6350">
            <a:solidFill>
              <a:srgbClr val="DADCE0"/>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8288" bIns="18288">
            <a:noAutofit/>
          </a:bodyPr>
          <a:lstStyle/>
          <a:p>
            <a:pPr algn="ctr"/>
            <a:r>
              <a:rPr sz="750" b="1" i="0">
                <a:solidFill>
                  <a:srgbClr val="008069"/>
                </a:solidFill>
                <a:latin typeface="Google Sans Flex"/>
              </a:rPr>
              <a:t>Publish</a:t>
            </a:r>
          </a:p>
        </p:txBody>
      </p:sp>
      <p:sp>
        <p:nvSpPr>
          <p:cNvPr id="109" name="Rounded Rectangle 108"/>
          <p:cNvSpPr/>
          <p:nvPr/>
        </p:nvSpPr>
        <p:spPr>
          <a:xfrm>
            <a:off x="1691640" y="3046095"/>
            <a:ext cx="740664" cy="219456"/>
          </a:xfrm>
          <a:prstGeom prst="roundRect">
            <a:avLst>
              <a:gd name="adj" fmla="val 25000"/>
            </a:avLst>
          </a:prstGeom>
          <a:solidFill>
            <a:srgbClr val="FFFFFF"/>
          </a:solidFill>
          <a:ln w="6350">
            <a:solidFill>
              <a:srgbClr val="DADCE0"/>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8288" bIns="18288">
            <a:noAutofit/>
          </a:bodyPr>
          <a:lstStyle/>
          <a:p>
            <a:pPr algn="ctr"/>
            <a:r>
              <a:rPr sz="750" b="1" i="0">
                <a:solidFill>
                  <a:srgbClr val="008069"/>
                </a:solidFill>
                <a:latin typeface="Google Sans Flex"/>
              </a:rPr>
              <a:t>Edit</a:t>
            </a:r>
          </a:p>
        </p:txBody>
      </p:sp>
      <p:sp>
        <p:nvSpPr>
          <p:cNvPr id="110" name="Rounded Rectangle 109"/>
          <p:cNvSpPr/>
          <p:nvPr/>
        </p:nvSpPr>
        <p:spPr>
          <a:xfrm>
            <a:off x="896112" y="3320415"/>
            <a:ext cx="1536192" cy="331470"/>
          </a:xfrm>
          <a:prstGeom prst="roundRect">
            <a:avLst>
              <a:gd name="adj" fmla="val 22068"/>
            </a:avLst>
          </a:prstGeom>
          <a:solidFill>
            <a:srgbClr val="FFFFFF"/>
          </a:solidFill>
          <a:ln w="6350">
            <a:solidFill>
              <a:srgbClr val="DADCE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noAutofit/>
          </a:bodyPr>
          <a:lstStyle/>
          <a:p>
            <a:pPr algn="l"/>
            <a:r>
              <a:rPr sz="750" b="0" i="0">
                <a:solidFill>
                  <a:srgbClr val="202124"/>
                </a:solidFill>
                <a:latin typeface="Google Sans Flex"/>
              </a:rPr>
              <a:t>Your shop is live for AI agents. Readiness 86/100.</a:t>
            </a:r>
          </a:p>
        </p:txBody>
      </p:sp>
      <p:sp>
        <p:nvSpPr>
          <p:cNvPr id="111" name="Phone 2"/>
          <p:cNvSpPr/>
          <p:nvPr/>
        </p:nvSpPr>
        <p:spPr>
          <a:xfrm>
            <a:off x="3474720" y="1161288"/>
            <a:ext cx="2103120" cy="3529584"/>
          </a:xfrm>
          <a:prstGeom prst="roundRect">
            <a:avLst>
              <a:gd name="adj" fmla="val 8695"/>
            </a:avLst>
          </a:prstGeom>
          <a:solidFill>
            <a:srgbClr val="FFFFFF"/>
          </a:solidFill>
          <a:ln w="19050">
            <a:solidFill>
              <a:srgbClr val="20212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Phone 2 header"/>
          <p:cNvSpPr/>
          <p:nvPr/>
        </p:nvSpPr>
        <p:spPr>
          <a:xfrm>
            <a:off x="3529584" y="1216152"/>
            <a:ext cx="1993391" cy="347472"/>
          </a:xfrm>
          <a:prstGeom prst="roundRect">
            <a:avLst>
              <a:gd name="adj" fmla="val 36842"/>
            </a:avLst>
          </a:prstGeom>
          <a:solidFill>
            <a:srgbClr val="1A73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noAutofit/>
          </a:bodyPr>
          <a:lstStyle/>
          <a:p>
            <a:pPr algn="l"/>
            <a:r>
              <a:rPr sz="850" b="1" i="0">
                <a:solidFill>
                  <a:srgbClr val="FFFFFF"/>
                </a:solidFill>
                <a:latin typeface="Google Sans Flex"/>
              </a:rPr>
              <a:t>2 · Buyer's AI agent</a:t>
            </a:r>
          </a:p>
        </p:txBody>
      </p:sp>
      <p:sp>
        <p:nvSpPr>
          <p:cNvPr id="113" name="Rounded Rectangle 112"/>
          <p:cNvSpPr/>
          <p:nvPr/>
        </p:nvSpPr>
        <p:spPr>
          <a:xfrm>
            <a:off x="3913632" y="1673352"/>
            <a:ext cx="1536192" cy="451485"/>
          </a:xfrm>
          <a:prstGeom prst="roundRect">
            <a:avLst>
              <a:gd name="adj" fmla="val 16202"/>
            </a:avLst>
          </a:prstGeom>
          <a:solidFill>
            <a:srgbClr val="E8F0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noAutofit/>
          </a:bodyPr>
          <a:lstStyle/>
          <a:p>
            <a:pPr algn="l"/>
            <a:r>
              <a:rPr sz="750" b="0" i="0">
                <a:solidFill>
                  <a:srgbClr val="202124"/>
                </a:solidFill>
                <a:latin typeface="Google Sans Flex"/>
              </a:rPr>
              <a:t>Find a black voal hijab under Rp100k, ship to Bandung</a:t>
            </a:r>
          </a:p>
        </p:txBody>
      </p:sp>
      <p:sp>
        <p:nvSpPr>
          <p:cNvPr id="114" name="Rounded Rectangle 113"/>
          <p:cNvSpPr/>
          <p:nvPr/>
        </p:nvSpPr>
        <p:spPr>
          <a:xfrm>
            <a:off x="3602736" y="2179701"/>
            <a:ext cx="1536192" cy="451485"/>
          </a:xfrm>
          <a:prstGeom prst="roundRect">
            <a:avLst>
              <a:gd name="adj" fmla="val 16202"/>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noAutofit/>
          </a:bodyPr>
          <a:lstStyle/>
          <a:p>
            <a:pPr algn="l"/>
            <a:r>
              <a:rPr sz="750" b="0" i="0">
                <a:solidFill>
                  <a:srgbClr val="202124"/>
                </a:solidFill>
                <a:latin typeface="Google Sans Flex"/>
              </a:rPr>
              <a:t>Voal Hijab Black from Toko Rina, Rp85,000. JNE REG Rp12,000 (2–3 days). Buy 2?</a:t>
            </a:r>
          </a:p>
        </p:txBody>
      </p:sp>
      <p:sp>
        <p:nvSpPr>
          <p:cNvPr id="115" name="Rounded Rectangle 114"/>
          <p:cNvSpPr/>
          <p:nvPr/>
        </p:nvSpPr>
        <p:spPr>
          <a:xfrm>
            <a:off x="4626864" y="2686050"/>
            <a:ext cx="822960" cy="211455"/>
          </a:xfrm>
          <a:prstGeom prst="roundRect">
            <a:avLst>
              <a:gd name="adj" fmla="val 34594"/>
            </a:avLst>
          </a:prstGeom>
          <a:solidFill>
            <a:srgbClr val="E8F0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noAutofit/>
          </a:bodyPr>
          <a:lstStyle/>
          <a:p>
            <a:pPr algn="l"/>
            <a:r>
              <a:rPr sz="750" b="0" i="0">
                <a:solidFill>
                  <a:srgbClr val="202124"/>
                </a:solidFill>
                <a:latin typeface="Google Sans Flex"/>
              </a:rPr>
              <a:t>Yes, 2 pcs</a:t>
            </a:r>
          </a:p>
        </p:txBody>
      </p:sp>
      <p:sp>
        <p:nvSpPr>
          <p:cNvPr id="116" name="Rounded Rectangle 115"/>
          <p:cNvSpPr/>
          <p:nvPr/>
        </p:nvSpPr>
        <p:spPr>
          <a:xfrm>
            <a:off x="3602736" y="2952369"/>
            <a:ext cx="1536192" cy="331470"/>
          </a:xfrm>
          <a:prstGeom prst="roundRect">
            <a:avLst>
              <a:gd name="adj" fmla="val 22068"/>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noAutofit/>
          </a:bodyPr>
          <a:lstStyle/>
          <a:p>
            <a:pPr algn="l"/>
            <a:r>
              <a:rPr sz="750" b="0" i="0">
                <a:solidFill>
                  <a:srgbClr val="202124"/>
                </a:solidFill>
                <a:latin typeface="Google Sans Flex"/>
              </a:rPr>
              <a:t>Total Rp182,000. Stock reserved for 15 min.</a:t>
            </a:r>
          </a:p>
        </p:txBody>
      </p:sp>
      <p:sp>
        <p:nvSpPr>
          <p:cNvPr id="117" name="QR mock"/>
          <p:cNvSpPr/>
          <p:nvPr/>
        </p:nvSpPr>
        <p:spPr>
          <a:xfrm>
            <a:off x="3694176" y="3338702"/>
            <a:ext cx="566928" cy="566928"/>
          </a:xfrm>
          <a:prstGeom prst="rect">
            <a:avLst/>
          </a:prstGeom>
          <a:solidFill>
            <a:srgbClr val="FFFFFF"/>
          </a:solidFill>
          <a:ln w="12700">
            <a:solidFill>
              <a:srgbClr val="20212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Rectangle 117"/>
          <p:cNvSpPr/>
          <p:nvPr/>
        </p:nvSpPr>
        <p:spPr>
          <a:xfrm>
            <a:off x="3758184" y="3402710"/>
            <a:ext cx="118872" cy="118872"/>
          </a:xfrm>
          <a:prstGeom prst="rect">
            <a:avLst/>
          </a:prstGeom>
          <a:solidFill>
            <a:srgbClr val="2021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Rectangle 118"/>
          <p:cNvSpPr/>
          <p:nvPr/>
        </p:nvSpPr>
        <p:spPr>
          <a:xfrm>
            <a:off x="3758184" y="3713606"/>
            <a:ext cx="118872" cy="118872"/>
          </a:xfrm>
          <a:prstGeom prst="rect">
            <a:avLst/>
          </a:prstGeom>
          <a:solidFill>
            <a:srgbClr val="2021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Rectangle 119"/>
          <p:cNvSpPr/>
          <p:nvPr/>
        </p:nvSpPr>
        <p:spPr>
          <a:xfrm>
            <a:off x="3913632" y="3558158"/>
            <a:ext cx="118872" cy="118872"/>
          </a:xfrm>
          <a:prstGeom prst="rect">
            <a:avLst/>
          </a:prstGeom>
          <a:solidFill>
            <a:srgbClr val="2021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Rectangle 120"/>
          <p:cNvSpPr/>
          <p:nvPr/>
        </p:nvSpPr>
        <p:spPr>
          <a:xfrm>
            <a:off x="4069080" y="3402710"/>
            <a:ext cx="118872" cy="118872"/>
          </a:xfrm>
          <a:prstGeom prst="rect">
            <a:avLst/>
          </a:prstGeom>
          <a:solidFill>
            <a:srgbClr val="2021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Rectangle 121"/>
          <p:cNvSpPr/>
          <p:nvPr/>
        </p:nvSpPr>
        <p:spPr>
          <a:xfrm>
            <a:off x="4069080" y="3713606"/>
            <a:ext cx="118872" cy="118872"/>
          </a:xfrm>
          <a:prstGeom prst="rect">
            <a:avLst/>
          </a:prstGeom>
          <a:solidFill>
            <a:srgbClr val="2021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TextBox 122"/>
          <p:cNvSpPr txBox="1"/>
          <p:nvPr/>
        </p:nvSpPr>
        <p:spPr>
          <a:xfrm>
            <a:off x="4334256" y="3338702"/>
            <a:ext cx="786384" cy="566928"/>
          </a:xfrm>
          <a:prstGeom prst="rect">
            <a:avLst/>
          </a:prstGeom>
          <a:noFill/>
        </p:spPr>
        <p:txBody>
          <a:bodyPr wrap="square" lIns="18288" rIns="18288" tIns="18288" bIns="18288" anchor="ctr">
            <a:noAutofit/>
          </a:bodyPr>
          <a:lstStyle/>
          <a:p>
            <a:pPr algn="l"/>
            <a:r>
              <a:rPr sz="750" b="1" i="0">
                <a:solidFill>
                  <a:srgbClr val="202124"/>
                </a:solidFill>
                <a:latin typeface="Google Sans Flex"/>
              </a:rPr>
              <a:t>QRIS
Scan to pay</a:t>
            </a:r>
          </a:p>
        </p:txBody>
      </p:sp>
      <p:sp>
        <p:nvSpPr>
          <p:cNvPr id="124" name="Phone 3"/>
          <p:cNvSpPr/>
          <p:nvPr/>
        </p:nvSpPr>
        <p:spPr>
          <a:xfrm>
            <a:off x="6181344" y="1161288"/>
            <a:ext cx="2103120" cy="3529584"/>
          </a:xfrm>
          <a:prstGeom prst="roundRect">
            <a:avLst>
              <a:gd name="adj" fmla="val 8695"/>
            </a:avLst>
          </a:prstGeom>
          <a:solidFill>
            <a:srgbClr val="EFEAE2"/>
          </a:solidFill>
          <a:ln w="19050">
            <a:solidFill>
              <a:srgbClr val="20212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Phone 3 header"/>
          <p:cNvSpPr/>
          <p:nvPr/>
        </p:nvSpPr>
        <p:spPr>
          <a:xfrm>
            <a:off x="6236207" y="1216152"/>
            <a:ext cx="1993391" cy="347472"/>
          </a:xfrm>
          <a:prstGeom prst="roundRect">
            <a:avLst>
              <a:gd name="adj" fmla="val 36842"/>
            </a:avLst>
          </a:prstGeom>
          <a:solidFill>
            <a:srgbClr val="075E5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noAutofit/>
          </a:bodyPr>
          <a:lstStyle/>
          <a:p>
            <a:pPr algn="l"/>
            <a:r>
              <a:rPr sz="850" b="1" i="0">
                <a:solidFill>
                  <a:srgbClr val="FFFFFF"/>
                </a:solidFill>
                <a:latin typeface="Google Sans Flex"/>
              </a:rPr>
              <a:t>3 · Seller order alert (WhatsApp)</a:t>
            </a:r>
          </a:p>
        </p:txBody>
      </p:sp>
      <p:sp>
        <p:nvSpPr>
          <p:cNvPr id="126" name="Rounded Rectangle 125"/>
          <p:cNvSpPr/>
          <p:nvPr/>
        </p:nvSpPr>
        <p:spPr>
          <a:xfrm>
            <a:off x="6309359" y="1673352"/>
            <a:ext cx="1536192" cy="571500"/>
          </a:xfrm>
          <a:prstGeom prst="roundRect">
            <a:avLst>
              <a:gd name="adj" fmla="val 12800"/>
            </a:avLst>
          </a:prstGeom>
          <a:solidFill>
            <a:srgbClr val="FFFFFF"/>
          </a:solidFill>
          <a:ln w="6350">
            <a:solidFill>
              <a:srgbClr val="DADCE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noAutofit/>
          </a:bodyPr>
          <a:lstStyle/>
          <a:p>
            <a:pPr algn="l"/>
            <a:r>
              <a:rPr sz="750" b="1" i="0">
                <a:solidFill>
                  <a:srgbClr val="202124"/>
                </a:solidFill>
                <a:latin typeface="Google Sans Flex"/>
              </a:rPr>
              <a:t>New paid order</a:t>
            </a:r>
          </a:p>
          <a:p>
            <a:pPr algn="l"/>
            <a:r>
              <a:rPr sz="750" b="0" i="0">
                <a:solidFill>
                  <a:srgbClr val="202124"/>
                </a:solidFill>
                <a:latin typeface="Google Sans Flex"/>
              </a:rPr>
              <a:t>Voal Hijab Black × 2</a:t>
            </a:r>
          </a:p>
          <a:p>
            <a:pPr algn="l"/>
            <a:r>
              <a:rPr sz="750" b="0" i="0">
                <a:solidFill>
                  <a:srgbClr val="202124"/>
                </a:solidFill>
                <a:latin typeface="Google Sans Flex"/>
              </a:rPr>
              <a:t>Rp170,000 · ship to Bandung</a:t>
            </a:r>
          </a:p>
        </p:txBody>
      </p:sp>
      <p:sp>
        <p:nvSpPr>
          <p:cNvPr id="127" name="Rounded Rectangle 126"/>
          <p:cNvSpPr/>
          <p:nvPr/>
        </p:nvSpPr>
        <p:spPr>
          <a:xfrm>
            <a:off x="6309359" y="2299716"/>
            <a:ext cx="740664" cy="219456"/>
          </a:xfrm>
          <a:prstGeom prst="roundRect">
            <a:avLst>
              <a:gd name="adj" fmla="val 25000"/>
            </a:avLst>
          </a:prstGeom>
          <a:solidFill>
            <a:srgbClr val="FFFFFF"/>
          </a:solidFill>
          <a:ln w="6350">
            <a:solidFill>
              <a:srgbClr val="DADCE0"/>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8288" bIns="18288">
            <a:noAutofit/>
          </a:bodyPr>
          <a:lstStyle/>
          <a:p>
            <a:pPr algn="ctr"/>
            <a:r>
              <a:rPr sz="750" b="1" i="0">
                <a:solidFill>
                  <a:srgbClr val="008069"/>
                </a:solidFill>
                <a:latin typeface="Google Sans Flex"/>
              </a:rPr>
              <a:t>Accept</a:t>
            </a:r>
          </a:p>
        </p:txBody>
      </p:sp>
      <p:sp>
        <p:nvSpPr>
          <p:cNvPr id="128" name="Rounded Rectangle 127"/>
          <p:cNvSpPr/>
          <p:nvPr/>
        </p:nvSpPr>
        <p:spPr>
          <a:xfrm>
            <a:off x="7104888" y="2299716"/>
            <a:ext cx="740664" cy="219456"/>
          </a:xfrm>
          <a:prstGeom prst="roundRect">
            <a:avLst>
              <a:gd name="adj" fmla="val 25000"/>
            </a:avLst>
          </a:prstGeom>
          <a:solidFill>
            <a:srgbClr val="FFFFFF"/>
          </a:solidFill>
          <a:ln w="6350">
            <a:solidFill>
              <a:srgbClr val="DADCE0"/>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8288" bIns="18288">
            <a:noAutofit/>
          </a:bodyPr>
          <a:lstStyle/>
          <a:p>
            <a:pPr algn="ctr"/>
            <a:r>
              <a:rPr sz="750" b="1" i="0">
                <a:solidFill>
                  <a:srgbClr val="008069"/>
                </a:solidFill>
                <a:latin typeface="Google Sans Flex"/>
              </a:rPr>
              <a:t>Out of stock</a:t>
            </a:r>
          </a:p>
        </p:txBody>
      </p:sp>
      <p:sp>
        <p:nvSpPr>
          <p:cNvPr id="129" name="Rounded Rectangle 128"/>
          <p:cNvSpPr/>
          <p:nvPr/>
        </p:nvSpPr>
        <p:spPr>
          <a:xfrm>
            <a:off x="6620255" y="2574036"/>
            <a:ext cx="1536192" cy="331470"/>
          </a:xfrm>
          <a:prstGeom prst="roundRect">
            <a:avLst>
              <a:gd name="adj" fmla="val 22068"/>
            </a:avLst>
          </a:prstGeom>
          <a:solidFill>
            <a:srgbClr val="D9FD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noAutofit/>
          </a:bodyPr>
          <a:lstStyle/>
          <a:p>
            <a:pPr algn="l"/>
            <a:r>
              <a:rPr sz="750" b="0" i="0">
                <a:solidFill>
                  <a:srgbClr val="202124"/>
                </a:solidFill>
                <a:latin typeface="Google Sans Flex"/>
              </a:rPr>
              <a:t>udah dikirim ya, resi JNE123456</a:t>
            </a:r>
          </a:p>
        </p:txBody>
      </p:sp>
      <p:sp>
        <p:nvSpPr>
          <p:cNvPr id="130" name="Rounded Rectangle 129"/>
          <p:cNvSpPr/>
          <p:nvPr/>
        </p:nvSpPr>
        <p:spPr>
          <a:xfrm>
            <a:off x="6309359" y="2960370"/>
            <a:ext cx="1536192" cy="451485"/>
          </a:xfrm>
          <a:prstGeom prst="roundRect">
            <a:avLst>
              <a:gd name="adj" fmla="val 16202"/>
            </a:avLst>
          </a:prstGeom>
          <a:solidFill>
            <a:srgbClr val="FFFFFF"/>
          </a:solidFill>
          <a:ln w="6350">
            <a:solidFill>
              <a:srgbClr val="DADCE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noAutofit/>
          </a:bodyPr>
          <a:lstStyle/>
          <a:p>
            <a:pPr algn="l"/>
            <a:r>
              <a:rPr sz="750" b="0" i="0">
                <a:solidFill>
                  <a:srgbClr val="202124"/>
                </a:solidFill>
                <a:latin typeface="Google Sans Flex"/>
              </a:rPr>
              <a:t>Tracking saved. Payout Rp163,200 after the return window (4% fee).</a:t>
            </a: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7" name="Shape 107"/>
        <p:cNvGrpSpPr/>
        <p:nvPr/>
      </p:nvGrpSpPr>
      <p:grpSpPr>
        <a:xfrm>
          <a:off x="0" y="0"/>
          <a:ext cx="0" cy="0"/>
          <a:chOff x="0" y="0"/>
          <a:chExt cx="0" cy="0"/>
        </a:xfrm>
      </p:grpSpPr>
      <p:pic>
        <p:nvPicPr>
          <p:cNvPr id="108" name="Google Shape;108;p20"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09" name="Google Shape;109;p20"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10" name="Google Shape;110;p20"/>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11" name="Google Shape;111;p20"/>
          <p:cNvSpPr txBox="1"/>
          <p:nvPr/>
        </p:nvSpPr>
        <p:spPr>
          <a:xfrm>
            <a:off x="265350" y="663825"/>
            <a:ext cx="8943000" cy="4572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Architecture diagram of the proposed solution</a:t>
            </a:r>
            <a:endParaRPr sz="1600">
              <a:latin typeface="Google Sans Flex Medium"/>
              <a:ea typeface="Google Sans Flex Medium"/>
              <a:cs typeface="Google Sans Flex Medium"/>
              <a:sym typeface="Google Sans Flex Medium"/>
            </a:endParaRPr>
          </a:p>
        </p:txBody>
      </p:sp>
      <p:sp>
        <p:nvSpPr>
          <p:cNvPr id="112" name="Core container"/>
          <p:cNvSpPr/>
          <p:nvPr/>
        </p:nvSpPr>
        <p:spPr>
          <a:xfrm>
            <a:off x="2103120" y="1783080"/>
            <a:ext cx="4983480" cy="2788920"/>
          </a:xfrm>
          <a:prstGeom prst="roundRect">
            <a:avLst>
              <a:gd name="adj" fmla="val 4590"/>
            </a:avLst>
          </a:prstGeom>
          <a:solidFill>
            <a:srgbClr val="E8F0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TextBox 112"/>
          <p:cNvSpPr txBox="1"/>
          <p:nvPr/>
        </p:nvSpPr>
        <p:spPr>
          <a:xfrm>
            <a:off x="2240279" y="1837943"/>
            <a:ext cx="3200400" cy="274320"/>
          </a:xfrm>
          <a:prstGeom prst="rect">
            <a:avLst/>
          </a:prstGeom>
          <a:noFill/>
        </p:spPr>
        <p:txBody>
          <a:bodyPr wrap="square" lIns="18288" rIns="18288" tIns="18288" bIns="18288" anchor="t">
            <a:noAutofit/>
          </a:bodyPr>
          <a:lstStyle/>
          <a:p>
            <a:pPr algn="l"/>
            <a:r>
              <a:rPr sz="1000" b="1" i="0">
                <a:solidFill>
                  <a:srgbClr val="1A73E8"/>
                </a:solidFill>
                <a:latin typeface="Google Sans Flex"/>
              </a:rPr>
              <a:t>Etalase core · Cloud Run</a:t>
            </a:r>
          </a:p>
        </p:txBody>
      </p:sp>
      <p:sp>
        <p:nvSpPr>
          <p:cNvPr id="114" name="Core Input adapters"/>
          <p:cNvSpPr/>
          <p:nvPr/>
        </p:nvSpPr>
        <p:spPr>
          <a:xfrm>
            <a:off x="2240279" y="2167128"/>
            <a:ext cx="2263140" cy="512064"/>
          </a:xfrm>
          <a:prstGeom prst="roundRect">
            <a:avLst>
              <a:gd name="adj" fmla="val 10714"/>
            </a:avLst>
          </a:prstGeom>
          <a:solidFill>
            <a:srgbClr val="FFFFFF"/>
          </a:solidFill>
          <a:ln w="9525">
            <a:solidFill>
              <a:srgbClr val="1A73E8"/>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r>
              <a:rPr sz="900" b="1" i="0">
                <a:solidFill>
                  <a:srgbClr val="202124"/>
                </a:solidFill>
                <a:latin typeface="Google Sans Flex"/>
              </a:rPr>
              <a:t>Input adapters</a:t>
            </a:r>
          </a:p>
          <a:p>
            <a:pPr algn="ctr"/>
            <a:r>
              <a:rPr sz="750" b="0" i="0">
                <a:solidFill>
                  <a:srgbClr val="5F6368"/>
                </a:solidFill>
                <a:latin typeface="Google Sans Flex"/>
              </a:rPr>
              <a:t>WhatsApp · Instagram · CSV</a:t>
            </a:r>
          </a:p>
        </p:txBody>
      </p:sp>
      <p:sp>
        <p:nvSpPr>
          <p:cNvPr id="115" name="Core Agent gateway"/>
          <p:cNvSpPr/>
          <p:nvPr/>
        </p:nvSpPr>
        <p:spPr>
          <a:xfrm>
            <a:off x="4686300" y="2167128"/>
            <a:ext cx="2263140" cy="512064"/>
          </a:xfrm>
          <a:prstGeom prst="roundRect">
            <a:avLst>
              <a:gd name="adj" fmla="val 10714"/>
            </a:avLst>
          </a:prstGeom>
          <a:solidFill>
            <a:srgbClr val="FFFFFF"/>
          </a:solidFill>
          <a:ln w="9525">
            <a:solidFill>
              <a:srgbClr val="1A73E8"/>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r>
              <a:rPr sz="900" b="1" i="0">
                <a:solidFill>
                  <a:srgbClr val="202124"/>
                </a:solidFill>
                <a:latin typeface="Google Sans Flex"/>
              </a:rPr>
              <a:t>Agent gateway</a:t>
            </a:r>
          </a:p>
          <a:p>
            <a:pPr algn="ctr"/>
            <a:r>
              <a:rPr sz="750" b="0" i="0">
                <a:solidFill>
                  <a:srgbClr val="5F6368"/>
                </a:solidFill>
                <a:latin typeface="Google Sans Flex"/>
              </a:rPr>
              <a:t>MCP · UCP checkout · store link</a:t>
            </a:r>
          </a:p>
        </p:txBody>
      </p:sp>
      <p:sp>
        <p:nvSpPr>
          <p:cNvPr id="116" name="Core Seller agent"/>
          <p:cNvSpPr/>
          <p:nvPr/>
        </p:nvSpPr>
        <p:spPr>
          <a:xfrm>
            <a:off x="2240279" y="2770632"/>
            <a:ext cx="2263140" cy="512064"/>
          </a:xfrm>
          <a:prstGeom prst="roundRect">
            <a:avLst>
              <a:gd name="adj" fmla="val 10714"/>
            </a:avLst>
          </a:prstGeom>
          <a:solidFill>
            <a:srgbClr val="FFFFFF"/>
          </a:solidFill>
          <a:ln w="9525">
            <a:solidFill>
              <a:srgbClr val="1A73E8"/>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r>
              <a:rPr sz="900" b="1" i="0">
                <a:solidFill>
                  <a:srgbClr val="202124"/>
                </a:solidFill>
                <a:latin typeface="Google Sans Flex"/>
              </a:rPr>
              <a:t>Seller agent</a:t>
            </a:r>
          </a:p>
          <a:p>
            <a:pPr algn="ctr"/>
            <a:r>
              <a:rPr sz="750" b="0" i="0">
                <a:solidFill>
                  <a:srgbClr val="5F6368"/>
                </a:solidFill>
                <a:latin typeface="Google Sans Flex"/>
              </a:rPr>
              <a:t>ADK + Gemini</a:t>
            </a:r>
          </a:p>
        </p:txBody>
      </p:sp>
      <p:sp>
        <p:nvSpPr>
          <p:cNvPr id="117" name="Core Checkout &amp; orders"/>
          <p:cNvSpPr/>
          <p:nvPr/>
        </p:nvSpPr>
        <p:spPr>
          <a:xfrm>
            <a:off x="4686300" y="2770632"/>
            <a:ext cx="2263140" cy="512064"/>
          </a:xfrm>
          <a:prstGeom prst="roundRect">
            <a:avLst>
              <a:gd name="adj" fmla="val 10714"/>
            </a:avLst>
          </a:prstGeom>
          <a:solidFill>
            <a:srgbClr val="FFFFFF"/>
          </a:solidFill>
          <a:ln w="9525">
            <a:solidFill>
              <a:srgbClr val="1A73E8"/>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r>
              <a:rPr sz="900" b="1" i="0">
                <a:solidFill>
                  <a:srgbClr val="202124"/>
                </a:solidFill>
                <a:latin typeface="Google Sans Flex"/>
              </a:rPr>
              <a:t>Checkout &amp; orders</a:t>
            </a:r>
          </a:p>
          <a:p>
            <a:pPr algn="ctr"/>
            <a:r>
              <a:rPr sz="750" b="0" i="0">
                <a:solidFill>
                  <a:srgbClr val="5F6368"/>
                </a:solidFill>
                <a:latin typeface="Google Sans Flex"/>
              </a:rPr>
              <a:t>Reserve · confirm · payout</a:t>
            </a:r>
          </a:p>
        </p:txBody>
      </p:sp>
      <p:sp>
        <p:nvSpPr>
          <p:cNvPr id="118" name="Core Catalog &amp; stock"/>
          <p:cNvSpPr/>
          <p:nvPr/>
        </p:nvSpPr>
        <p:spPr>
          <a:xfrm>
            <a:off x="2240279" y="3374136"/>
            <a:ext cx="2263140" cy="512064"/>
          </a:xfrm>
          <a:prstGeom prst="roundRect">
            <a:avLst>
              <a:gd name="adj" fmla="val 10714"/>
            </a:avLst>
          </a:prstGeom>
          <a:solidFill>
            <a:srgbClr val="FFFFFF"/>
          </a:solidFill>
          <a:ln w="9525">
            <a:solidFill>
              <a:srgbClr val="1A73E8"/>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r>
              <a:rPr sz="900" b="1" i="0">
                <a:solidFill>
                  <a:srgbClr val="202124"/>
                </a:solidFill>
                <a:latin typeface="Google Sans Flex"/>
              </a:rPr>
              <a:t>Catalog &amp; stock</a:t>
            </a:r>
          </a:p>
          <a:p>
            <a:pPr algn="ctr"/>
            <a:r>
              <a:rPr sz="750" b="0" i="0">
                <a:solidFill>
                  <a:srgbClr val="5F6368"/>
                </a:solidFill>
                <a:latin typeface="Google Sans Flex"/>
              </a:rPr>
              <a:t>Single source of truth</a:t>
            </a:r>
          </a:p>
        </p:txBody>
      </p:sp>
      <p:sp>
        <p:nvSpPr>
          <p:cNvPr id="119" name="Core Event bus"/>
          <p:cNvSpPr/>
          <p:nvPr/>
        </p:nvSpPr>
        <p:spPr>
          <a:xfrm>
            <a:off x="4686300" y="3374136"/>
            <a:ext cx="2263140" cy="512064"/>
          </a:xfrm>
          <a:prstGeom prst="roundRect">
            <a:avLst>
              <a:gd name="adj" fmla="val 10714"/>
            </a:avLst>
          </a:prstGeom>
          <a:solidFill>
            <a:srgbClr val="FFFFFF"/>
          </a:solidFill>
          <a:ln w="9525">
            <a:solidFill>
              <a:srgbClr val="1A73E8"/>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r>
              <a:rPr sz="900" b="1" i="0">
                <a:solidFill>
                  <a:srgbClr val="202124"/>
                </a:solidFill>
                <a:latin typeface="Google Sans Flex"/>
              </a:rPr>
              <a:t>Event bus</a:t>
            </a:r>
          </a:p>
          <a:p>
            <a:pPr algn="ctr"/>
            <a:r>
              <a:rPr sz="750" b="0" i="0">
                <a:solidFill>
                  <a:srgbClr val="5F6368"/>
                </a:solidFill>
                <a:latin typeface="Google Sans Flex"/>
              </a:rPr>
              <a:t>In-process now · Pub/Sub in pilot</a:t>
            </a:r>
          </a:p>
        </p:txBody>
      </p:sp>
      <p:sp>
        <p:nvSpPr>
          <p:cNvPr id="120" name="Core Firestore"/>
          <p:cNvSpPr/>
          <p:nvPr/>
        </p:nvSpPr>
        <p:spPr>
          <a:xfrm>
            <a:off x="2240279" y="3977639"/>
            <a:ext cx="2263140" cy="512064"/>
          </a:xfrm>
          <a:prstGeom prst="roundRect">
            <a:avLst>
              <a:gd name="adj" fmla="val 10714"/>
            </a:avLst>
          </a:prstGeom>
          <a:solidFill>
            <a:srgbClr val="FFFFFF"/>
          </a:solidFill>
          <a:ln w="9525">
            <a:solidFill>
              <a:srgbClr val="1A73E8"/>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r>
              <a:rPr sz="900" b="1" i="0">
                <a:solidFill>
                  <a:srgbClr val="202124"/>
                </a:solidFill>
                <a:latin typeface="Google Sans Flex"/>
              </a:rPr>
              <a:t>Firestore</a:t>
            </a:r>
          </a:p>
          <a:p>
            <a:pPr algn="ctr"/>
            <a:r>
              <a:rPr sz="750" b="0" i="0">
                <a:solidFill>
                  <a:srgbClr val="5F6368"/>
                </a:solidFill>
                <a:latin typeface="Google Sans Flex"/>
              </a:rPr>
              <a:t>Transactions · per-seller keys</a:t>
            </a:r>
          </a:p>
        </p:txBody>
      </p:sp>
      <p:sp>
        <p:nvSpPr>
          <p:cNvPr id="121" name="Core Gemini on Vertex AI"/>
          <p:cNvSpPr/>
          <p:nvPr/>
        </p:nvSpPr>
        <p:spPr>
          <a:xfrm>
            <a:off x="4686300" y="3977639"/>
            <a:ext cx="2263140" cy="512064"/>
          </a:xfrm>
          <a:prstGeom prst="roundRect">
            <a:avLst>
              <a:gd name="adj" fmla="val 10714"/>
            </a:avLst>
          </a:prstGeom>
          <a:solidFill>
            <a:srgbClr val="FFFFFF"/>
          </a:solidFill>
          <a:ln w="9525">
            <a:solidFill>
              <a:srgbClr val="1A73E8"/>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r>
              <a:rPr sz="900" b="1" i="0">
                <a:solidFill>
                  <a:srgbClr val="202124"/>
                </a:solidFill>
                <a:latin typeface="Google Sans Flex"/>
              </a:rPr>
              <a:t>Gemini on Vertex AI</a:t>
            </a:r>
          </a:p>
          <a:p>
            <a:pPr algn="ctr"/>
            <a:r>
              <a:rPr sz="750" b="0" i="0">
                <a:solidFill>
                  <a:srgbClr val="5F6368"/>
                </a:solidFill>
                <a:latin typeface="Google Sans Flex"/>
              </a:rPr>
              <a:t>Vision · speech · structured output</a:t>
            </a:r>
          </a:p>
        </p:txBody>
      </p:sp>
      <p:sp>
        <p:nvSpPr>
          <p:cNvPr id="122" name="Buyer agent"/>
          <p:cNvSpPr/>
          <p:nvPr/>
        </p:nvSpPr>
        <p:spPr>
          <a:xfrm>
            <a:off x="4686300" y="1161288"/>
            <a:ext cx="2263140" cy="438912"/>
          </a:xfrm>
          <a:prstGeom prst="roundRect">
            <a:avLst>
              <a:gd name="adj" fmla="val 12500"/>
            </a:avLst>
          </a:prstGeom>
          <a:solidFill>
            <a:srgbClr val="FEF7E0"/>
          </a:solidFill>
          <a:ln w="9525">
            <a:solidFill>
              <a:srgbClr val="B06000"/>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r>
              <a:rPr sz="900" b="1" i="0">
                <a:solidFill>
                  <a:srgbClr val="202124"/>
                </a:solidFill>
                <a:latin typeface="Google Sans Flex"/>
              </a:rPr>
              <a:t>Buyer's AI agent</a:t>
            </a:r>
          </a:p>
          <a:p>
            <a:pPr algn="ctr"/>
            <a:r>
              <a:rPr sz="750" b="0" i="0">
                <a:solidFill>
                  <a:srgbClr val="5F6368"/>
                </a:solidFill>
                <a:latin typeface="Google Sans Flex"/>
              </a:rPr>
              <a:t>Any MCP or UCP client (demo: Gemini)</a:t>
            </a:r>
          </a:p>
        </p:txBody>
      </p:sp>
      <p:cxnSp>
        <p:nvCxnSpPr>
          <p:cNvPr id="123" name="Connector 122"/>
          <p:cNvCxnSpPr/>
          <p:nvPr/>
        </p:nvCxnSpPr>
        <p:spPr>
          <a:xfrm>
            <a:off x="5817870" y="1600200"/>
            <a:ext cx="0" cy="566928"/>
          </a:xfrm>
          <a:prstGeom prst="line">
            <a:avLst/>
          </a:prstGeom>
          <a:ln w="12700">
            <a:solidFill>
              <a:srgbClr val="B06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4" name="TextBox 123"/>
          <p:cNvSpPr txBox="1"/>
          <p:nvPr/>
        </p:nvSpPr>
        <p:spPr>
          <a:xfrm>
            <a:off x="356616" y="1783080"/>
            <a:ext cx="1554480" cy="274320"/>
          </a:xfrm>
          <a:prstGeom prst="rect">
            <a:avLst/>
          </a:prstGeom>
          <a:noFill/>
        </p:spPr>
        <p:txBody>
          <a:bodyPr wrap="square" lIns="18288" rIns="18288" tIns="18288" bIns="18288" anchor="t">
            <a:noAutofit/>
          </a:bodyPr>
          <a:lstStyle/>
          <a:p>
            <a:pPr algn="l"/>
            <a:r>
              <a:rPr sz="900" b="1" i="0">
                <a:solidFill>
                  <a:srgbClr val="188038"/>
                </a:solidFill>
                <a:latin typeface="Google Sans Flex"/>
              </a:rPr>
              <a:t>Seller inputs</a:t>
            </a:r>
          </a:p>
        </p:txBody>
      </p:sp>
      <p:sp>
        <p:nvSpPr>
          <p:cNvPr id="125" name="Source WhatsApp &amp; Instagram"/>
          <p:cNvSpPr/>
          <p:nvPr/>
        </p:nvSpPr>
        <p:spPr>
          <a:xfrm>
            <a:off x="356616" y="2167128"/>
            <a:ext cx="1481328" cy="512064"/>
          </a:xfrm>
          <a:prstGeom prst="roundRect">
            <a:avLst>
              <a:gd name="adj" fmla="val 10714"/>
            </a:avLst>
          </a:prstGeom>
          <a:solidFill>
            <a:srgbClr val="E6F4EA"/>
          </a:solidFill>
          <a:ln w="9525">
            <a:solidFill>
              <a:srgbClr val="188038"/>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r>
              <a:rPr sz="900" b="1" i="0">
                <a:solidFill>
                  <a:srgbClr val="202124"/>
                </a:solidFill>
                <a:latin typeface="Google Sans Flex"/>
              </a:rPr>
              <a:t>WhatsApp &amp; Instagram</a:t>
            </a:r>
          </a:p>
          <a:p>
            <a:pPr algn="ctr"/>
            <a:r>
              <a:rPr sz="750" b="0" i="0">
                <a:solidFill>
                  <a:srgbClr val="5F6368"/>
                </a:solidFill>
                <a:latin typeface="Google Sans Flex"/>
              </a:rPr>
              <a:t>Chat · voice · IG posts</a:t>
            </a:r>
          </a:p>
        </p:txBody>
      </p:sp>
      <p:cxnSp>
        <p:nvCxnSpPr>
          <p:cNvPr id="126" name="Connector 125"/>
          <p:cNvCxnSpPr/>
          <p:nvPr/>
        </p:nvCxnSpPr>
        <p:spPr>
          <a:xfrm>
            <a:off x="1837944" y="2423160"/>
            <a:ext cx="265176" cy="0"/>
          </a:xfrm>
          <a:prstGeom prst="line">
            <a:avLst/>
          </a:prstGeom>
          <a:ln w="12700">
            <a:solidFill>
              <a:srgbClr val="18803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7" name="Source Google Sheets"/>
          <p:cNvSpPr/>
          <p:nvPr/>
        </p:nvSpPr>
        <p:spPr>
          <a:xfrm>
            <a:off x="356616" y="2770632"/>
            <a:ext cx="1481328" cy="512064"/>
          </a:xfrm>
          <a:prstGeom prst="roundRect">
            <a:avLst>
              <a:gd name="adj" fmla="val 10714"/>
            </a:avLst>
          </a:prstGeom>
          <a:solidFill>
            <a:srgbClr val="FFFFFF"/>
          </a:solidFill>
          <a:ln w="9525">
            <a:solidFill>
              <a:srgbClr val="188038"/>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r>
              <a:rPr sz="900" b="1" i="0">
                <a:solidFill>
                  <a:srgbClr val="202124"/>
                </a:solidFill>
                <a:latin typeface="Google Sans Flex"/>
              </a:rPr>
              <a:t>Google Sheets</a:t>
            </a:r>
          </a:p>
          <a:p>
            <a:pPr algn="ctr"/>
            <a:r>
              <a:rPr sz="750" b="0" i="0">
                <a:solidFill>
                  <a:srgbClr val="5F6368"/>
                </a:solidFill>
                <a:latin typeface="Google Sans Flex"/>
              </a:rPr>
              <a:t>OAuth + Picker</a:t>
            </a:r>
          </a:p>
        </p:txBody>
      </p:sp>
      <p:cxnSp>
        <p:nvCxnSpPr>
          <p:cNvPr id="128" name="Connector 127"/>
          <p:cNvCxnSpPr/>
          <p:nvPr/>
        </p:nvCxnSpPr>
        <p:spPr>
          <a:xfrm>
            <a:off x="1837944" y="3026664"/>
            <a:ext cx="265176" cy="0"/>
          </a:xfrm>
          <a:prstGeom prst="line">
            <a:avLst/>
          </a:prstGeom>
          <a:ln w="12700">
            <a:solidFill>
              <a:srgbClr val="18803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9" name="Source OMS"/>
          <p:cNvSpPr/>
          <p:nvPr/>
        </p:nvSpPr>
        <p:spPr>
          <a:xfrm>
            <a:off x="356616" y="3374136"/>
            <a:ext cx="1481328" cy="512064"/>
          </a:xfrm>
          <a:prstGeom prst="roundRect">
            <a:avLst>
              <a:gd name="adj" fmla="val 10714"/>
            </a:avLst>
          </a:prstGeom>
          <a:solidFill>
            <a:srgbClr val="FFFFFF"/>
          </a:solidFill>
          <a:ln w="9525">
            <a:solidFill>
              <a:srgbClr val="188038"/>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r>
              <a:rPr sz="900" b="1" i="0">
                <a:solidFill>
                  <a:srgbClr val="202124"/>
                </a:solidFill>
                <a:latin typeface="Google Sans Flex"/>
              </a:rPr>
              <a:t>OMS</a:t>
            </a:r>
          </a:p>
          <a:p>
            <a:pPr algn="ctr"/>
            <a:r>
              <a:rPr sz="750" b="0" i="0">
                <a:solidFill>
                  <a:srgbClr val="5F6368"/>
                </a:solidFill>
                <a:latin typeface="Google Sans Flex"/>
              </a:rPr>
              <a:t>Jubelio · Ginee</a:t>
            </a:r>
          </a:p>
        </p:txBody>
      </p:sp>
      <p:cxnSp>
        <p:nvCxnSpPr>
          <p:cNvPr id="130" name="Connector 129"/>
          <p:cNvCxnSpPr/>
          <p:nvPr/>
        </p:nvCxnSpPr>
        <p:spPr>
          <a:xfrm>
            <a:off x="1837944" y="3630168"/>
            <a:ext cx="265176" cy="0"/>
          </a:xfrm>
          <a:prstGeom prst="line">
            <a:avLst/>
          </a:prstGeom>
          <a:ln w="12700">
            <a:solidFill>
              <a:srgbClr val="18803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1" name="Source E-commerce plugin"/>
          <p:cNvSpPr/>
          <p:nvPr/>
        </p:nvSpPr>
        <p:spPr>
          <a:xfrm>
            <a:off x="356616" y="3977639"/>
            <a:ext cx="1481328" cy="512064"/>
          </a:xfrm>
          <a:prstGeom prst="roundRect">
            <a:avLst>
              <a:gd name="adj" fmla="val 10714"/>
            </a:avLst>
          </a:prstGeom>
          <a:solidFill>
            <a:srgbClr val="FFFFFF"/>
          </a:solidFill>
          <a:ln w="9525">
            <a:solidFill>
              <a:srgbClr val="188038"/>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r>
              <a:rPr sz="900" b="1" i="0">
                <a:solidFill>
                  <a:srgbClr val="202124"/>
                </a:solidFill>
                <a:latin typeface="Google Sans Flex"/>
              </a:rPr>
              <a:t>E-commerce plugin</a:t>
            </a:r>
          </a:p>
          <a:p>
            <a:pPr algn="ctr"/>
            <a:r>
              <a:rPr sz="750" b="0" i="0">
                <a:solidFill>
                  <a:srgbClr val="5F6368"/>
                </a:solidFill>
                <a:latin typeface="Google Sans Flex"/>
              </a:rPr>
              <a:t>WooCommerce · websites</a:t>
            </a:r>
          </a:p>
        </p:txBody>
      </p:sp>
      <p:cxnSp>
        <p:nvCxnSpPr>
          <p:cNvPr id="132" name="Connector 131"/>
          <p:cNvCxnSpPr/>
          <p:nvPr/>
        </p:nvCxnSpPr>
        <p:spPr>
          <a:xfrm>
            <a:off x="1837944" y="4233672"/>
            <a:ext cx="265176" cy="0"/>
          </a:xfrm>
          <a:prstGeom prst="line">
            <a:avLst/>
          </a:prstGeom>
          <a:ln w="12700">
            <a:solidFill>
              <a:srgbClr val="18803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3" name="TextBox 132"/>
          <p:cNvSpPr txBox="1"/>
          <p:nvPr/>
        </p:nvSpPr>
        <p:spPr>
          <a:xfrm>
            <a:off x="7287768" y="1783080"/>
            <a:ext cx="1554480" cy="274320"/>
          </a:xfrm>
          <a:prstGeom prst="rect">
            <a:avLst/>
          </a:prstGeom>
          <a:noFill/>
        </p:spPr>
        <p:txBody>
          <a:bodyPr wrap="square" lIns="18288" rIns="18288" tIns="18288" bIns="18288" anchor="t">
            <a:noAutofit/>
          </a:bodyPr>
          <a:lstStyle/>
          <a:p>
            <a:pPr algn="l"/>
            <a:r>
              <a:rPr sz="900" b="1" i="0">
                <a:solidFill>
                  <a:srgbClr val="D93025"/>
                </a:solidFill>
                <a:latin typeface="Google Sans Flex"/>
              </a:rPr>
              <a:t>External services</a:t>
            </a:r>
          </a:p>
        </p:txBody>
      </p:sp>
      <p:sp>
        <p:nvSpPr>
          <p:cNvPr id="134" name="External Payment"/>
          <p:cNvSpPr/>
          <p:nvPr/>
        </p:nvSpPr>
        <p:spPr>
          <a:xfrm>
            <a:off x="7306056" y="2167128"/>
            <a:ext cx="1481328" cy="512064"/>
          </a:xfrm>
          <a:prstGeom prst="roundRect">
            <a:avLst>
              <a:gd name="adj" fmla="val 10714"/>
            </a:avLst>
          </a:prstGeom>
          <a:solidFill>
            <a:srgbClr val="FCE8E6"/>
          </a:solidFill>
          <a:ln w="9525">
            <a:solidFill>
              <a:srgbClr val="D93025"/>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r>
              <a:rPr sz="900" b="1" i="0">
                <a:solidFill>
                  <a:srgbClr val="202124"/>
                </a:solidFill>
                <a:latin typeface="Google Sans Flex"/>
              </a:rPr>
              <a:t>Payment</a:t>
            </a:r>
          </a:p>
          <a:p>
            <a:pPr algn="ctr"/>
            <a:r>
              <a:rPr sz="750" b="0" i="0">
                <a:solidFill>
                  <a:srgbClr val="5F6368"/>
                </a:solidFill>
                <a:latin typeface="Google Sans Flex"/>
              </a:rPr>
              <a:t>Xendit QRIS (mock in demo)</a:t>
            </a:r>
          </a:p>
        </p:txBody>
      </p:sp>
      <p:cxnSp>
        <p:nvCxnSpPr>
          <p:cNvPr id="135" name="Connector 134"/>
          <p:cNvCxnSpPr/>
          <p:nvPr/>
        </p:nvCxnSpPr>
        <p:spPr>
          <a:xfrm>
            <a:off x="7086600" y="2423160"/>
            <a:ext cx="219456" cy="0"/>
          </a:xfrm>
          <a:prstGeom prst="line">
            <a:avLst/>
          </a:prstGeom>
          <a:ln w="12700">
            <a:solidFill>
              <a:srgbClr val="D9302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6" name="External Shipping"/>
          <p:cNvSpPr/>
          <p:nvPr/>
        </p:nvSpPr>
        <p:spPr>
          <a:xfrm>
            <a:off x="7306056" y="2770632"/>
            <a:ext cx="1481328" cy="512064"/>
          </a:xfrm>
          <a:prstGeom prst="roundRect">
            <a:avLst>
              <a:gd name="adj" fmla="val 10714"/>
            </a:avLst>
          </a:prstGeom>
          <a:solidFill>
            <a:srgbClr val="FCE8E6"/>
          </a:solidFill>
          <a:ln w="9525">
            <a:solidFill>
              <a:srgbClr val="D93025"/>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r>
              <a:rPr sz="900" b="1" i="0">
                <a:solidFill>
                  <a:srgbClr val="202124"/>
                </a:solidFill>
                <a:latin typeface="Google Sans Flex"/>
              </a:rPr>
              <a:t>Shipping</a:t>
            </a:r>
          </a:p>
          <a:p>
            <a:pPr algn="ctr"/>
            <a:r>
              <a:rPr sz="750" b="0" i="0">
                <a:solidFill>
                  <a:srgbClr val="5F6368"/>
                </a:solidFill>
                <a:latin typeface="Google Sans Flex"/>
              </a:rPr>
              <a:t>Biteship (mock in demo)</a:t>
            </a:r>
          </a:p>
        </p:txBody>
      </p:sp>
      <p:cxnSp>
        <p:nvCxnSpPr>
          <p:cNvPr id="137" name="Connector 136"/>
          <p:cNvCxnSpPr/>
          <p:nvPr/>
        </p:nvCxnSpPr>
        <p:spPr>
          <a:xfrm>
            <a:off x="7086600" y="3026664"/>
            <a:ext cx="219456" cy="0"/>
          </a:xfrm>
          <a:prstGeom prst="line">
            <a:avLst/>
          </a:prstGeom>
          <a:ln w="12700">
            <a:solidFill>
              <a:srgbClr val="D9302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8" name="External WhatsApp Cloud API"/>
          <p:cNvSpPr/>
          <p:nvPr/>
        </p:nvSpPr>
        <p:spPr>
          <a:xfrm>
            <a:off x="7306056" y="3374136"/>
            <a:ext cx="1481328" cy="512064"/>
          </a:xfrm>
          <a:prstGeom prst="roundRect">
            <a:avLst>
              <a:gd name="adj" fmla="val 10714"/>
            </a:avLst>
          </a:prstGeom>
          <a:solidFill>
            <a:srgbClr val="FCE8E6"/>
          </a:solidFill>
          <a:ln w="9525">
            <a:solidFill>
              <a:srgbClr val="D93025"/>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r>
              <a:rPr sz="900" b="1" i="0">
                <a:solidFill>
                  <a:srgbClr val="202124"/>
                </a:solidFill>
                <a:latin typeface="Google Sans Flex"/>
              </a:rPr>
              <a:t>WhatsApp &amp; Telegram</a:t>
            </a:r>
          </a:p>
          <a:p>
            <a:pPr algn="ctr"/>
            <a:r>
              <a:rPr sz="750" b="0" i="0">
                <a:solidFill>
                  <a:srgbClr val="5F6368"/>
                </a:solidFill>
                <a:latin typeface="Google Sans Flex"/>
              </a:rPr>
              <a:t>Alerts &amp; seller chat</a:t>
            </a:r>
          </a:p>
        </p:txBody>
      </p:sp>
      <p:cxnSp>
        <p:nvCxnSpPr>
          <p:cNvPr id="139" name="Connector 138"/>
          <p:cNvCxnSpPr/>
          <p:nvPr/>
        </p:nvCxnSpPr>
        <p:spPr>
          <a:xfrm>
            <a:off x="7086600" y="3630168"/>
            <a:ext cx="219456" cy="0"/>
          </a:xfrm>
          <a:prstGeom prst="line">
            <a:avLst/>
          </a:prstGeom>
          <a:ln w="12700">
            <a:solidFill>
              <a:srgbClr val="D9302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0" name="External OMS / e-commerce"/>
          <p:cNvSpPr/>
          <p:nvPr/>
        </p:nvSpPr>
        <p:spPr>
          <a:xfrm>
            <a:off x="7306056" y="3977639"/>
            <a:ext cx="1481328" cy="512064"/>
          </a:xfrm>
          <a:prstGeom prst="roundRect">
            <a:avLst>
              <a:gd name="adj" fmla="val 10714"/>
            </a:avLst>
          </a:prstGeom>
          <a:solidFill>
            <a:srgbClr val="FFFFFF"/>
          </a:solidFill>
          <a:ln w="9525">
            <a:solidFill>
              <a:srgbClr val="D9302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r>
              <a:rPr sz="900" b="1" i="0">
                <a:solidFill>
                  <a:srgbClr val="202124"/>
                </a:solidFill>
                <a:latin typeface="Google Sans Flex"/>
              </a:rPr>
              <a:t>OMS / e-commerce</a:t>
            </a:r>
          </a:p>
          <a:p>
            <a:pPr algn="ctr"/>
            <a:r>
              <a:rPr sz="750" b="0" i="0">
                <a:solidFill>
                  <a:srgbClr val="5F6368"/>
                </a:solidFill>
                <a:latin typeface="Google Sans Flex"/>
              </a:rPr>
              <a:t>Order &amp; stock sync</a:t>
            </a:r>
          </a:p>
        </p:txBody>
      </p:sp>
      <p:cxnSp>
        <p:nvCxnSpPr>
          <p:cNvPr id="141" name="Connector 140"/>
          <p:cNvCxnSpPr/>
          <p:nvPr/>
        </p:nvCxnSpPr>
        <p:spPr>
          <a:xfrm>
            <a:off x="7086600" y="4233672"/>
            <a:ext cx="219456" cy="0"/>
          </a:xfrm>
          <a:prstGeom prst="line">
            <a:avLst/>
          </a:prstGeom>
          <a:ln w="12700">
            <a:solidFill>
              <a:srgbClr val="D9302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2" name="TextBox 141"/>
          <p:cNvSpPr txBox="1"/>
          <p:nvPr/>
        </p:nvSpPr>
        <p:spPr>
          <a:xfrm>
            <a:off x="356616" y="4626864"/>
            <a:ext cx="8430767" cy="380000"/>
          </a:xfrm>
          <a:prstGeom prst="rect">
            <a:avLst/>
          </a:prstGeom>
          <a:noFill/>
        </p:spPr>
        <p:txBody>
          <a:bodyPr wrap="square" lIns="18288" rIns="18288" tIns="18288" bIns="18288" anchor="t">
            <a:noAutofit/>
          </a:bodyPr>
          <a:lstStyle/>
          <a:p>
            <a:pPr algn="l"/>
            <a:r>
              <a:rPr sz="800" b="0" i="1">
                <a:solidFill>
                  <a:srgbClr val="5F6368"/>
                </a:solidFill>
                <a:latin typeface="Google Sans Flex"/>
              </a:rPr>
              <a:t>Solid = hackathon MVP · dashed = roadmap. Shop addresses (demo.etalase.site in the sandbox) enter through a Google HTTPS load balancer with a wildcard certificate; Cloud Run keeps its own URL too. Country pack = { currency, payment, shipping, tax } adapters: a new market adds one config entry, not a new core. Each seller has one stock owner: Etalase, the OMS or the store.</a:t>
            </a:r>
          </a:p>
        </p:txBody>
      </p:sp>
      <p:sp>
        <p:nvSpPr>
          <p:cNvPr id="143" name="Load balancer"/>
          <p:cNvSpPr/>
          <p:nvPr/>
        </p:nvSpPr>
        <p:spPr>
          <a:xfrm>
            <a:off x="4667870" y="1622000"/>
            <a:ext cx="2300000" cy="150000"/>
          </a:xfrm>
          <a:prstGeom prst="roundRect">
            <a:avLst>
              <a:gd name="adj" fmla="val 10714"/>
            </a:avLst>
          </a:prstGeom>
          <a:solidFill>
            <a:srgbClr val="FFFFFF"/>
          </a:solidFill>
          <a:ln w="9525">
            <a:solidFill>
              <a:srgbClr val="1A73E8"/>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0" bIns="0">
            <a:noAutofit/>
          </a:bodyPr>
          <a:lstStyle/>
          <a:p>
            <a:pPr algn="ctr"/>
            <a:r>
              <a:rPr sz="700" b="1" i="0">
                <a:solidFill>
                  <a:srgbClr val="202124"/>
                </a:solidFill>
                <a:latin typeface="Google Sans Flex"/>
              </a:rPr>
              <a:t>HTTPS load balancer · wildcard certificate</a:t>
            </a: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5" name="Shape 115"/>
        <p:cNvGrpSpPr/>
        <p:nvPr/>
      </p:nvGrpSpPr>
      <p:grpSpPr>
        <a:xfrm>
          <a:off x="0" y="0"/>
          <a:ext cx="0" cy="0"/>
          <a:chOff x="0" y="0"/>
          <a:chExt cx="0" cy="0"/>
        </a:xfrm>
      </p:grpSpPr>
      <p:pic>
        <p:nvPicPr>
          <p:cNvPr id="116" name="Google Shape;116;p21"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17" name="Google Shape;117;p21"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18" name="Google Shape;118;p21"/>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19" name="Google Shape;119;p21"/>
          <p:cNvSpPr txBox="1"/>
          <p:nvPr/>
        </p:nvSpPr>
        <p:spPr>
          <a:xfrm>
            <a:off x="265350" y="663825"/>
            <a:ext cx="8943000" cy="4572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Technologies to be used in the solution</a:t>
            </a:r>
            <a:endParaRPr sz="1600">
              <a:latin typeface="Google Sans Flex Medium"/>
              <a:ea typeface="Google Sans Flex Medium"/>
              <a:cs typeface="Google Sans Flex Medium"/>
              <a:sym typeface="Google Sans Flex Medium"/>
            </a:endParaRPr>
          </a:p>
        </p:txBody>
      </p:sp>
      <p:sp>
        <p:nvSpPr>
          <p:cNvPr id="120" name="Tech card 1"/>
          <p:cNvSpPr/>
          <p:nvPr/>
        </p:nvSpPr>
        <p:spPr>
          <a:xfrm>
            <a:off x="356616" y="1161288"/>
            <a:ext cx="2688336" cy="1673352"/>
          </a:xfrm>
          <a:prstGeom prst="roundRect">
            <a:avLst>
              <a:gd name="adj" fmla="val 4371"/>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TextBox 120"/>
          <p:cNvSpPr txBox="1"/>
          <p:nvPr/>
        </p:nvSpPr>
        <p:spPr>
          <a:xfrm>
            <a:off x="502920" y="1289304"/>
            <a:ext cx="2414016" cy="1472184"/>
          </a:xfrm>
          <a:prstGeom prst="rect">
            <a:avLst/>
          </a:prstGeom>
          <a:noFill/>
        </p:spPr>
        <p:txBody>
          <a:bodyPr wrap="square" lIns="18288" rIns="18288" tIns="18288" bIns="18288" anchor="t">
            <a:noAutofit/>
          </a:bodyPr>
          <a:lstStyle/>
          <a:p>
            <a:pPr algn="l">
              <a:spcAft>
                <a:spcPts val="400"/>
              </a:spcAft>
            </a:pPr>
            <a:r>
              <a:rPr sz="1150" b="1" i="0">
                <a:solidFill>
                  <a:srgbClr val="1A73E8"/>
                </a:solidFill>
                <a:latin typeface="Google Sans Flex"/>
              </a:rPr>
              <a:t>AI &amp; agents</a:t>
            </a:r>
          </a:p>
          <a:p>
            <a:pPr algn="l" marL="128016" indent="-128016">
              <a:spcAft>
                <a:spcPts val="400"/>
              </a:spcAft>
              <a:buClr>
                <a:srgbClr val="1A73E8"/>
              </a:buClr>
              <a:buFont typeface="Arial"/>
              <a:buChar char="•"/>
            </a:pPr>
            <a:r>
              <a:rPr sz="1000" b="0" i="0">
                <a:solidFill>
                  <a:srgbClr val="202124"/>
                </a:solidFill>
                <a:latin typeface="Google Sans Flex"/>
              </a:rPr>
              <a:t>Gemini on Vertex AI: photos, voice and text to catalog with structured output</a:t>
            </a:r>
          </a:p>
          <a:p>
            <a:pPr algn="l" marL="128016" indent="-128016">
              <a:spcAft>
                <a:spcPts val="400"/>
              </a:spcAft>
              <a:buClr>
                <a:srgbClr val="1A73E8"/>
              </a:buClr>
              <a:buFont typeface="Arial"/>
              <a:buChar char="•"/>
            </a:pPr>
            <a:r>
              <a:rPr sz="1000" b="0" i="0">
                <a:solidFill>
                  <a:srgbClr val="202124"/>
                </a:solidFill>
                <a:latin typeface="Google Sans Flex"/>
              </a:rPr>
              <a:t>ADK seller agent with tenant-scoped tools</a:t>
            </a:r>
          </a:p>
          <a:p>
            <a:pPr algn="l" marL="128016" indent="-128016">
              <a:spcAft>
                <a:spcPts val="400"/>
              </a:spcAft>
              <a:buClr>
                <a:srgbClr val="1A73E8"/>
              </a:buClr>
              <a:buFont typeface="Arial"/>
              <a:buChar char="•"/>
            </a:pPr>
            <a:r>
              <a:rPr sz="1000" b="0" i="0">
                <a:solidFill>
                  <a:srgbClr val="202124"/>
                </a:solidFill>
                <a:latin typeface="Google Sans Flex"/>
              </a:rPr>
              <a:t>ADK buyer agent calling our MCP tools (demo)</a:t>
            </a:r>
          </a:p>
        </p:txBody>
      </p:sp>
      <p:sp>
        <p:nvSpPr>
          <p:cNvPr id="122" name="Tech card 2"/>
          <p:cNvSpPr/>
          <p:nvPr/>
        </p:nvSpPr>
        <p:spPr>
          <a:xfrm>
            <a:off x="3227832" y="1161288"/>
            <a:ext cx="2688336" cy="1673352"/>
          </a:xfrm>
          <a:prstGeom prst="roundRect">
            <a:avLst>
              <a:gd name="adj" fmla="val 4371"/>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TextBox 122"/>
          <p:cNvSpPr txBox="1"/>
          <p:nvPr/>
        </p:nvSpPr>
        <p:spPr>
          <a:xfrm>
            <a:off x="3374136" y="1289304"/>
            <a:ext cx="2414016" cy="1472184"/>
          </a:xfrm>
          <a:prstGeom prst="rect">
            <a:avLst/>
          </a:prstGeom>
          <a:noFill/>
        </p:spPr>
        <p:txBody>
          <a:bodyPr wrap="square" lIns="18288" rIns="18288" tIns="18288" bIns="18288" anchor="t">
            <a:noAutofit/>
          </a:bodyPr>
          <a:lstStyle/>
          <a:p>
            <a:pPr algn="l">
              <a:spcAft>
                <a:spcPts val="400"/>
              </a:spcAft>
            </a:pPr>
            <a:r>
              <a:rPr sz="1150" b="1" i="0">
                <a:solidFill>
                  <a:srgbClr val="B06000"/>
                </a:solidFill>
                <a:latin typeface="Google Sans Flex"/>
              </a:rPr>
              <a:t>Agentic commerce</a:t>
            </a:r>
          </a:p>
          <a:p>
            <a:pPr algn="l" marL="128016" indent="-128016">
              <a:spcAft>
                <a:spcPts val="400"/>
              </a:spcAft>
              <a:buClr>
                <a:srgbClr val="B06000"/>
              </a:buClr>
              <a:buFont typeface="Arial"/>
              <a:buChar char="•"/>
            </a:pPr>
            <a:r>
              <a:rPr sz="1000" b="0" i="0">
                <a:solidFill>
                  <a:srgbClr val="202124"/>
                </a:solidFill>
                <a:latin typeface="Google Sans Flex"/>
              </a:rPr>
              <a:t>MCP server: search, shipping, checkout, status</a:t>
            </a:r>
          </a:p>
          <a:p>
            <a:pPr algn="l" marL="128016" indent="-128016">
              <a:spcAft>
                <a:spcPts val="400"/>
              </a:spcAft>
              <a:buClr>
                <a:srgbClr val="B06000"/>
              </a:buClr>
              <a:buFont typeface="Arial"/>
              <a:buChar char="•"/>
            </a:pPr>
            <a:r>
              <a:rPr sz="1000" b="0" i="0">
                <a:solidFill>
                  <a:srgbClr val="202124"/>
                </a:solidFill>
                <a:latin typeface="Google Sans Flex"/>
              </a:rPr>
              <a:t>UCP profile, checkout and order API (/ucp/v1)</a:t>
            </a:r>
          </a:p>
          <a:p>
            <a:pPr algn="l" marL="128016" indent="-128016">
              <a:spcAft>
                <a:spcPts val="400"/>
              </a:spcAft>
              <a:buClr>
                <a:srgbClr val="B06000"/>
              </a:buClr>
              <a:buFont typeface="Arial"/>
              <a:buChar char="•"/>
            </a:pPr>
            <a:r>
              <a:rPr sz="1000" b="0" i="0">
                <a:solidFill>
                  <a:srgbClr val="202124"/>
                </a:solidFill>
                <a:latin typeface="Google Sans Flex"/>
              </a:rPr>
              <a:t>schema.org data and store link</a:t>
            </a:r>
          </a:p>
          <a:p>
            <a:pPr algn="l" marL="128016" indent="-128016">
              <a:spcAft>
                <a:spcPts val="400"/>
              </a:spcAft>
              <a:buClr>
                <a:srgbClr val="B06000"/>
              </a:buClr>
              <a:buFont typeface="Arial"/>
              <a:buChar char="•"/>
            </a:pPr>
            <a:r>
              <a:rPr sz="1000" b="0" i="0">
                <a:solidFill>
                  <a:srgbClr val="202124"/>
                </a:solidFill>
                <a:latin typeface="Google Sans Flex"/>
              </a:rPr>
              <a:t>Next: Merchant Center feed, AP2 payments</a:t>
            </a:r>
          </a:p>
        </p:txBody>
      </p:sp>
      <p:sp>
        <p:nvSpPr>
          <p:cNvPr id="124" name="Tech card 3"/>
          <p:cNvSpPr/>
          <p:nvPr/>
        </p:nvSpPr>
        <p:spPr>
          <a:xfrm>
            <a:off x="6099048" y="1161288"/>
            <a:ext cx="2688336" cy="1673352"/>
          </a:xfrm>
          <a:prstGeom prst="roundRect">
            <a:avLst>
              <a:gd name="adj" fmla="val 4371"/>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TextBox 124"/>
          <p:cNvSpPr txBox="1"/>
          <p:nvPr/>
        </p:nvSpPr>
        <p:spPr>
          <a:xfrm>
            <a:off x="6245352" y="1289304"/>
            <a:ext cx="2414016" cy="1472184"/>
          </a:xfrm>
          <a:prstGeom prst="rect">
            <a:avLst/>
          </a:prstGeom>
          <a:noFill/>
        </p:spPr>
        <p:txBody>
          <a:bodyPr wrap="square" lIns="18288" rIns="18288" tIns="18288" bIns="18288" anchor="t">
            <a:noAutofit/>
          </a:bodyPr>
          <a:lstStyle/>
          <a:p>
            <a:pPr algn="l">
              <a:spcAft>
                <a:spcPts val="400"/>
              </a:spcAft>
            </a:pPr>
            <a:r>
              <a:rPr sz="1150" b="1" i="0">
                <a:solidFill>
                  <a:srgbClr val="1A73E8"/>
                </a:solidFill>
                <a:latin typeface="Google Sans Flex"/>
              </a:rPr>
              <a:t>Google Cloud runtime</a:t>
            </a:r>
          </a:p>
          <a:p>
            <a:pPr algn="l" marL="128016" indent="-128016">
              <a:spcAft>
                <a:spcPts val="400"/>
              </a:spcAft>
              <a:buClr>
                <a:srgbClr val="1A73E8"/>
              </a:buClr>
              <a:buFont typeface="Arial"/>
              <a:buChar char="•"/>
            </a:pPr>
            <a:r>
              <a:rPr sz="1000" b="0" i="0">
                <a:solidFill>
                  <a:srgbClr val="202124"/>
                </a:solidFill>
                <a:latin typeface="Google Sans Flex"/>
              </a:rPr>
              <a:t>Cloud Run: API, MCP, webhooks, dashboard</a:t>
            </a:r>
          </a:p>
          <a:p>
            <a:pPr algn="l" marL="128016" indent="-128016">
              <a:spcAft>
                <a:spcPts val="400"/>
              </a:spcAft>
              <a:buClr>
                <a:srgbClr val="1A73E8"/>
              </a:buClr>
              <a:buFont typeface="Arial"/>
              <a:buChar char="•"/>
            </a:pPr>
            <a:r>
              <a:rPr sz="1000" b="0" i="0">
                <a:solidFill>
                  <a:srgbClr val="202124"/>
                </a:solidFill>
                <a:latin typeface="Google Sans Flex"/>
              </a:rPr>
              <a:t>Firestore store with transactions</a:t>
            </a:r>
          </a:p>
          <a:p>
            <a:pPr algn="l" marL="128016" indent="-128016">
              <a:spcAft>
                <a:spcPts val="400"/>
              </a:spcAft>
              <a:buClr>
                <a:srgbClr val="1A73E8"/>
              </a:buClr>
              <a:buFont typeface="Arial"/>
              <a:buChar char="•"/>
            </a:pPr>
            <a:r>
              <a:rPr sz="1000" b="0" i="0">
                <a:solidFill>
                  <a:srgbClr val="202124"/>
                </a:solidFill>
                <a:latin typeface="Google Sans Flex"/>
              </a:rPr>
              <a:t>Secret Manager for every key</a:t>
            </a:r>
          </a:p>
          <a:p>
            <a:pPr algn="l" marL="128016" indent="-128016">
              <a:spcAft>
                <a:spcPts val="400"/>
              </a:spcAft>
              <a:buClr>
                <a:srgbClr val="1A73E8"/>
              </a:buClr>
              <a:buFont typeface="Arial"/>
              <a:buChar char="•"/>
            </a:pPr>
            <a:r>
              <a:rPr sz="1000" b="0" i="0">
                <a:solidFill>
                  <a:srgbClr val="202124"/>
                </a:solidFill>
                <a:latin typeface="Google Sans Flex"/>
              </a:rPr>
              <a:t>Load balancer + wildcard TLS</a:t>
            </a:r>
          </a:p>
          <a:p>
            <a:pPr algn="l" marL="128016" indent="-128016">
              <a:spcAft>
                <a:spcPts val="400"/>
              </a:spcAft>
              <a:buClr>
                <a:srgbClr val="1A73E8"/>
              </a:buClr>
              <a:buFont typeface="Arial"/>
              <a:buChar char="•"/>
            </a:pPr>
            <a:r>
              <a:rPr sz="1000" b="0" i="0">
                <a:solidFill>
                  <a:srgbClr val="202124"/>
                </a:solidFill>
                <a:latin typeface="Google Sans Flex"/>
              </a:rPr>
              <a:t>Pilot: Pub/Sub, Cloud Tasks, Storage, KMS</a:t>
            </a:r>
          </a:p>
        </p:txBody>
      </p:sp>
      <p:sp>
        <p:nvSpPr>
          <p:cNvPr id="126" name="Tech card 4"/>
          <p:cNvSpPr/>
          <p:nvPr/>
        </p:nvSpPr>
        <p:spPr>
          <a:xfrm>
            <a:off x="356616" y="2990088"/>
            <a:ext cx="2688336" cy="1673352"/>
          </a:xfrm>
          <a:prstGeom prst="roundRect">
            <a:avLst>
              <a:gd name="adj" fmla="val 4371"/>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TextBox 126"/>
          <p:cNvSpPr txBox="1"/>
          <p:nvPr/>
        </p:nvSpPr>
        <p:spPr>
          <a:xfrm>
            <a:off x="502920" y="3118104"/>
            <a:ext cx="2414016" cy="1472184"/>
          </a:xfrm>
          <a:prstGeom prst="rect">
            <a:avLst/>
          </a:prstGeom>
          <a:noFill/>
        </p:spPr>
        <p:txBody>
          <a:bodyPr wrap="square" lIns="18288" rIns="18288" tIns="18288" bIns="18288" anchor="t">
            <a:noAutofit/>
          </a:bodyPr>
          <a:lstStyle/>
          <a:p>
            <a:pPr algn="l">
              <a:spcAft>
                <a:spcPts val="400"/>
              </a:spcAft>
            </a:pPr>
            <a:r>
              <a:rPr sz="1150" b="1" i="0">
                <a:solidFill>
                  <a:srgbClr val="188038"/>
                </a:solidFill>
                <a:latin typeface="Google Sans Flex"/>
              </a:rPr>
              <a:t>Integrations</a:t>
            </a:r>
          </a:p>
          <a:p>
            <a:pPr algn="l" marL="128016" indent="-128016">
              <a:spcAft>
                <a:spcPts val="400"/>
              </a:spcAft>
              <a:buClr>
                <a:srgbClr val="188038"/>
              </a:buClr>
              <a:buFont typeface="Arial"/>
              <a:buChar char="•"/>
            </a:pPr>
            <a:r>
              <a:rPr sz="1000" b="0" i="0">
                <a:solidFill>
                  <a:srgbClr val="202124"/>
                </a:solidFill>
                <a:latin typeface="Google Sans Flex"/>
              </a:rPr>
              <a:t>WhatsApp Cloud API and Telegram Bot API</a:t>
            </a:r>
          </a:p>
          <a:p>
            <a:pPr algn="l" marL="128016" indent="-128016">
              <a:spcAft>
                <a:spcPts val="400"/>
              </a:spcAft>
              <a:buClr>
                <a:srgbClr val="188038"/>
              </a:buClr>
              <a:buFont typeface="Arial"/>
              <a:buChar char="•"/>
            </a:pPr>
            <a:r>
              <a:rPr sz="1000" b="0" i="0">
                <a:solidFill>
                  <a:srgbClr val="202124"/>
                </a:solidFill>
                <a:latin typeface="Google Sans Flex"/>
              </a:rPr>
              <a:t>Xendit QRIS and Biteship adapters</a:t>
            </a:r>
          </a:p>
          <a:p>
            <a:pPr algn="l" marL="128016" indent="-128016">
              <a:spcAft>
                <a:spcPts val="400"/>
              </a:spcAft>
              <a:buClr>
                <a:srgbClr val="188038"/>
              </a:buClr>
              <a:buFont typeface="Arial"/>
              <a:buChar char="•"/>
            </a:pPr>
            <a:r>
              <a:rPr sz="1000" b="0" i="0">
                <a:solidFill>
                  <a:srgbClr val="202124"/>
                </a:solidFill>
                <a:latin typeface="Google Sans Flex"/>
              </a:rPr>
              <a:t>Instagram API (catalog import)</a:t>
            </a:r>
          </a:p>
          <a:p>
            <a:pPr algn="l" marL="128016" indent="-128016">
              <a:spcAft>
                <a:spcPts val="400"/>
              </a:spcAft>
              <a:buClr>
                <a:srgbClr val="188038"/>
              </a:buClr>
              <a:buFont typeface="Arial"/>
              <a:buChar char="•"/>
            </a:pPr>
            <a:r>
              <a:rPr sz="1000" b="0" i="0">
                <a:solidFill>
                  <a:srgbClr val="202124"/>
                </a:solidFill>
                <a:latin typeface="Google Sans Flex"/>
              </a:rPr>
              <a:t>OpenAPI Connector API</a:t>
            </a:r>
          </a:p>
        </p:txBody>
      </p:sp>
      <p:sp>
        <p:nvSpPr>
          <p:cNvPr id="128" name="Tech card 5"/>
          <p:cNvSpPr/>
          <p:nvPr/>
        </p:nvSpPr>
        <p:spPr>
          <a:xfrm>
            <a:off x="3227832" y="2990088"/>
            <a:ext cx="2688336" cy="1673352"/>
          </a:xfrm>
          <a:prstGeom prst="roundRect">
            <a:avLst>
              <a:gd name="adj" fmla="val 4371"/>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 name="TextBox 128"/>
          <p:cNvSpPr txBox="1"/>
          <p:nvPr/>
        </p:nvSpPr>
        <p:spPr>
          <a:xfrm>
            <a:off x="3374136" y="3118104"/>
            <a:ext cx="2414016" cy="1472184"/>
          </a:xfrm>
          <a:prstGeom prst="rect">
            <a:avLst/>
          </a:prstGeom>
          <a:noFill/>
        </p:spPr>
        <p:txBody>
          <a:bodyPr wrap="square" lIns="18288" rIns="18288" tIns="18288" bIns="18288" anchor="t">
            <a:noAutofit/>
          </a:bodyPr>
          <a:lstStyle/>
          <a:p>
            <a:pPr algn="l">
              <a:spcAft>
                <a:spcPts val="400"/>
              </a:spcAft>
            </a:pPr>
            <a:r>
              <a:rPr sz="1150" b="1" i="0">
                <a:solidFill>
                  <a:srgbClr val="5F6368"/>
                </a:solidFill>
                <a:latin typeface="Google Sans Flex"/>
              </a:rPr>
              <a:t>Seller dashboard</a:t>
            </a:r>
          </a:p>
          <a:p>
            <a:pPr algn="l" marL="128016" indent="-128016">
              <a:spcAft>
                <a:spcPts val="400"/>
              </a:spcAft>
              <a:buClr>
                <a:srgbClr val="5F6368"/>
              </a:buClr>
              <a:buFont typeface="Arial"/>
              <a:buChar char="•"/>
            </a:pPr>
            <a:r>
              <a:rPr sz="1000" b="0" i="0">
                <a:solidFill>
                  <a:srgbClr val="202124"/>
                </a:solidFill>
                <a:latin typeface="Google Sans Flex"/>
              </a:rPr>
              <a:t>Lightweight web dashboard on Cloud Run</a:t>
            </a:r>
          </a:p>
          <a:p>
            <a:pPr algn="l" marL="128016" indent="-128016">
              <a:spcAft>
                <a:spcPts val="400"/>
              </a:spcAft>
              <a:buClr>
                <a:srgbClr val="5F6368"/>
              </a:buClr>
              <a:buFont typeface="Arial"/>
              <a:buChar char="•"/>
            </a:pPr>
            <a:r>
              <a:rPr sz="1000" b="0" i="0">
                <a:solidFill>
                  <a:srgbClr val="202124"/>
                </a:solidFill>
                <a:latin typeface="Google Sans Flex"/>
              </a:rPr>
              <a:t>One-time-code sign-in over chat</a:t>
            </a:r>
          </a:p>
          <a:p>
            <a:pPr algn="l" marL="128016" indent="-128016">
              <a:spcAft>
                <a:spcPts val="400"/>
              </a:spcAft>
              <a:buClr>
                <a:srgbClr val="5F6368"/>
              </a:buClr>
              <a:buFont typeface="Arial"/>
              <a:buChar char="•"/>
            </a:pPr>
            <a:r>
              <a:rPr sz="1000" b="0" i="0">
                <a:solidFill>
                  <a:srgbClr val="202124"/>
                </a:solidFill>
                <a:latin typeface="Google Sans Flex"/>
              </a:rPr>
              <a:t>Readiness, orders, returns, payouts</a:t>
            </a:r>
          </a:p>
        </p:txBody>
      </p:sp>
      <p:sp>
        <p:nvSpPr>
          <p:cNvPr id="130" name="Tech card 6"/>
          <p:cNvSpPr/>
          <p:nvPr/>
        </p:nvSpPr>
        <p:spPr>
          <a:xfrm>
            <a:off x="6099048" y="2990088"/>
            <a:ext cx="2688336" cy="1673352"/>
          </a:xfrm>
          <a:prstGeom prst="roundRect">
            <a:avLst>
              <a:gd name="adj" fmla="val 4371"/>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TextBox 130"/>
          <p:cNvSpPr txBox="1"/>
          <p:nvPr/>
        </p:nvSpPr>
        <p:spPr>
          <a:xfrm>
            <a:off x="6245352" y="3118104"/>
            <a:ext cx="2414016" cy="1472184"/>
          </a:xfrm>
          <a:prstGeom prst="rect">
            <a:avLst/>
          </a:prstGeom>
          <a:noFill/>
        </p:spPr>
        <p:txBody>
          <a:bodyPr wrap="square" lIns="18288" rIns="18288" tIns="18288" bIns="18288" anchor="t">
            <a:noAutofit/>
          </a:bodyPr>
          <a:lstStyle/>
          <a:p>
            <a:pPr algn="l">
              <a:spcAft>
                <a:spcPts val="400"/>
              </a:spcAft>
            </a:pPr>
            <a:r>
              <a:rPr sz="1150" b="1" i="0">
                <a:solidFill>
                  <a:srgbClr val="D93025"/>
                </a:solidFill>
                <a:latin typeface="Google Sans Flex"/>
              </a:rPr>
              <a:t>Security &amp; operations</a:t>
            </a:r>
          </a:p>
          <a:p>
            <a:pPr algn="l" marL="128016" indent="-128016">
              <a:spcAft>
                <a:spcPts val="400"/>
              </a:spcAft>
              <a:buClr>
                <a:srgbClr val="D93025"/>
              </a:buClr>
              <a:buFont typeface="Arial"/>
              <a:buChar char="•"/>
            </a:pPr>
            <a:r>
              <a:rPr sz="1000" b="0" i="0">
                <a:solidFill>
                  <a:srgbClr val="202124"/>
                </a:solidFill>
                <a:latin typeface="Google Sans Flex"/>
              </a:rPr>
              <a:t>Tenant isolation, including AI context</a:t>
            </a:r>
          </a:p>
          <a:p>
            <a:pPr algn="l" marL="128016" indent="-128016">
              <a:spcAft>
                <a:spcPts val="400"/>
              </a:spcAft>
              <a:buClr>
                <a:srgbClr val="D93025"/>
              </a:buClr>
              <a:buFont typeface="Arial"/>
              <a:buChar char="•"/>
            </a:pPr>
            <a:r>
              <a:rPr sz="1000" b="0" i="0">
                <a:solidFill>
                  <a:srgbClr val="202124"/>
                </a:solidFill>
                <a:latin typeface="Google Sans Flex"/>
              </a:rPr>
              <a:t>Signed webhooks, fail-closed startup checks</a:t>
            </a:r>
          </a:p>
          <a:p>
            <a:pPr algn="l" marL="128016" indent="-128016">
              <a:spcAft>
                <a:spcPts val="400"/>
              </a:spcAft>
              <a:buClr>
                <a:srgbClr val="D93025"/>
              </a:buClr>
              <a:buFont typeface="Arial"/>
              <a:buChar char="•"/>
            </a:pPr>
            <a:r>
              <a:rPr sz="1000" b="0" i="0">
                <a:solidFill>
                  <a:srgbClr val="202124"/>
                </a:solidFill>
                <a:latin typeface="Google Sans Flex"/>
              </a:rPr>
              <a:t>Rate limits, OTP lockout, CSP</a:t>
            </a:r>
          </a:p>
          <a:p>
            <a:pPr algn="l" marL="128016" indent="-128016">
              <a:spcAft>
                <a:spcPts val="400"/>
              </a:spcAft>
              <a:buClr>
                <a:srgbClr val="D93025"/>
              </a:buClr>
              <a:buFont typeface="Arial"/>
              <a:buChar char="•"/>
            </a:pPr>
            <a:r>
              <a:rPr sz="1000" b="0" i="0">
                <a:solidFill>
                  <a:srgbClr val="202124"/>
                </a:solidFill>
                <a:latin typeface="Google Sans Flex"/>
              </a:rPr>
              <a:t>Built with Indonesia's PDP Law in mind</a:t>
            </a: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3" name="Shape 123"/>
        <p:cNvGrpSpPr/>
        <p:nvPr/>
      </p:nvGrpSpPr>
      <p:grpSpPr>
        <a:xfrm>
          <a:off x="0" y="0"/>
          <a:ext cx="0" cy="0"/>
          <a:chOff x="0" y="0"/>
          <a:chExt cx="0" cy="0"/>
        </a:xfrm>
      </p:grpSpPr>
      <p:pic>
        <p:nvPicPr>
          <p:cNvPr id="124" name="Google Shape;124;p22"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25" name="Google Shape;125;p22"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26" name="Google Shape;126;p22"/>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27" name="Google Shape;127;p22"/>
          <p:cNvSpPr txBox="1"/>
          <p:nvPr/>
        </p:nvSpPr>
        <p:spPr>
          <a:xfrm>
            <a:off x="265350" y="663825"/>
            <a:ext cx="8943000" cy="4572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Estimated implementation cost (optional)</a:t>
            </a:r>
            <a:endParaRPr sz="1600">
              <a:latin typeface="Google Sans Flex Medium"/>
              <a:ea typeface="Google Sans Flex Medium"/>
              <a:cs typeface="Google Sans Flex Medium"/>
              <a:sym typeface="Google Sans Flex Medium"/>
            </a:endParaRPr>
          </a:p>
        </p:txBody>
      </p:sp>
      <p:sp>
        <p:nvSpPr>
          <p:cNvPr id="128" name="TextBox 127"/>
          <p:cNvSpPr txBox="1"/>
          <p:nvPr/>
        </p:nvSpPr>
        <p:spPr>
          <a:xfrm>
            <a:off x="356616" y="1161288"/>
            <a:ext cx="8430767" cy="274320"/>
          </a:xfrm>
          <a:prstGeom prst="rect">
            <a:avLst/>
          </a:prstGeom>
          <a:noFill/>
        </p:spPr>
        <p:txBody>
          <a:bodyPr wrap="square" lIns="18288" rIns="18288" tIns="18288" bIns="18288" anchor="t">
            <a:noAutofit/>
          </a:bodyPr>
          <a:lstStyle/>
          <a:p>
            <a:pPr algn="l"/>
            <a:r>
              <a:rPr sz="950" b="1" i="0">
                <a:solidFill>
                  <a:srgbClr val="202124"/>
                </a:solidFill>
                <a:latin typeface="Google Sans Flex"/>
              </a:rPr>
              <a:t>Pilot assumption: </a:t>
            </a:r>
            <a:r>
              <a:rPr sz="950" b="0" i="0">
                <a:solidFill>
                  <a:srgbClr val="202124"/>
                </a:solidFill>
                <a:latin typeface="Google Sans Flex"/>
              </a:rPr>
              <a:t>100 sellers · 3,000 products · 1,000 orders per month. Rough estimates, to be validated with the Google Cloud Pricing Calculator.</a:t>
            </a:r>
          </a:p>
        </p:txBody>
      </p:sp>
      <p:graphicFrame>
        <p:nvGraphicFramePr>
          <p:cNvPr id="129" name="Table 128"/>
          <p:cNvGraphicFramePr>
            <a:graphicFrameLocks noGrp="1"/>
          </p:cNvGraphicFramePr>
          <p:nvPr/>
        </p:nvGraphicFramePr>
        <p:xfrm>
          <a:off x="356616" y="1536192"/>
          <a:ext cx="5623560" cy="2743200"/>
        </p:xfrm>
        <a:graphic>
          <a:graphicData uri="http://schemas.openxmlformats.org/drawingml/2006/table">
            <a:tbl>
              <a:tblPr/>
              <a:tblGrid>
                <a:gridCol w="1828800"/>
                <a:gridCol w="2697480"/>
                <a:gridCol w="1097280"/>
              </a:tblGrid>
              <a:tr h="310896">
                <a:tc>
                  <a:txBody>
                    <a:bodyPr wrap="square" lIns="64008" rIns="64008" tIns="27432" bIns="27432" anchor="ctr">
                      <a:noAutofit/>
                    </a:bodyPr>
                    <a:lstStyle/>
                    <a:p>
                      <a:pPr algn="l"/>
                      <a:r>
                        <a:rPr sz="900" b="1" i="0">
                          <a:solidFill>
                            <a:srgbClr val="FFFFFF"/>
                          </a:solidFill>
                          <a:latin typeface="Google Sans Flex"/>
                        </a:rPr>
                        <a:t>Component</a:t>
                      </a:r>
                    </a:p>
                  </a:txBody>
                  <a:tcPr anchor="ctr">
                    <a:solidFill>
                      <a:srgbClr val="202124"/>
                    </a:solidFill>
                  </a:tcPr>
                </a:tc>
                <a:tc>
                  <a:txBody>
                    <a:bodyPr wrap="square" lIns="64008" rIns="64008" tIns="27432" bIns="27432" anchor="ctr">
                      <a:noAutofit/>
                    </a:bodyPr>
                    <a:lstStyle/>
                    <a:p>
                      <a:pPr algn="l"/>
                      <a:r>
                        <a:rPr sz="900" b="1" i="0">
                          <a:solidFill>
                            <a:srgbClr val="FFFFFF"/>
                          </a:solidFill>
                          <a:latin typeface="Google Sans Flex"/>
                        </a:rPr>
                        <a:t>Basis</a:t>
                      </a:r>
                    </a:p>
                  </a:txBody>
                  <a:tcPr anchor="ctr">
                    <a:solidFill>
                      <a:srgbClr val="202124"/>
                    </a:solidFill>
                  </a:tcPr>
                </a:tc>
                <a:tc>
                  <a:txBody>
                    <a:bodyPr wrap="square" lIns="64008" rIns="64008" tIns="27432" bIns="27432" anchor="ctr">
                      <a:noAutofit/>
                    </a:bodyPr>
                    <a:lstStyle/>
                    <a:p>
                      <a:pPr algn="r"/>
                      <a:r>
                        <a:rPr sz="900" b="1" i="0">
                          <a:solidFill>
                            <a:srgbClr val="FFFFFF"/>
                          </a:solidFill>
                          <a:latin typeface="Google Sans Flex"/>
                        </a:rPr>
                        <a:t>Est. / month</a:t>
                      </a:r>
                    </a:p>
                  </a:txBody>
                  <a:tcPr anchor="ctr">
                    <a:solidFill>
                      <a:srgbClr val="202124"/>
                    </a:solidFill>
                  </a:tcPr>
                </a:tc>
              </a:tr>
              <a:tr h="347472">
                <a:tc>
                  <a:txBody>
                    <a:bodyPr wrap="square" lIns="64008" rIns="64008" tIns="27432" bIns="27432" anchor="ctr">
                      <a:noAutofit/>
                    </a:bodyPr>
                    <a:lstStyle/>
                    <a:p>
                      <a:pPr algn="l"/>
                      <a:r>
                        <a:rPr sz="850" b="1" i="0">
                          <a:solidFill>
                            <a:srgbClr val="202124"/>
                          </a:solidFill>
                          <a:latin typeface="Google Sans Flex"/>
                        </a:rPr>
                        <a:t>Cloud Run, Firestore, Storage, Pub/Sub</a:t>
                      </a:r>
                    </a:p>
                  </a:txBody>
                  <a:tcPr anchor="ctr">
                    <a:solidFill>
                      <a:srgbClr val="FFFFFF"/>
                    </a:solidFill>
                  </a:tcPr>
                </a:tc>
                <a:tc>
                  <a:txBody>
                    <a:bodyPr wrap="square" lIns="64008" rIns="64008" tIns="27432" bIns="27432" anchor="ctr">
                      <a:noAutofit/>
                    </a:bodyPr>
                    <a:lstStyle/>
                    <a:p>
                      <a:pPr algn="l"/>
                      <a:r>
                        <a:rPr sz="850" b="0" i="0">
                          <a:solidFill>
                            <a:srgbClr val="202124"/>
                          </a:solidFill>
                          <a:latin typeface="Google Sans Flex"/>
                        </a:rPr>
                        <a:t>Low pilot traffic, mostly within free tiers</a:t>
                      </a:r>
                    </a:p>
                  </a:txBody>
                  <a:tcPr anchor="ctr">
                    <a:solidFill>
                      <a:srgbClr val="FFFFFF"/>
                    </a:solidFill>
                  </a:tcPr>
                </a:tc>
                <a:tc>
                  <a:txBody>
                    <a:bodyPr wrap="square" lIns="64008" rIns="64008" tIns="27432" bIns="27432" anchor="ctr">
                      <a:noAutofit/>
                    </a:bodyPr>
                    <a:lstStyle/>
                    <a:p>
                      <a:pPr algn="r"/>
                      <a:r>
                        <a:rPr sz="850" b="0" i="0">
                          <a:solidFill>
                            <a:srgbClr val="202124"/>
                          </a:solidFill>
                          <a:latin typeface="Google Sans Flex"/>
                        </a:rPr>
                        <a:t>US$10–30</a:t>
                      </a:r>
                    </a:p>
                  </a:txBody>
                  <a:tcPr anchor="ctr">
                    <a:solidFill>
                      <a:srgbClr val="FFFFFF"/>
                    </a:solidFill>
                  </a:tcPr>
                </a:tc>
              </a:tr>
              <a:tr h="347472">
                <a:tc>
                  <a:txBody>
                    <a:bodyPr wrap="square" lIns="64008" rIns="64008" tIns="27432" bIns="27432" anchor="ctr">
                      <a:noAutofit/>
                    </a:bodyPr>
                    <a:lstStyle/>
                    <a:p>
                      <a:pPr algn="l"/>
                      <a:r>
                        <a:rPr sz="850" b="1" i="0">
                          <a:solidFill>
                            <a:srgbClr val="202124"/>
                          </a:solidFill>
                          <a:latin typeface="Google Sans Flex"/>
                        </a:rPr>
                        <a:t>Gemini on Vertex AI</a:t>
                      </a:r>
                    </a:p>
                  </a:txBody>
                  <a:tcPr anchor="ctr">
                    <a:solidFill>
                      <a:srgbClr val="F8F9FA"/>
                    </a:solidFill>
                  </a:tcPr>
                </a:tc>
                <a:tc>
                  <a:txBody>
                    <a:bodyPr wrap="square" lIns="64008" rIns="64008" tIns="27432" bIns="27432" anchor="ctr">
                      <a:noAutofit/>
                    </a:bodyPr>
                    <a:lstStyle/>
                    <a:p>
                      <a:pPr algn="l"/>
                      <a:r>
                        <a:rPr sz="850" b="0" i="0">
                          <a:solidFill>
                            <a:srgbClr val="202124"/>
                          </a:solidFill>
                          <a:latin typeface="Google Sans Flex"/>
                        </a:rPr>
                        <a:t>~3,000 catalog extractions + ~2,000 seller-agent turns (buyers' agents run on their own models)</a:t>
                      </a:r>
                    </a:p>
                  </a:txBody>
                  <a:tcPr anchor="ctr">
                    <a:solidFill>
                      <a:srgbClr val="F8F9FA"/>
                    </a:solidFill>
                  </a:tcPr>
                </a:tc>
                <a:tc>
                  <a:txBody>
                    <a:bodyPr wrap="square" lIns="64008" rIns="64008" tIns="27432" bIns="27432" anchor="ctr">
                      <a:noAutofit/>
                    </a:bodyPr>
                    <a:lstStyle/>
                    <a:p>
                      <a:pPr algn="r"/>
                      <a:r>
                        <a:rPr sz="850" b="0" i="0">
                          <a:solidFill>
                            <a:srgbClr val="202124"/>
                          </a:solidFill>
                          <a:latin typeface="Google Sans Flex"/>
                        </a:rPr>
                        <a:t>US$15–60</a:t>
                      </a:r>
                    </a:p>
                  </a:txBody>
                  <a:tcPr anchor="ctr">
                    <a:solidFill>
                      <a:srgbClr val="F8F9FA"/>
                    </a:solidFill>
                  </a:tcPr>
                </a:tc>
              </a:tr>
              <a:tr h="347472">
                <a:tc>
                  <a:txBody>
                    <a:bodyPr wrap="square" lIns="64008" rIns="64008" tIns="27432" bIns="27432" anchor="ctr">
                      <a:noAutofit/>
                    </a:bodyPr>
                    <a:lstStyle/>
                    <a:p>
                      <a:pPr algn="l"/>
                      <a:r>
                        <a:rPr sz="850" b="1" i="0">
                          <a:solidFill>
                            <a:srgbClr val="202124"/>
                          </a:solidFill>
                          <a:latin typeface="Google Sans Flex"/>
                        </a:rPr>
                        <a:t>WhatsApp Cloud API</a:t>
                      </a:r>
                    </a:p>
                  </a:txBody>
                  <a:tcPr anchor="ctr">
                    <a:solidFill>
                      <a:srgbClr val="FFFFFF"/>
                    </a:solidFill>
                  </a:tcPr>
                </a:tc>
                <a:tc>
                  <a:txBody>
                    <a:bodyPr wrap="square" lIns="64008" rIns="64008" tIns="27432" bIns="27432" anchor="ctr">
                      <a:noAutofit/>
                    </a:bodyPr>
                    <a:lstStyle/>
                    <a:p>
                      <a:pPr algn="l"/>
                      <a:r>
                        <a:rPr sz="850" b="0" i="0">
                          <a:solidFill>
                            <a:srgbClr val="202124"/>
                          </a:solidFill>
                          <a:latin typeface="Google Sans Flex"/>
                        </a:rPr>
                        <a:t>~4 templates + 3–5 charged replies per order × 1,000 orders at ~IDR 357–460</a:t>
                      </a:r>
                    </a:p>
                  </a:txBody>
                  <a:tcPr anchor="ctr">
                    <a:solidFill>
                      <a:srgbClr val="FFFFFF"/>
                    </a:solidFill>
                  </a:tcPr>
                </a:tc>
                <a:tc>
                  <a:txBody>
                    <a:bodyPr wrap="square" lIns="64008" rIns="64008" tIns="27432" bIns="27432" anchor="ctr">
                      <a:noAutofit/>
                    </a:bodyPr>
                    <a:lstStyle/>
                    <a:p>
                      <a:pPr algn="r"/>
                      <a:r>
                        <a:rPr sz="850" b="0" i="0">
                          <a:solidFill>
                            <a:srgbClr val="202124"/>
                          </a:solidFill>
                          <a:latin typeface="Google Sans Flex"/>
                        </a:rPr>
                        <a:t>~US$160–260</a:t>
                      </a:r>
                    </a:p>
                  </a:txBody>
                  <a:tcPr anchor="ctr">
                    <a:solidFill>
                      <a:srgbClr val="FFFFFF"/>
                    </a:solidFill>
                  </a:tcPr>
                </a:tc>
              </a:tr>
              <a:tr h="347472">
                <a:tc>
                  <a:txBody>
                    <a:bodyPr wrap="square" lIns="64008" rIns="64008" tIns="27432" bIns="27432" anchor="ctr">
                      <a:noAutofit/>
                    </a:bodyPr>
                    <a:lstStyle/>
                    <a:p>
                      <a:pPr algn="l"/>
                      <a:r>
                        <a:rPr sz="850" b="1" i="0">
                          <a:solidFill>
                            <a:srgbClr val="202124"/>
                          </a:solidFill>
                          <a:latin typeface="Google Sans Flex"/>
                        </a:rPr>
                        <a:t>Biteship</a:t>
                      </a:r>
                    </a:p>
                  </a:txBody>
                  <a:tcPr anchor="ctr">
                    <a:solidFill>
                      <a:srgbClr val="F8F9FA"/>
                    </a:solidFill>
                  </a:tcPr>
                </a:tc>
                <a:tc>
                  <a:txBody>
                    <a:bodyPr wrap="square" lIns="64008" rIns="64008" tIns="27432" bIns="27432" anchor="ctr">
                      <a:noAutofit/>
                    </a:bodyPr>
                    <a:lstStyle/>
                    <a:p>
                      <a:pPr algn="l"/>
                      <a:r>
                        <a:rPr sz="850" b="0" i="0">
                          <a:solidFill>
                            <a:srgbClr val="202124"/>
                          </a:solidFill>
                          <a:latin typeface="Google Sans Flex"/>
                        </a:rPr>
                        <a:t>Grow plan from 2 Nov 2026: Rp149,000 per month</a:t>
                      </a:r>
                    </a:p>
                  </a:txBody>
                  <a:tcPr anchor="ctr">
                    <a:solidFill>
                      <a:srgbClr val="F8F9FA"/>
                    </a:solidFill>
                  </a:tcPr>
                </a:tc>
                <a:tc>
                  <a:txBody>
                    <a:bodyPr wrap="square" lIns="64008" rIns="64008" tIns="27432" bIns="27432" anchor="ctr">
                      <a:noAutofit/>
                    </a:bodyPr>
                    <a:lstStyle/>
                    <a:p>
                      <a:pPr algn="r"/>
                      <a:r>
                        <a:rPr sz="850" b="0" i="0">
                          <a:solidFill>
                            <a:srgbClr val="202124"/>
                          </a:solidFill>
                          <a:latin typeface="Google Sans Flex"/>
                        </a:rPr>
                        <a:t>~US$9</a:t>
                      </a:r>
                    </a:p>
                  </a:txBody>
                  <a:tcPr anchor="ctr">
                    <a:solidFill>
                      <a:srgbClr val="F8F9FA"/>
                    </a:solidFill>
                  </a:tcPr>
                </a:tc>
              </a:tr>
              <a:tr h="347472">
                <a:tc>
                  <a:txBody>
                    <a:bodyPr wrap="square" lIns="64008" rIns="64008" tIns="27432" bIns="27432" anchor="ctr">
                      <a:noAutofit/>
                    </a:bodyPr>
                    <a:lstStyle/>
                    <a:p>
                      <a:pPr algn="l"/>
                      <a:r>
                        <a:rPr sz="850" b="1" i="0">
                          <a:solidFill>
                            <a:srgbClr val="202124"/>
                          </a:solidFill>
                          <a:latin typeface="Google Sans Flex"/>
                        </a:rPr>
                        <a:t>Payment-platform account</a:t>
                      </a:r>
                    </a:p>
                  </a:txBody>
                  <a:tcPr anchor="ctr">
                    <a:solidFill>
                      <a:srgbClr val="F8F9FA"/>
                    </a:solidFill>
                  </a:tcPr>
                </a:tc>
                <a:tc>
                  <a:txBody>
                    <a:bodyPr wrap="square" lIns="64008" rIns="64008" tIns="27432" bIns="27432" anchor="ctr">
                      <a:noAutofit/>
                    </a:bodyPr>
                    <a:lstStyle/>
                    <a:p>
                      <a:pPr algn="l"/>
                      <a:r>
                        <a:rPr sz="850" b="0" i="0">
                          <a:solidFill>
                            <a:srgbClr val="202124"/>
                          </a:solidFill>
                          <a:latin typeface="Google Sans Flex"/>
                        </a:rPr>
                        <a:t>Xendit xenPlatform: Rp25,000 per active seller per month (unconfirmed)</a:t>
                      </a:r>
                    </a:p>
                  </a:txBody>
                  <a:tcPr anchor="ctr">
                    <a:solidFill>
                      <a:srgbClr val="F8F9FA"/>
                    </a:solidFill>
                  </a:tcPr>
                </a:tc>
                <a:tc>
                  <a:txBody>
                    <a:bodyPr wrap="square" lIns="64008" rIns="64008" tIns="27432" bIns="27432" anchor="ctr">
                      <a:noAutofit/>
                    </a:bodyPr>
                    <a:lstStyle/>
                    <a:p>
                      <a:pPr algn="r"/>
                      <a:r>
                        <a:rPr sz="850" b="0" i="0">
                          <a:solidFill>
                            <a:srgbClr val="202124"/>
                          </a:solidFill>
                          <a:latin typeface="Google Sans Flex"/>
                        </a:rPr>
                        <a:t>~US$155</a:t>
                      </a:r>
                    </a:p>
                  </a:txBody>
                  <a:tcPr anchor="ctr">
                    <a:solidFill>
                      <a:srgbClr val="F8F9FA"/>
                    </a:solidFill>
                  </a:tcPr>
                </a:tc>
              </a:tr>
              <a:tr h="347472">
                <a:tc>
                  <a:txBody>
                    <a:bodyPr wrap="square" lIns="64008" rIns="64008" tIns="27432" bIns="27432" anchor="ctr">
                      <a:noAutofit/>
                    </a:bodyPr>
                    <a:lstStyle/>
                    <a:p>
                      <a:pPr algn="l"/>
                      <a:r>
                        <a:rPr sz="850" b="1" i="0">
                          <a:solidFill>
                            <a:srgbClr val="202124"/>
                          </a:solidFill>
                          <a:latin typeface="Google Sans Flex"/>
                        </a:rPr>
                        <a:t>QRIS payments</a:t>
                      </a:r>
                    </a:p>
                  </a:txBody>
                  <a:tcPr anchor="ctr">
                    <a:solidFill>
                      <a:srgbClr val="FFFFFF"/>
                    </a:solidFill>
                  </a:tcPr>
                </a:tc>
                <a:tc>
                  <a:txBody>
                    <a:bodyPr wrap="square" lIns="64008" rIns="64008" tIns="27432" bIns="27432" anchor="ctr">
                      <a:noAutofit/>
                    </a:bodyPr>
                    <a:lstStyle/>
                    <a:p>
                      <a:pPr algn="l"/>
                      <a:r>
                        <a:rPr sz="850" b="0" i="0">
                          <a:solidFill>
                            <a:srgbClr val="202124"/>
                          </a:solidFill>
                          <a:latin typeface="Google Sans Flex"/>
                        </a:rPr>
                        <a:t>MDR 0% to Rp100k (all) or Rp500k (micro), else 0.7%; fixed gateway fee, if any, paid by buyer</a:t>
                      </a:r>
                    </a:p>
                  </a:txBody>
                  <a:tcPr anchor="ctr">
                    <a:solidFill>
                      <a:srgbClr val="FFFFFF"/>
                    </a:solidFill>
                  </a:tcPr>
                </a:tc>
                <a:tc>
                  <a:txBody>
                    <a:bodyPr wrap="square" lIns="64008" rIns="64008" tIns="27432" bIns="27432" anchor="ctr">
                      <a:noAutofit/>
                    </a:bodyPr>
                    <a:lstStyle/>
                    <a:p>
                      <a:pPr algn="r"/>
                      <a:r>
                        <a:rPr sz="850" b="0" i="0">
                          <a:solidFill>
                            <a:srgbClr val="202124"/>
                          </a:solidFill>
                          <a:latin typeface="Google Sans Flex"/>
                        </a:rPr>
                        <a:t>Pass-through</a:t>
                      </a:r>
                    </a:p>
                  </a:txBody>
                  <a:tcPr anchor="ctr">
                    <a:solidFill>
                      <a:srgbClr val="FFFFFF"/>
                    </a:solidFill>
                  </a:tcPr>
                </a:tc>
              </a:tr>
              <a:tr h="347472">
                <a:tc>
                  <a:txBody>
                    <a:bodyPr wrap="square" lIns="64008" rIns="64008" tIns="27432" bIns="27432" anchor="ctr">
                      <a:noAutofit/>
                    </a:bodyPr>
                    <a:lstStyle/>
                    <a:p>
                      <a:pPr algn="l"/>
                      <a:r>
                        <a:rPr sz="850" b="1" i="0">
                          <a:solidFill>
                            <a:srgbClr val="202124"/>
                          </a:solidFill>
                          <a:latin typeface="Google Sans Flex"/>
                        </a:rPr>
                        <a:t>Total platform cost</a:t>
                      </a:r>
                    </a:p>
                  </a:txBody>
                  <a:tcPr anchor="ctr">
                    <a:solidFill>
                      <a:srgbClr val="E8F0FE"/>
                    </a:solidFill>
                  </a:tcPr>
                </a:tc>
                <a:tc>
                  <a:txBody>
                    <a:bodyPr wrap="square" lIns="64008" rIns="64008" tIns="27432" bIns="27432" anchor="ctr">
                      <a:noAutofit/>
                    </a:bodyPr>
                    <a:lstStyle/>
                    <a:p>
                      <a:pPr algn="l"/>
                      <a:r>
                        <a:rPr sz="850" b="1" i="0">
                          <a:solidFill>
                            <a:srgbClr val="202124"/>
                          </a:solidFill>
                          <a:latin typeface="Google Sans Flex"/>
                        </a:rPr>
                        <a:t/>
                      </a:r>
                    </a:p>
                  </a:txBody>
                  <a:tcPr anchor="ctr">
                    <a:solidFill>
                      <a:srgbClr val="E8F0FE"/>
                    </a:solidFill>
                  </a:tcPr>
                </a:tc>
                <a:tc>
                  <a:txBody>
                    <a:bodyPr wrap="square" lIns="64008" rIns="64008" tIns="27432" bIns="27432" anchor="ctr">
                      <a:noAutofit/>
                    </a:bodyPr>
                    <a:lstStyle/>
                    <a:p>
                      <a:pPr algn="r"/>
                      <a:r>
                        <a:rPr sz="850" b="1" i="0">
                          <a:solidFill>
                            <a:srgbClr val="202124"/>
                          </a:solidFill>
                          <a:latin typeface="Google Sans Flex"/>
                        </a:rPr>
                        <a:t>≈ US$350–520</a:t>
                      </a:r>
                    </a:p>
                  </a:txBody>
                  <a:tcPr anchor="ctr">
                    <a:solidFill>
                      <a:srgbClr val="E8F0FE"/>
                    </a:solidFill>
                  </a:tcPr>
                </a:tc>
              </a:tr>
            </a:tbl>
          </a:graphicData>
        </a:graphic>
      </p:graphicFrame>
      <p:sp>
        <p:nvSpPr>
          <p:cNvPr id="130" name="Unit economics"/>
          <p:cNvSpPr/>
          <p:nvPr/>
        </p:nvSpPr>
        <p:spPr>
          <a:xfrm>
            <a:off x="6208776" y="1536192"/>
            <a:ext cx="2578607" cy="2432304"/>
          </a:xfrm>
          <a:prstGeom prst="roundRect">
            <a:avLst>
              <a:gd name="adj" fmla="val 3007"/>
            </a:avLst>
          </a:prstGeom>
          <a:solidFill>
            <a:srgbClr val="E6F4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TextBox 130"/>
          <p:cNvSpPr txBox="1"/>
          <p:nvPr/>
        </p:nvSpPr>
        <p:spPr>
          <a:xfrm>
            <a:off x="6345936" y="1627632"/>
            <a:ext cx="2304287" cy="274320"/>
          </a:xfrm>
          <a:prstGeom prst="rect">
            <a:avLst/>
          </a:prstGeom>
          <a:noFill/>
        </p:spPr>
        <p:txBody>
          <a:bodyPr wrap="square" lIns="18288" rIns="18288" tIns="18288" bIns="18288" anchor="t">
            <a:noAutofit/>
          </a:bodyPr>
          <a:lstStyle/>
          <a:p>
            <a:pPr algn="l"/>
            <a:r>
              <a:rPr sz="1000" b="1" i="0">
                <a:solidFill>
                  <a:srgbClr val="188038"/>
                </a:solidFill>
                <a:latin typeface="Google Sans Flex"/>
              </a:rPr>
              <a:t>Unit economics per order</a:t>
            </a:r>
          </a:p>
        </p:txBody>
      </p:sp>
      <p:sp>
        <p:nvSpPr>
          <p:cNvPr id="132" name="TextBox 131"/>
          <p:cNvSpPr txBox="1"/>
          <p:nvPr/>
        </p:nvSpPr>
        <p:spPr>
          <a:xfrm>
            <a:off x="6345936" y="1920240"/>
            <a:ext cx="2304287" cy="411480"/>
          </a:xfrm>
          <a:prstGeom prst="rect">
            <a:avLst/>
          </a:prstGeom>
          <a:noFill/>
        </p:spPr>
        <p:txBody>
          <a:bodyPr wrap="square" lIns="18288" rIns="18288" tIns="18288" bIns="18288" anchor="t">
            <a:noAutofit/>
          </a:bodyPr>
          <a:lstStyle/>
          <a:p>
            <a:pPr algn="l"/>
            <a:r>
              <a:rPr sz="2000" b="1" i="0">
                <a:solidFill>
                  <a:srgbClr val="202124"/>
                </a:solidFill>
                <a:latin typeface="Google Sans Flex"/>
              </a:rPr>
              <a:t>≈ IDR 5–7.6k</a:t>
            </a:r>
          </a:p>
        </p:txBody>
      </p:sp>
      <p:sp>
        <p:nvSpPr>
          <p:cNvPr id="133" name="TextBox 132"/>
          <p:cNvSpPr txBox="1"/>
          <p:nvPr/>
        </p:nvSpPr>
        <p:spPr>
          <a:xfrm>
            <a:off x="6345936" y="2304288"/>
            <a:ext cx="2304287" cy="365760"/>
          </a:xfrm>
          <a:prstGeom prst="rect">
            <a:avLst/>
          </a:prstGeom>
          <a:noFill/>
        </p:spPr>
        <p:txBody>
          <a:bodyPr wrap="square" lIns="18288" rIns="18288" tIns="18288" bIns="18288" anchor="t">
            <a:noAutofit/>
          </a:bodyPr>
          <a:lstStyle/>
          <a:p>
            <a:pPr algn="l"/>
            <a:r>
              <a:rPr sz="850" b="0" i="0">
                <a:solidFill>
                  <a:srgbClr val="5F6368"/>
                </a:solidFill>
                <a:latin typeface="Google Sans Flex"/>
              </a:rPr>
              <a:t>platform cost per order at 10 orders per seller, accounts included</a:t>
            </a:r>
          </a:p>
        </p:txBody>
      </p:sp>
      <p:sp>
        <p:nvSpPr>
          <p:cNvPr id="134" name="TextBox 133"/>
          <p:cNvSpPr txBox="1"/>
          <p:nvPr/>
        </p:nvSpPr>
        <p:spPr>
          <a:xfrm>
            <a:off x="6345936" y="2743200"/>
            <a:ext cx="2304287" cy="411480"/>
          </a:xfrm>
          <a:prstGeom prst="rect">
            <a:avLst/>
          </a:prstGeom>
          <a:noFill/>
        </p:spPr>
        <p:txBody>
          <a:bodyPr wrap="square" lIns="18288" rIns="18288" tIns="18288" bIns="18288" anchor="t">
            <a:noAutofit/>
          </a:bodyPr>
          <a:lstStyle/>
          <a:p>
            <a:pPr algn="l"/>
            <a:r>
              <a:rPr sz="2000" b="1" i="0">
                <a:solidFill>
                  <a:srgbClr val="188038"/>
                </a:solidFill>
                <a:latin typeface="Google Sans Flex"/>
              </a:rPr>
              <a:t>IDR 6.8k</a:t>
            </a:r>
          </a:p>
        </p:txBody>
      </p:sp>
      <p:sp>
        <p:nvSpPr>
          <p:cNvPr id="135" name="TextBox 134"/>
          <p:cNvSpPr txBox="1"/>
          <p:nvPr/>
        </p:nvSpPr>
        <p:spPr>
          <a:xfrm>
            <a:off x="6345936" y="3127248"/>
            <a:ext cx="2304287" cy="640080"/>
          </a:xfrm>
          <a:prstGeom prst="rect">
            <a:avLst/>
          </a:prstGeom>
          <a:noFill/>
        </p:spPr>
        <p:txBody>
          <a:bodyPr wrap="square" lIns="18288" rIns="18288" tIns="18288" bIns="18288" anchor="t">
            <a:noAutofit/>
          </a:bodyPr>
          <a:lstStyle/>
          <a:p>
            <a:pPr algn="l"/>
            <a:r>
              <a:rPr sz="850" b="0" i="0">
                <a:solidFill>
                  <a:srgbClr val="5F6368"/>
                </a:solidFill>
                <a:latin typeface="Google Sans Flex"/>
              </a:rPr>
              <a:t>commission at 4% on an IDR 170k order. Break-even is about 20 orders per seller per month, so we are testing a minimum fee.</a:t>
            </a:r>
          </a:p>
        </p:txBody>
      </p:sp>
      <p:sp>
        <p:nvSpPr>
          <p:cNvPr id="136" name="TextBox 135"/>
          <p:cNvSpPr txBox="1"/>
          <p:nvPr/>
        </p:nvSpPr>
        <p:spPr>
          <a:xfrm>
            <a:off x="356616" y="4600000"/>
            <a:ext cx="8430767" cy="274320"/>
          </a:xfrm>
          <a:prstGeom prst="rect">
            <a:avLst/>
          </a:prstGeom>
          <a:noFill/>
        </p:spPr>
        <p:txBody>
          <a:bodyPr wrap="square" lIns="18288" rIns="18288" tIns="18288" bIns="18288" anchor="t">
            <a:noAutofit/>
          </a:bodyPr>
          <a:lstStyle/>
          <a:p>
            <a:pPr algn="l"/>
            <a:r>
              <a:rPr sz="700" b="0" i="0">
                <a:solidFill>
                  <a:srgbClr val="5F6368"/>
                </a:solidFill>
                <a:latin typeface="Google Sans Flex"/>
              </a:rPr>
              <a:t>Price references: Meta WhatsApp pricing (service and in-window utility replies charged from 1 Oct 2026 per Meta's newer page, to be re-confirmed; Indonesian rate via Qontak); Biteship and Xendit price pages (account fee unconfirmed); Bank Indonesia QRIS MDR release; Vertex AI Gemini list prices. FX: US$1 ≈ IDR 16,000. Our arithmetic; Telegram has no per-message fee. Details: docs/10.</a:t>
            </a: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1" name="Shape 131"/>
        <p:cNvGrpSpPr/>
        <p:nvPr/>
      </p:nvGrpSpPr>
      <p:grpSpPr>
        <a:xfrm>
          <a:off x="0" y="0"/>
          <a:ext cx="0" cy="0"/>
          <a:chOff x="0" y="0"/>
          <a:chExt cx="0" cy="0"/>
        </a:xfrm>
      </p:grpSpPr>
      <p:pic>
        <p:nvPicPr>
          <p:cNvPr id="132" name="Google Shape;132;p23"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33" name="Google Shape;133;p23"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34" name="Google Shape;134;p23"/>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35" name="Google Shape;135;p23"/>
          <p:cNvSpPr txBox="1"/>
          <p:nvPr/>
        </p:nvSpPr>
        <p:spPr>
          <a:xfrm>
            <a:off x="265350" y="663825"/>
            <a:ext cx="8943000" cy="4572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Snapshots of the prototype</a:t>
            </a:r>
            <a:endParaRPr sz="1600">
              <a:latin typeface="Google Sans Flex Medium"/>
              <a:ea typeface="Google Sans Flex Medium"/>
              <a:cs typeface="Google Sans Flex Medium"/>
              <a:sym typeface="Google Sans Flex Medium"/>
            </a:endParaRPr>
          </a:p>
        </p:txBody>
      </p:sp>
      <p:sp>
        <p:nvSpPr>
          <p:cNvPr id="136" name="TextBox 135"/>
          <p:cNvSpPr txBox="1"/>
          <p:nvPr/>
        </p:nvSpPr>
        <p:spPr>
          <a:xfrm>
            <a:off x="356616" y="1161288"/>
            <a:ext cx="8430767" cy="274320"/>
          </a:xfrm>
          <a:prstGeom prst="rect">
            <a:avLst/>
          </a:prstGeom>
          <a:noFill/>
        </p:spPr>
        <p:txBody>
          <a:bodyPr wrap="square" lIns="18288" rIns="18288" tIns="18288" bIns="18288" anchor="t">
            <a:noAutofit/>
          </a:bodyPr>
          <a:lstStyle/>
          <a:p>
            <a:pPr algn="l"/>
            <a:r>
              <a:rPr sz="950" b="0" i="1">
                <a:solidFill>
                  <a:srgbClr val="5F6368"/>
                </a:solidFill>
                <a:latin typeface="Google Sans Flex"/>
              </a:rPr>
              <a:t>Screenshots of the running prototype (mock payment and courier). The demo shop has its own address, demo.etalase.site. Chat sign-up is built but off in the sandbox; the payment provider's identity check is not built. Photos are synthetic samples.</a:t>
            </a:r>
          </a:p>
        </p:txBody>
      </p:sp>
      <p:sp>
        <p:nvSpPr>
          <p:cNvPr id="138" name="TextBox 137"/>
          <p:cNvSpPr txBox="1"/>
          <p:nvPr/>
        </p:nvSpPr>
        <p:spPr>
          <a:xfrm>
            <a:off x="356616" y="4370832"/>
            <a:ext cx="1267592" cy="274320"/>
          </a:xfrm>
          <a:prstGeom prst="rect">
            <a:avLst/>
          </a:prstGeom>
          <a:noFill/>
        </p:spPr>
        <p:txBody>
          <a:bodyPr wrap="square" lIns="18288" rIns="18288" tIns="18288" bIns="18288" anchor="t">
            <a:noAutofit/>
          </a:bodyPr>
          <a:lstStyle/>
          <a:p>
            <a:pPr algn="ctr"/>
            <a:r>
              <a:rPr sz="1000" b="1" i="0">
                <a:solidFill>
                  <a:srgbClr val="202124"/>
                </a:solidFill>
                <a:latin typeface="Google Sans Flex"/>
              </a:rPr>
              <a:t>Store link</a:t>
            </a:r>
          </a:p>
        </p:txBody>
      </p:sp>
      <p:sp>
        <p:nvSpPr>
          <p:cNvPr id="140" name="TextBox 139"/>
          <p:cNvSpPr txBox="1"/>
          <p:nvPr/>
        </p:nvSpPr>
        <p:spPr>
          <a:xfrm>
            <a:off x="1852808" y="4370832"/>
            <a:ext cx="1267592" cy="274320"/>
          </a:xfrm>
          <a:prstGeom prst="rect">
            <a:avLst/>
          </a:prstGeom>
          <a:noFill/>
        </p:spPr>
        <p:txBody>
          <a:bodyPr wrap="square" lIns="18288" rIns="18288" tIns="18288" bIns="18288" anchor="t">
            <a:noAutofit/>
          </a:bodyPr>
          <a:lstStyle/>
          <a:p>
            <a:pPr algn="ctr"/>
            <a:r>
              <a:rPr sz="1000" b="1" i="0">
                <a:solidFill>
                  <a:srgbClr val="202124"/>
                </a:solidFill>
                <a:latin typeface="Google Sans Flex"/>
              </a:rPr>
              <a:t>Product page</a:t>
            </a:r>
          </a:p>
        </p:txBody>
      </p:sp>
      <p:sp>
        <p:nvSpPr>
          <p:cNvPr id="142" name="TextBox 141"/>
          <p:cNvSpPr txBox="1"/>
          <p:nvPr/>
        </p:nvSpPr>
        <p:spPr>
          <a:xfrm>
            <a:off x="3349000" y="4370832"/>
            <a:ext cx="1267592" cy="274320"/>
          </a:xfrm>
          <a:prstGeom prst="rect">
            <a:avLst/>
          </a:prstGeom>
          <a:noFill/>
        </p:spPr>
        <p:txBody>
          <a:bodyPr wrap="square" lIns="18288" rIns="18288" tIns="18288" bIns="18288" anchor="t">
            <a:noAutofit/>
          </a:bodyPr>
          <a:lstStyle/>
          <a:p>
            <a:pPr algn="ctr"/>
            <a:r>
              <a:rPr sz="1000" b="1" i="0">
                <a:solidFill>
                  <a:srgbClr val="202124"/>
                </a:solidFill>
                <a:latin typeface="Google Sans Flex"/>
              </a:rPr>
              <a:t>Pay with QRIS</a:t>
            </a:r>
          </a:p>
        </p:txBody>
      </p:sp>
      <p:sp>
        <p:nvSpPr>
          <p:cNvPr id="147" name="Caption dashboard"/>
          <p:cNvSpPr txBox="1"/>
          <p:nvPr/>
        </p:nvSpPr>
        <p:spPr>
          <a:xfrm>
            <a:off x="4845192" y="4370832"/>
            <a:ext cx="3942191" cy="274320"/>
          </a:xfrm>
          <a:prstGeom prst="rect">
            <a:avLst/>
          </a:prstGeom>
          <a:noFill/>
        </p:spPr>
        <p:txBody>
          <a:bodyPr wrap="square" lIns="18288" rIns="18288" tIns="18288" bIns="18288" anchor="t">
            <a:noAutofit/>
          </a:bodyPr>
          <a:lstStyle/>
          <a:p>
            <a:pPr algn="ctr"/>
            <a:r>
              <a:rPr sz="1000" b="1" i="0">
                <a:solidFill>
                  <a:srgbClr val="202124"/>
                </a:solidFill>
                <a:latin typeface="Google Sans Flex"/>
              </a:rPr>
              <a:t>Seller dashboard</a:t>
            </a:r>
          </a:p>
        </p:txBody>
      </p:sp>
      <p:pic>
        <p:nvPicPr>
          <p:cNvPr id="143" name="Screenshot Store link" descr="Store link of the Etalase prototype"/>
          <p:cNvPicPr>
            <a:picLocks noChangeAspect="1"/>
          </p:cNvPicPr>
          <p:nvPr/>
        </p:nvPicPr>
        <p:blipFill>
          <a:blip r:embed="rId5"/>
          <a:stretch>
            <a:fillRect/>
          </a:stretch>
        </p:blipFill>
        <p:spPr>
          <a:xfrm>
            <a:off x="356616" y="1554480"/>
            <a:ext cx="1267592" cy="2743200"/>
          </a:xfrm>
          <a:prstGeom prst="rect">
            <a:avLst/>
          </a:prstGeom>
          <a:ln w="9525">
            <a:solidFill>
              <a:srgbClr val="C9D1D5"/>
            </a:solidFill>
          </a:ln>
        </p:spPr>
      </p:pic>
      <p:pic>
        <p:nvPicPr>
          <p:cNvPr id="144" name="Screenshot Product page" descr="Product page of the Etalase prototype"/>
          <p:cNvPicPr>
            <a:picLocks noChangeAspect="1"/>
          </p:cNvPicPr>
          <p:nvPr/>
        </p:nvPicPr>
        <p:blipFill>
          <a:blip r:embed="rId6"/>
          <a:stretch>
            <a:fillRect/>
          </a:stretch>
        </p:blipFill>
        <p:spPr>
          <a:xfrm>
            <a:off x="1852808" y="1554480"/>
            <a:ext cx="1267592" cy="2743200"/>
          </a:xfrm>
          <a:prstGeom prst="rect">
            <a:avLst/>
          </a:prstGeom>
          <a:ln w="9525">
            <a:solidFill>
              <a:srgbClr val="C9D1D5"/>
            </a:solidFill>
          </a:ln>
        </p:spPr>
      </p:pic>
      <p:pic>
        <p:nvPicPr>
          <p:cNvPr id="145" name="Screenshot Pay with QRIS" descr="Pay with QRIS of the Etalase prototype"/>
          <p:cNvPicPr>
            <a:picLocks noChangeAspect="1"/>
          </p:cNvPicPr>
          <p:nvPr/>
        </p:nvPicPr>
        <p:blipFill>
          <a:blip r:embed="rId7"/>
          <a:stretch>
            <a:fillRect/>
          </a:stretch>
        </p:blipFill>
        <p:spPr>
          <a:xfrm>
            <a:off x="3349000" y="1554480"/>
            <a:ext cx="1267592" cy="2743200"/>
          </a:xfrm>
          <a:prstGeom prst="rect">
            <a:avLst/>
          </a:prstGeom>
          <a:ln w="9525">
            <a:solidFill>
              <a:srgbClr val="C9D1D5"/>
            </a:solidFill>
          </a:ln>
        </p:spPr>
      </p:pic>
      <p:pic>
        <p:nvPicPr>
          <p:cNvPr id="146" name="Screenshot Seller dashboard" descr="Seller dashboard of the Etalase prototype"/>
          <p:cNvPicPr>
            <a:picLocks noChangeAspect="1"/>
          </p:cNvPicPr>
          <p:nvPr/>
        </p:nvPicPr>
        <p:blipFill>
          <a:blip r:embed="rId8"/>
          <a:stretch>
            <a:fillRect/>
          </a:stretch>
        </p:blipFill>
        <p:spPr>
          <a:xfrm>
            <a:off x="4845192" y="1806899"/>
            <a:ext cx="3942191" cy="2238362"/>
          </a:xfrm>
          <a:prstGeom prst="rect">
            <a:avLst/>
          </a:prstGeom>
          <a:ln w="9525">
            <a:solidFill>
              <a:srgbClr val="C9D1D5"/>
            </a:solid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9" name="Shape 139"/>
        <p:cNvGrpSpPr/>
        <p:nvPr/>
      </p:nvGrpSpPr>
      <p:grpSpPr>
        <a:xfrm>
          <a:off x="0" y="0"/>
          <a:ext cx="0" cy="0"/>
          <a:chOff x="0" y="0"/>
          <a:chExt cx="0" cy="0"/>
        </a:xfrm>
      </p:grpSpPr>
      <p:pic>
        <p:nvPicPr>
          <p:cNvPr id="140" name="Google Shape;140;p24"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41" name="Google Shape;141;p24"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42" name="Google Shape;142;p24"/>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43" name="Google Shape;143;p24"/>
          <p:cNvSpPr txBox="1"/>
          <p:nvPr/>
        </p:nvSpPr>
        <p:spPr>
          <a:xfrm>
            <a:off x="265350" y="663825"/>
            <a:ext cx="8943000" cy="4572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Prototype Performance report/Benchmarking</a:t>
            </a:r>
            <a:endParaRPr sz="1600">
              <a:latin typeface="Google Sans Flex Medium"/>
              <a:ea typeface="Google Sans Flex Medium"/>
              <a:cs typeface="Google Sans Flex Medium"/>
              <a:sym typeface="Google Sans Flex Medium"/>
            </a:endParaRPr>
          </a:p>
        </p:txBody>
      </p:sp>
      <p:sp>
        <p:nvSpPr>
          <p:cNvPr id="144" name="TextBox 143"/>
          <p:cNvSpPr txBox="1"/>
          <p:nvPr/>
        </p:nvSpPr>
        <p:spPr>
          <a:xfrm>
            <a:off x="356616" y="1161288"/>
            <a:ext cx="8430767" cy="274320"/>
          </a:xfrm>
          <a:prstGeom prst="rect">
            <a:avLst/>
          </a:prstGeom>
          <a:noFill/>
        </p:spPr>
        <p:txBody>
          <a:bodyPr wrap="square" lIns="18288" rIns="18288" tIns="18288" bIns="18288" anchor="t">
            <a:noAutofit/>
          </a:bodyPr>
          <a:lstStyle/>
          <a:p>
            <a:pPr algn="l"/>
            <a:r>
              <a:rPr sz="950" b="0" i="1">
                <a:solidFill>
                  <a:srgbClr val="5F6368"/>
                </a:solidFill>
                <a:latin typeface="Google Sans Flex"/>
              </a:rPr>
              <a:t>731 tests pass (stock races, payments, returns, webhooks, OTP abuse), plus an end-to-end HTTP run and the official UCP suite: 31 of 77 in production mode, 54 in sandbox test mode, each failure explained. “Not measured” cells need the Gemini run on Cloud Run, not yet done.</a:t>
            </a:r>
          </a:p>
        </p:txBody>
      </p:sp>
      <p:graphicFrame>
        <p:nvGraphicFramePr>
          <p:cNvPr id="145" name="Table 144"/>
          <p:cNvGraphicFramePr>
            <a:graphicFrameLocks noGrp="1"/>
          </p:cNvGraphicFramePr>
          <p:nvPr/>
        </p:nvGraphicFramePr>
        <p:xfrm>
          <a:off x="356616" y="1536192"/>
          <a:ext cx="8430767" cy="3383280"/>
        </p:xfrm>
        <a:graphic>
          <a:graphicData uri="http://schemas.openxmlformats.org/drawingml/2006/table">
            <a:tbl>
              <a:tblPr/>
              <a:tblGrid>
                <a:gridCol w="1874519"/>
                <a:gridCol w="2743200"/>
                <a:gridCol w="1664208"/>
                <a:gridCol w="2148840"/>
              </a:tblGrid>
              <a:tr h="310896">
                <a:tc>
                  <a:txBody>
                    <a:bodyPr wrap="square" lIns="73152" rIns="73152" tIns="27432" bIns="27432" anchor="ctr">
                      <a:noAutofit/>
                    </a:bodyPr>
                    <a:lstStyle/>
                    <a:p>
                      <a:pPr algn="l"/>
                      <a:r>
                        <a:rPr sz="950" b="1" i="0">
                          <a:solidFill>
                            <a:srgbClr val="FFFFFF"/>
                          </a:solidFill>
                          <a:latin typeface="Google Sans Flex"/>
                        </a:rPr>
                        <a:t>Metric</a:t>
                      </a:r>
                    </a:p>
                  </a:txBody>
                  <a:tcPr anchor="ctr">
                    <a:solidFill>
                      <a:srgbClr val="202124"/>
                    </a:solidFill>
                  </a:tcPr>
                </a:tc>
                <a:tc>
                  <a:txBody>
                    <a:bodyPr wrap="square" lIns="73152" rIns="73152" tIns="27432" bIns="27432" anchor="ctr">
                      <a:noAutofit/>
                    </a:bodyPr>
                    <a:lstStyle/>
                    <a:p>
                      <a:pPr algn="l"/>
                      <a:r>
                        <a:rPr sz="950" b="1" i="0">
                          <a:solidFill>
                            <a:srgbClr val="FFFFFF"/>
                          </a:solidFill>
                          <a:latin typeface="Google Sans Flex"/>
                        </a:rPr>
                        <a:t>How we measure</a:t>
                      </a:r>
                    </a:p>
                  </a:txBody>
                  <a:tcPr anchor="ctr">
                    <a:solidFill>
                      <a:srgbClr val="202124"/>
                    </a:solidFill>
                  </a:tcPr>
                </a:tc>
                <a:tc>
                  <a:txBody>
                    <a:bodyPr wrap="square" lIns="73152" rIns="73152" tIns="27432" bIns="27432" anchor="ctr">
                      <a:noAutofit/>
                    </a:bodyPr>
                    <a:lstStyle/>
                    <a:p>
                      <a:pPr algn="l"/>
                      <a:r>
                        <a:rPr sz="950" b="1" i="0">
                          <a:solidFill>
                            <a:srgbClr val="FFFFFF"/>
                          </a:solidFill>
                          <a:latin typeface="Google Sans Flex"/>
                        </a:rPr>
                        <a:t>Target</a:t>
                      </a:r>
                    </a:p>
                  </a:txBody>
                  <a:tcPr anchor="ctr">
                    <a:solidFill>
                      <a:srgbClr val="202124"/>
                    </a:solidFill>
                  </a:tcPr>
                </a:tc>
                <a:tc>
                  <a:txBody>
                    <a:bodyPr wrap="square" lIns="73152" rIns="73152" tIns="27432" bIns="27432" anchor="ctr">
                      <a:noAutofit/>
                    </a:bodyPr>
                    <a:lstStyle/>
                    <a:p>
                      <a:pPr algn="l"/>
                      <a:r>
                        <a:rPr sz="950" b="1" i="0">
                          <a:solidFill>
                            <a:srgbClr val="FFFFFF"/>
                          </a:solidFill>
                          <a:latin typeface="Google Sans Flex"/>
                        </a:rPr>
                        <a:t>Result</a:t>
                      </a:r>
                    </a:p>
                  </a:txBody>
                  <a:tcPr anchor="ctr">
                    <a:solidFill>
                      <a:srgbClr val="202124"/>
                    </a:solidFill>
                  </a:tcPr>
                </a:tc>
              </a:tr>
              <a:tr h="384048">
                <a:tc>
                  <a:txBody>
                    <a:bodyPr wrap="square" lIns="73152" rIns="73152" tIns="27432" bIns="27432" anchor="ctr">
                      <a:noAutofit/>
                    </a:bodyPr>
                    <a:lstStyle/>
                    <a:p>
                      <a:pPr algn="l"/>
                      <a:r>
                        <a:rPr sz="950" b="1" i="0">
                          <a:solidFill>
                            <a:srgbClr val="202124"/>
                          </a:solidFill>
                          <a:latin typeface="Google Sans Flex"/>
                        </a:rPr>
                        <a:t>Catalog extraction accuracy</a:t>
                      </a:r>
                    </a:p>
                  </a:txBody>
                  <a:tcPr anchor="ctr">
                    <a:solidFill>
                      <a:srgbClr val="FFFFFF"/>
                    </a:solidFill>
                  </a:tcPr>
                </a:tc>
                <a:tc>
                  <a:txBody>
                    <a:bodyPr wrap="square" lIns="73152" rIns="73152" tIns="27432" bIns="27432" anchor="ctr">
                      <a:noAutofit/>
                    </a:bodyPr>
                    <a:lstStyle/>
                    <a:p>
                      <a:pPr algn="l"/>
                      <a:r>
                        <a:rPr sz="950" b="0" i="0">
                          <a:solidFill>
                            <a:srgbClr val="202124"/>
                          </a:solidFill>
                          <a:latin typeface="Google Sans Flex"/>
                        </a:rPr>
                        <a:t>43 labelled seller messages: title, variant, price, stock</a:t>
                      </a:r>
                    </a:p>
                  </a:txBody>
                  <a:tcPr anchor="ctr">
                    <a:solidFill>
                      <a:srgbClr val="FFFFFF"/>
                    </a:solidFill>
                  </a:tcPr>
                </a:tc>
                <a:tc>
                  <a:txBody>
                    <a:bodyPr wrap="square" lIns="73152" rIns="73152" tIns="27432" bIns="27432" anchor="ctr">
                      <a:noAutofit/>
                    </a:bodyPr>
                    <a:lstStyle/>
                    <a:p>
                      <a:pPr algn="l"/>
                      <a:r>
                        <a:rPr sz="950" b="0" i="0">
                          <a:solidFill>
                            <a:srgbClr val="202124"/>
                          </a:solidFill>
                          <a:latin typeface="Google Sans Flex"/>
                        </a:rPr>
                        <a:t>≥ 90% of fields correct</a:t>
                      </a:r>
                    </a:p>
                  </a:txBody>
                  <a:tcPr anchor="ctr">
                    <a:solidFill>
                      <a:srgbClr val="FFFFFF"/>
                    </a:solidFill>
                  </a:tcPr>
                </a:tc>
                <a:tc>
                  <a:txBody>
                    <a:bodyPr wrap="square" lIns="73152" rIns="73152" tIns="27432" bIns="27432" anchor="ctr">
                      <a:noAutofit/>
                    </a:bodyPr>
                    <a:lstStyle/>
                    <a:p>
                      <a:pPr algn="l"/>
                      <a:r>
                        <a:rPr sz="950" b="0" i="0">
                          <a:solidFill>
                            <a:srgbClr val="5F6368"/>
                          </a:solidFill>
                          <a:latin typeface="Google Sans Flex"/>
                        </a:rPr>
                        <a:t>Rules only: 21/43 fully correct. Gemini not run</a:t>
                      </a:r>
                    </a:p>
                  </a:txBody>
                  <a:tcPr anchor="ctr">
                    <a:solidFill>
                      <a:srgbClr val="FFFFFF"/>
                    </a:solidFill>
                  </a:tcPr>
                </a:tc>
              </a:tr>
              <a:tr h="384048">
                <a:tc>
                  <a:txBody>
                    <a:bodyPr wrap="square" lIns="73152" rIns="73152" tIns="27432" bIns="27432" anchor="ctr">
                      <a:noAutofit/>
                    </a:bodyPr>
                    <a:lstStyle/>
                    <a:p>
                      <a:pPr algn="l"/>
                      <a:r>
                        <a:rPr sz="950" b="1" i="0">
                          <a:solidFill>
                            <a:srgbClr val="202124"/>
                          </a:solidFill>
                          <a:latin typeface="Google Sans Flex"/>
                        </a:rPr>
                        <a:t>Catalog build time</a:t>
                      </a:r>
                    </a:p>
                  </a:txBody>
                  <a:tcPr anchor="ctr">
                    <a:solidFill>
                      <a:srgbClr val="F8F9FA"/>
                    </a:solidFill>
                  </a:tcPr>
                </a:tc>
                <a:tc>
                  <a:txBody>
                    <a:bodyPr wrap="square" lIns="73152" rIns="73152" tIns="27432" bIns="27432" anchor="ctr">
                      <a:noAutofit/>
                    </a:bodyPr>
                    <a:lstStyle/>
                    <a:p>
                      <a:pPr algn="l"/>
                      <a:r>
                        <a:rPr sz="950" b="0" i="0">
                          <a:solidFill>
                            <a:srgbClr val="202124"/>
                          </a:solidFill>
                          <a:latin typeface="Google Sans Flex"/>
                        </a:rPr>
                        <a:t>Photos + voice note to published product</a:t>
                      </a:r>
                    </a:p>
                  </a:txBody>
                  <a:tcPr anchor="ctr">
                    <a:solidFill>
                      <a:srgbClr val="F8F9FA"/>
                    </a:solidFill>
                  </a:tcPr>
                </a:tc>
                <a:tc>
                  <a:txBody>
                    <a:bodyPr wrap="square" lIns="73152" rIns="73152" tIns="27432" bIns="27432" anchor="ctr">
                      <a:noAutofit/>
                    </a:bodyPr>
                    <a:lstStyle/>
                    <a:p>
                      <a:pPr algn="l"/>
                      <a:r>
                        <a:rPr sz="950" b="0" i="0">
                          <a:solidFill>
                            <a:srgbClr val="202124"/>
                          </a:solidFill>
                          <a:latin typeface="Google Sans Flex"/>
                        </a:rPr>
                        <a:t>&lt; 15 s per product</a:t>
                      </a:r>
                    </a:p>
                  </a:txBody>
                  <a:tcPr anchor="ctr">
                    <a:solidFill>
                      <a:srgbClr val="F8F9FA"/>
                    </a:solidFill>
                  </a:tcPr>
                </a:tc>
                <a:tc>
                  <a:txBody>
                    <a:bodyPr wrap="square" lIns="73152" rIns="73152" tIns="27432" bIns="27432" anchor="ctr">
                      <a:noAutofit/>
                    </a:bodyPr>
                    <a:lstStyle/>
                    <a:p>
                      <a:pPr algn="l"/>
                      <a:r>
                        <a:rPr sz="950" b="0" i="0">
                          <a:solidFill>
                            <a:srgbClr val="5F6368"/>
                          </a:solidFill>
                          <a:latin typeface="Google Sans Flex"/>
                        </a:rPr>
                        <a:t>Not measured</a:t>
                      </a:r>
                    </a:p>
                  </a:txBody>
                  <a:tcPr anchor="ctr">
                    <a:solidFill>
                      <a:srgbClr val="F8F9FA"/>
                    </a:solidFill>
                  </a:tcPr>
                </a:tc>
              </a:tr>
              <a:tr h="384048">
                <a:tc>
                  <a:txBody>
                    <a:bodyPr wrap="square" lIns="73152" rIns="73152" tIns="27432" bIns="27432" anchor="ctr">
                      <a:noAutofit/>
                    </a:bodyPr>
                    <a:lstStyle/>
                    <a:p>
                      <a:pPr algn="l"/>
                      <a:r>
                        <a:rPr sz="950" b="1" i="0">
                          <a:solidFill>
                            <a:srgbClr val="202124"/>
                          </a:solidFill>
                          <a:latin typeface="Google Sans Flex"/>
                        </a:rPr>
                        <a:t>Agent tool latency</a:t>
                      </a:r>
                    </a:p>
                  </a:txBody>
                  <a:tcPr anchor="ctr">
                    <a:solidFill>
                      <a:srgbClr val="FFFFFF"/>
                    </a:solidFill>
                  </a:tcPr>
                </a:tc>
                <a:tc>
                  <a:txBody>
                    <a:bodyPr wrap="square" lIns="73152" rIns="73152" tIns="27432" bIns="27432" anchor="ctr">
                      <a:noAutofit/>
                    </a:bodyPr>
                    <a:lstStyle/>
                    <a:p>
                      <a:pPr algn="l"/>
                      <a:r>
                        <a:rPr sz="950" b="0" i="0">
                          <a:solidFill>
                            <a:srgbClr val="202124"/>
                          </a:solidFill>
                          <a:latin typeface="Google Sans Flex"/>
                        </a:rPr>
                        <a:t>p95 of search_products and create_checkout</a:t>
                      </a:r>
                    </a:p>
                  </a:txBody>
                  <a:tcPr anchor="ctr">
                    <a:solidFill>
                      <a:srgbClr val="FFFFFF"/>
                    </a:solidFill>
                  </a:tcPr>
                </a:tc>
                <a:tc>
                  <a:txBody>
                    <a:bodyPr wrap="square" lIns="73152" rIns="73152" tIns="27432" bIns="27432" anchor="ctr">
                      <a:noAutofit/>
                    </a:bodyPr>
                    <a:lstStyle/>
                    <a:p>
                      <a:pPr algn="l"/>
                      <a:r>
                        <a:rPr sz="950" b="0" i="0">
                          <a:solidFill>
                            <a:srgbClr val="202124"/>
                          </a:solidFill>
                          <a:latin typeface="Google Sans Flex"/>
                        </a:rPr>
                        <a:t>&lt; 2 s</a:t>
                      </a:r>
                    </a:p>
                  </a:txBody>
                  <a:tcPr anchor="ctr">
                    <a:solidFill>
                      <a:srgbClr val="FFFFFF"/>
                    </a:solidFill>
                  </a:tcPr>
                </a:tc>
                <a:tc>
                  <a:txBody>
                    <a:bodyPr wrap="square" lIns="73152" rIns="73152" tIns="27432" bIns="27432" anchor="ctr">
                      <a:noAutofit/>
                    </a:bodyPr>
                    <a:lstStyle/>
                    <a:p>
                      <a:pPr algn="l"/>
                      <a:r>
                        <a:rPr sz="950" b="0" i="0">
                          <a:solidFill>
                            <a:srgbClr val="5F6368"/>
                          </a:solidFill>
                          <a:latin typeface="Google Sans Flex"/>
                        </a:rPr>
                        <a:t>Not measured</a:t>
                      </a:r>
                    </a:p>
                  </a:txBody>
                  <a:tcPr anchor="ctr">
                    <a:solidFill>
                      <a:srgbClr val="FFFFFF"/>
                    </a:solidFill>
                  </a:tcPr>
                </a:tc>
              </a:tr>
              <a:tr h="384048">
                <a:tc>
                  <a:txBody>
                    <a:bodyPr wrap="square" lIns="73152" rIns="73152" tIns="27432" bIns="27432" anchor="ctr">
                      <a:noAutofit/>
                    </a:bodyPr>
                    <a:lstStyle/>
                    <a:p>
                      <a:pPr algn="l"/>
                      <a:r>
                        <a:rPr sz="950" b="1" i="0">
                          <a:solidFill>
                            <a:srgbClr val="202124"/>
                          </a:solidFill>
                          <a:latin typeface="Google Sans Flex"/>
                        </a:rPr>
                        <a:t>Overselling under load</a:t>
                      </a:r>
                    </a:p>
                  </a:txBody>
                  <a:tcPr anchor="ctr">
                    <a:solidFill>
                      <a:srgbClr val="F8F9FA"/>
                    </a:solidFill>
                  </a:tcPr>
                </a:tc>
                <a:tc>
                  <a:txBody>
                    <a:bodyPr wrap="square" lIns="73152" rIns="73152" tIns="27432" bIns="27432" anchor="ctr">
                      <a:noAutofit/>
                    </a:bodyPr>
                    <a:lstStyle/>
                    <a:p>
                      <a:pPr algn="l"/>
                      <a:r>
                        <a:rPr sz="950" b="0" i="0">
                          <a:solidFill>
                            <a:srgbClr val="202124"/>
                          </a:solidFill>
                          <a:latin typeface="Google Sans Flex"/>
                        </a:rPr>
                        <a:t>100 concurrent reservations for the last unit</a:t>
                      </a:r>
                    </a:p>
                  </a:txBody>
                  <a:tcPr anchor="ctr">
                    <a:solidFill>
                      <a:srgbClr val="F8F9FA"/>
                    </a:solidFill>
                  </a:tcPr>
                </a:tc>
                <a:tc>
                  <a:txBody>
                    <a:bodyPr wrap="square" lIns="73152" rIns="73152" tIns="27432" bIns="27432" anchor="ctr">
                      <a:noAutofit/>
                    </a:bodyPr>
                    <a:lstStyle/>
                    <a:p>
                      <a:pPr algn="l"/>
                      <a:r>
                        <a:rPr sz="950" b="0" i="0">
                          <a:solidFill>
                            <a:srgbClr val="202124"/>
                          </a:solidFill>
                          <a:latin typeface="Google Sans Flex"/>
                        </a:rPr>
                        <a:t>0 units oversold</a:t>
                      </a:r>
                    </a:p>
                  </a:txBody>
                  <a:tcPr anchor="ctr">
                    <a:solidFill>
                      <a:srgbClr val="F8F9FA"/>
                    </a:solidFill>
                  </a:tcPr>
                </a:tc>
                <a:tc>
                  <a:txBody>
                    <a:bodyPr wrap="square" lIns="73152" rIns="73152" tIns="27432" bIns="27432" anchor="ctr">
                      <a:noAutofit/>
                    </a:bodyPr>
                    <a:lstStyle/>
                    <a:p>
                      <a:pPr algn="l"/>
                      <a:r>
                        <a:rPr sz="950" b="0" i="0">
                          <a:solidFill>
                            <a:srgbClr val="188038"/>
                          </a:solidFill>
                          <a:latin typeface="Google Sans Flex"/>
                        </a:rPr>
                        <a:t>Pass (in-memory)</a:t>
                      </a:r>
                    </a:p>
                  </a:txBody>
                  <a:tcPr anchor="ctr">
                    <a:solidFill>
                      <a:srgbClr val="F8F9FA"/>
                    </a:solidFill>
                  </a:tcPr>
                </a:tc>
              </a:tr>
              <a:tr h="384048">
                <a:tc>
                  <a:txBody>
                    <a:bodyPr wrap="square" lIns="73152" rIns="73152" tIns="27432" bIns="27432" anchor="ctr">
                      <a:noAutofit/>
                    </a:bodyPr>
                    <a:lstStyle/>
                    <a:p>
                      <a:pPr algn="l"/>
                      <a:r>
                        <a:rPr sz="950" b="1" i="0">
                          <a:solidFill>
                            <a:srgbClr val="202124"/>
                          </a:solidFill>
                          <a:latin typeface="Google Sans Flex"/>
                        </a:rPr>
                        <a:t>Seller alert speed</a:t>
                      </a:r>
                    </a:p>
                  </a:txBody>
                  <a:tcPr anchor="ctr">
                    <a:solidFill>
                      <a:srgbClr val="FFFFFF"/>
                    </a:solidFill>
                  </a:tcPr>
                </a:tc>
                <a:tc>
                  <a:txBody>
                    <a:bodyPr wrap="square" lIns="73152" rIns="73152" tIns="27432" bIns="27432" anchor="ctr">
                      <a:noAutofit/>
                    </a:bodyPr>
                    <a:lstStyle/>
                    <a:p>
                      <a:pPr algn="l"/>
                      <a:r>
                        <a:rPr sz="950" b="0" i="0">
                          <a:solidFill>
                            <a:srgbClr val="202124"/>
                          </a:solidFill>
                          <a:latin typeface="Google Sans Flex"/>
                        </a:rPr>
                        <a:t>Payment webhook to WhatsApp message</a:t>
                      </a:r>
                    </a:p>
                  </a:txBody>
                  <a:tcPr anchor="ctr">
                    <a:solidFill>
                      <a:srgbClr val="FFFFFF"/>
                    </a:solidFill>
                  </a:tcPr>
                </a:tc>
                <a:tc>
                  <a:txBody>
                    <a:bodyPr wrap="square" lIns="73152" rIns="73152" tIns="27432" bIns="27432" anchor="ctr">
                      <a:noAutofit/>
                    </a:bodyPr>
                    <a:lstStyle/>
                    <a:p>
                      <a:pPr algn="l"/>
                      <a:r>
                        <a:rPr sz="950" b="0" i="0">
                          <a:solidFill>
                            <a:srgbClr val="202124"/>
                          </a:solidFill>
                          <a:latin typeface="Google Sans Flex"/>
                        </a:rPr>
                        <a:t>&lt; 5 s</a:t>
                      </a:r>
                    </a:p>
                  </a:txBody>
                  <a:tcPr anchor="ctr">
                    <a:solidFill>
                      <a:srgbClr val="FFFFFF"/>
                    </a:solidFill>
                  </a:tcPr>
                </a:tc>
                <a:tc>
                  <a:txBody>
                    <a:bodyPr wrap="square" lIns="73152" rIns="73152" tIns="27432" bIns="27432" anchor="ctr">
                      <a:noAutofit/>
                    </a:bodyPr>
                    <a:lstStyle/>
                    <a:p>
                      <a:pPr algn="l"/>
                      <a:r>
                        <a:rPr sz="950" b="0" i="0">
                          <a:solidFill>
                            <a:srgbClr val="5F6368"/>
                          </a:solidFill>
                          <a:latin typeface="Google Sans Flex"/>
                        </a:rPr>
                        <a:t>Not measured</a:t>
                      </a:r>
                    </a:p>
                  </a:txBody>
                  <a:tcPr anchor="ctr">
                    <a:solidFill>
                      <a:srgbClr val="FFFFFF"/>
                    </a:solidFill>
                  </a:tcPr>
                </a:tc>
              </a:tr>
              <a:tr h="384048">
                <a:tc>
                  <a:txBody>
                    <a:bodyPr wrap="square" lIns="73152" rIns="73152" tIns="27432" bIns="27432" anchor="ctr">
                      <a:noAutofit/>
                    </a:bodyPr>
                    <a:lstStyle/>
                    <a:p>
                      <a:pPr algn="l"/>
                      <a:r>
                        <a:rPr sz="950" b="1" i="0">
                          <a:solidFill>
                            <a:srgbClr val="202124"/>
                          </a:solidFill>
                          <a:latin typeface="Google Sans Flex"/>
                        </a:rPr>
                        <a:t>Duplicate &amp; late payments</a:t>
                      </a:r>
                    </a:p>
                  </a:txBody>
                  <a:tcPr anchor="ctr">
                    <a:solidFill>
                      <a:srgbClr val="F8F9FA"/>
                    </a:solidFill>
                  </a:tcPr>
                </a:tc>
                <a:tc>
                  <a:txBody>
                    <a:bodyPr wrap="square" lIns="73152" rIns="73152" tIns="27432" bIns="27432" anchor="ctr">
                      <a:noAutofit/>
                    </a:bodyPr>
                    <a:lstStyle/>
                    <a:p>
                      <a:pPr algn="l"/>
                      <a:r>
                        <a:rPr sz="950" b="0" i="0">
                          <a:solidFill>
                            <a:srgbClr val="202124"/>
                          </a:solidFill>
                          <a:latin typeface="Google Sans Flex"/>
                        </a:rPr>
                        <a:t>Same event twice; payment after expiry</a:t>
                      </a:r>
                    </a:p>
                  </a:txBody>
                  <a:tcPr anchor="ctr">
                    <a:solidFill>
                      <a:srgbClr val="F8F9FA"/>
                    </a:solidFill>
                  </a:tcPr>
                </a:tc>
                <a:tc>
                  <a:txBody>
                    <a:bodyPr wrap="square" lIns="73152" rIns="73152" tIns="27432" bIns="27432" anchor="ctr">
                      <a:noAutofit/>
                    </a:bodyPr>
                    <a:lstStyle/>
                    <a:p>
                      <a:pPr algn="l"/>
                      <a:r>
                        <a:rPr sz="950" b="0" i="0">
                          <a:solidFill>
                            <a:srgbClr val="202124"/>
                          </a:solidFill>
                          <a:latin typeface="Google Sans Flex"/>
                        </a:rPr>
                        <a:t>No double change; auto refund</a:t>
                      </a:r>
                    </a:p>
                  </a:txBody>
                  <a:tcPr anchor="ctr">
                    <a:solidFill>
                      <a:srgbClr val="F8F9FA"/>
                    </a:solidFill>
                  </a:tcPr>
                </a:tc>
                <a:tc>
                  <a:txBody>
                    <a:bodyPr wrap="square" lIns="73152" rIns="73152" tIns="27432" bIns="27432" anchor="ctr">
                      <a:noAutofit/>
                    </a:bodyPr>
                    <a:lstStyle/>
                    <a:p>
                      <a:pPr algn="l"/>
                      <a:r>
                        <a:rPr sz="950" b="0" i="0">
                          <a:solidFill>
                            <a:srgbClr val="188038"/>
                          </a:solidFill>
                          <a:latin typeface="Google Sans Flex"/>
                        </a:rPr>
                        <a:t>Pass</a:t>
                      </a:r>
                    </a:p>
                  </a:txBody>
                  <a:tcPr anchor="ctr">
                    <a:solidFill>
                      <a:srgbClr val="F8F9FA"/>
                    </a:solidFill>
                  </a:tcPr>
                </a:tc>
              </a:tr>
              <a:tr h="384048">
                <a:tc>
                  <a:txBody>
                    <a:bodyPr wrap="square" lIns="73152" rIns="73152" tIns="27432" bIns="27432" anchor="ctr">
                      <a:noAutofit/>
                    </a:bodyPr>
                    <a:lstStyle/>
                    <a:p>
                      <a:pPr algn="l"/>
                      <a:r>
                        <a:rPr sz="950" b="1" i="0">
                          <a:solidFill>
                            <a:srgbClr val="202124"/>
                          </a:solidFill>
                          <a:latin typeface="Google Sans Flex"/>
                        </a:rPr>
                        <a:t>Returns and the payout hold</a:t>
                      </a:r>
                    </a:p>
                  </a:txBody>
                  <a:tcPr anchor="ctr">
                    <a:solidFill>
                      <a:srgbClr val="F8F9FA"/>
                    </a:solidFill>
                  </a:tcPr>
                </a:tc>
                <a:tc>
                  <a:txBody>
                    <a:bodyPr wrap="square" lIns="73152" rIns="73152" tIns="27432" bIns="27432" anchor="ctr">
                      <a:noAutofit/>
                    </a:bodyPr>
                    <a:lstStyle/>
                    <a:p>
                      <a:pPr algn="l"/>
                      <a:r>
                        <a:rPr sz="950" b="0" i="0">
                          <a:solidFill>
                            <a:srgbClr val="202124"/>
                          </a:solidFill>
                          <a:latin typeface="Google Sans Flex"/>
                        </a:rPr>
                        <a:t>Refund before the payout; silent seller; parcel returned or lost</a:t>
                      </a:r>
                    </a:p>
                  </a:txBody>
                  <a:tcPr anchor="ctr">
                    <a:solidFill>
                      <a:srgbClr val="F8F9FA"/>
                    </a:solidFill>
                  </a:tcPr>
                </a:tc>
                <a:tc>
                  <a:txBody>
                    <a:bodyPr wrap="square" lIns="73152" rIns="73152" tIns="27432" bIns="27432" anchor="ctr">
                      <a:noAutofit/>
                    </a:bodyPr>
                    <a:lstStyle/>
                    <a:p>
                      <a:pPr algn="l"/>
                      <a:r>
                        <a:rPr sz="950" b="0" i="0">
                          <a:solidFill>
                            <a:srgbClr val="202124"/>
                          </a:solidFill>
                          <a:latin typeface="Google Sans Flex"/>
                        </a:rPr>
                        <a:t>Refund never depends on the seller</a:t>
                      </a:r>
                    </a:p>
                  </a:txBody>
                  <a:tcPr anchor="ctr">
                    <a:solidFill>
                      <a:srgbClr val="F8F9FA"/>
                    </a:solidFill>
                  </a:tcPr>
                </a:tc>
                <a:tc>
                  <a:txBody>
                    <a:bodyPr wrap="square" lIns="73152" rIns="73152" tIns="27432" bIns="27432" anchor="ctr">
                      <a:noAutofit/>
                    </a:bodyPr>
                    <a:lstStyle/>
                    <a:p>
                      <a:pPr algn="l"/>
                      <a:r>
                        <a:rPr sz="950" b="0" i="0">
                          <a:solidFill>
                            <a:srgbClr val="188038"/>
                          </a:solidFill>
                          <a:latin typeface="Google Sans Flex"/>
                        </a:rPr>
                        <a:t>Pass</a:t>
                      </a:r>
                    </a:p>
                  </a:txBody>
                  <a:tcPr anchor="ctr">
                    <a:solidFill>
                      <a:srgbClr val="F8F9FA"/>
                    </a:solidFill>
                  </a:tcPr>
                </a:tc>
              </a:tr>
              <a:tr h="384048">
                <a:tc>
                  <a:txBody>
                    <a:bodyPr wrap="square" lIns="73152" rIns="73152" tIns="27432" bIns="27432" anchor="ctr">
                      <a:noAutofit/>
                    </a:bodyPr>
                    <a:lstStyle/>
                    <a:p>
                      <a:pPr algn="l"/>
                      <a:r>
                        <a:rPr sz="950" b="1" i="0">
                          <a:solidFill>
                            <a:srgbClr val="202124"/>
                          </a:solidFill>
                          <a:latin typeface="Google Sans Flex"/>
                        </a:rPr>
                        <a:t>Stock-update understanding</a:t>
                      </a:r>
                    </a:p>
                  </a:txBody>
                  <a:tcPr anchor="ctr">
                    <a:solidFill>
                      <a:srgbClr val="FFFFFF"/>
                    </a:solidFill>
                  </a:tcPr>
                </a:tc>
                <a:tc>
                  <a:txBody>
                    <a:bodyPr wrap="square" lIns="73152" rIns="73152" tIns="27432" bIns="27432" anchor="ctr">
                      <a:noAutofit/>
                    </a:bodyPr>
                    <a:lstStyle/>
                    <a:p>
                      <a:pPr algn="l"/>
                      <a:r>
                        <a:rPr sz="950" b="0" i="0">
                          <a:solidFill>
                            <a:srgbClr val="202124"/>
                          </a:solidFill>
                          <a:latin typeface="Google Sans Flex"/>
                        </a:rPr>
                        <a:t>Intent accuracy on seller stock messages</a:t>
                      </a:r>
                    </a:p>
                  </a:txBody>
                  <a:tcPr anchor="ctr">
                    <a:solidFill>
                      <a:srgbClr val="FFFFFF"/>
                    </a:solidFill>
                  </a:tcPr>
                </a:tc>
                <a:tc>
                  <a:txBody>
                    <a:bodyPr wrap="square" lIns="73152" rIns="73152" tIns="27432" bIns="27432" anchor="ctr">
                      <a:noAutofit/>
                    </a:bodyPr>
                    <a:lstStyle/>
                    <a:p>
                      <a:pPr algn="l"/>
                      <a:r>
                        <a:rPr sz="950" b="0" i="0">
                          <a:solidFill>
                            <a:srgbClr val="202124"/>
                          </a:solidFill>
                          <a:latin typeface="Google Sans Flex"/>
                        </a:rPr>
                        <a:t>≥ 95%</a:t>
                      </a:r>
                    </a:p>
                  </a:txBody>
                  <a:tcPr anchor="ctr">
                    <a:solidFill>
                      <a:srgbClr val="FFFFFF"/>
                    </a:solidFill>
                  </a:tcPr>
                </a:tc>
                <a:tc>
                  <a:txBody>
                    <a:bodyPr wrap="square" lIns="73152" rIns="73152" tIns="27432" bIns="27432" anchor="ctr">
                      <a:noAutofit/>
                    </a:bodyPr>
                    <a:lstStyle/>
                    <a:p>
                      <a:pPr algn="l"/>
                      <a:r>
                        <a:rPr sz="950" b="0" i="0">
                          <a:solidFill>
                            <a:srgbClr val="5F6368"/>
                          </a:solidFill>
                          <a:latin typeface="Google Sans Flex"/>
                        </a:rPr>
                        <a:t>Not measured</a:t>
                      </a:r>
                    </a:p>
                  </a:txBody>
                  <a:tcPr anchor="ctr">
                    <a:solidFill>
                      <a:srgbClr val="FFFFFF"/>
                    </a:solidFill>
                  </a:tcPr>
                </a:tc>
              </a:tr>
            </a:tbl>
          </a:graphicData>
        </a:graphic>
      </p:graphicFrame>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7" name="Shape 147"/>
        <p:cNvGrpSpPr/>
        <p:nvPr/>
      </p:nvGrpSpPr>
      <p:grpSpPr>
        <a:xfrm>
          <a:off x="0" y="0"/>
          <a:ext cx="0" cy="0"/>
          <a:chOff x="0" y="0"/>
          <a:chExt cx="0" cy="0"/>
        </a:xfrm>
      </p:grpSpPr>
      <p:pic>
        <p:nvPicPr>
          <p:cNvPr id="148" name="Google Shape;148;p25"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49" name="Google Shape;149;p25"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50" name="Google Shape;150;p25"/>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51" name="Google Shape;151;p25"/>
          <p:cNvSpPr txBox="1"/>
          <p:nvPr/>
        </p:nvSpPr>
        <p:spPr>
          <a:xfrm>
            <a:off x="265350" y="663825"/>
            <a:ext cx="8943000" cy="4572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Additional Details/Future Development (if any)</a:t>
            </a:r>
            <a:endParaRPr sz="1600">
              <a:latin typeface="Google Sans Flex Medium"/>
              <a:ea typeface="Google Sans Flex Medium"/>
              <a:cs typeface="Google Sans Flex Medium"/>
              <a:sym typeface="Google Sans Flex Medium"/>
            </a:endParaRPr>
          </a:p>
        </p:txBody>
      </p:sp>
      <p:cxnSp>
        <p:nvCxnSpPr>
          <p:cNvPr id="152" name="Connector 151"/>
          <p:cNvCxnSpPr/>
          <p:nvPr/>
        </p:nvCxnSpPr>
        <p:spPr>
          <a:xfrm>
            <a:off x="1348740" y="1344168"/>
            <a:ext cx="6446519" cy="0"/>
          </a:xfrm>
          <a:prstGeom prst="line">
            <a:avLst/>
          </a:prstGeom>
          <a:ln w="25400">
            <a:solidFill>
              <a:srgbClr val="DADCE0"/>
            </a:solidFill>
          </a:ln>
        </p:spPr>
        <p:style>
          <a:lnRef idx="2">
            <a:schemeClr val="accent1"/>
          </a:lnRef>
          <a:fillRef idx="0">
            <a:schemeClr val="accent1"/>
          </a:fillRef>
          <a:effectRef idx="1">
            <a:schemeClr val="accent1"/>
          </a:effectRef>
          <a:fontRef idx="minor">
            <a:schemeClr val="tx1"/>
          </a:fontRef>
        </p:style>
      </p:cxnSp>
      <p:sp>
        <p:nvSpPr>
          <p:cNvPr id="153" name="Phase dot 1"/>
          <p:cNvSpPr/>
          <p:nvPr/>
        </p:nvSpPr>
        <p:spPr>
          <a:xfrm>
            <a:off x="1165860" y="1161288"/>
            <a:ext cx="365760" cy="365760"/>
          </a:xfrm>
          <a:prstGeom prst="ellipse">
            <a:avLst/>
          </a:prstGeom>
          <a:solidFill>
            <a:srgbClr val="1A73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ctr"/>
            <a:r>
              <a:rPr sz="1100" b="1" i="0">
                <a:solidFill>
                  <a:srgbClr val="FFFFFF"/>
                </a:solidFill>
                <a:latin typeface="Google Sans Flex"/>
              </a:rPr>
              <a:t>1</a:t>
            </a:r>
          </a:p>
        </p:txBody>
      </p:sp>
      <p:sp>
        <p:nvSpPr>
          <p:cNvPr id="154" name="Phase card 1"/>
          <p:cNvSpPr/>
          <p:nvPr/>
        </p:nvSpPr>
        <p:spPr>
          <a:xfrm>
            <a:off x="356616" y="1691640"/>
            <a:ext cx="1984248" cy="2103120"/>
          </a:xfrm>
          <a:prstGeom prst="roundRect">
            <a:avLst>
              <a:gd name="adj" fmla="val 3686"/>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 name="TextBox 154"/>
          <p:cNvSpPr txBox="1"/>
          <p:nvPr/>
        </p:nvSpPr>
        <p:spPr>
          <a:xfrm>
            <a:off x="484632" y="1801368"/>
            <a:ext cx="1746504" cy="1938528"/>
          </a:xfrm>
          <a:prstGeom prst="rect">
            <a:avLst/>
          </a:prstGeom>
          <a:noFill/>
        </p:spPr>
        <p:txBody>
          <a:bodyPr wrap="square" lIns="18288" rIns="18288" tIns="18288" bIns="18288" anchor="t">
            <a:noAutofit/>
          </a:bodyPr>
          <a:lstStyle/>
          <a:p>
            <a:pPr algn="l">
              <a:spcAft>
                <a:spcPts val="400"/>
              </a:spcAft>
            </a:pPr>
            <a:r>
              <a:rPr sz="1100" b="1" i="0">
                <a:solidFill>
                  <a:srgbClr val="1A73E8"/>
                </a:solidFill>
                <a:latin typeface="Google Sans Flex"/>
              </a:rPr>
              <a:t>Hackathon MVP</a:t>
            </a:r>
          </a:p>
          <a:p>
            <a:pPr algn="l" marL="128016" indent="-128016">
              <a:spcAft>
                <a:spcPts val="500"/>
              </a:spcAft>
              <a:buClr>
                <a:srgbClr val="1A73E8"/>
              </a:buClr>
              <a:buFont typeface="Arial"/>
              <a:buChar char="•"/>
            </a:pPr>
            <a:r>
              <a:rPr sz="1000" b="0" i="0">
                <a:solidFill>
                  <a:srgbClr val="202124"/>
                </a:solidFill>
                <a:latin typeface="Google Sans Flex"/>
              </a:rPr>
              <a:t>WhatsApp, Telegram, Instagram, CSV</a:t>
            </a:r>
          </a:p>
          <a:p>
            <a:pPr algn="l" marL="128016" indent="-128016">
              <a:spcAft>
                <a:spcPts val="500"/>
              </a:spcAft>
              <a:buClr>
                <a:srgbClr val="1A73E8"/>
              </a:buClr>
              <a:buFont typeface="Arial"/>
              <a:buChar char="•"/>
            </a:pPr>
            <a:r>
              <a:rPr sz="1000" b="0" i="0">
                <a:solidFill>
                  <a:srgbClr val="202124"/>
                </a:solidFill>
                <a:latin typeface="Google Sans Flex"/>
              </a:rPr>
              <a:t>MCP and store links live; UCP built and tested</a:t>
            </a:r>
          </a:p>
          <a:p>
            <a:pPr algn="l" marL="128016" indent="-128016">
              <a:spcAft>
                <a:spcPts val="500"/>
              </a:spcAft>
              <a:buClr>
                <a:srgbClr val="1A73E8"/>
              </a:buClr>
              <a:buFont typeface="Arial"/>
              <a:buChar char="•"/>
            </a:pPr>
            <a:r>
              <a:rPr sz="1000" b="0" i="0">
                <a:solidFill>
                  <a:srgbClr val="202124"/>
                </a:solidFill>
                <a:latin typeface="Google Sans Flex"/>
              </a:rPr>
              <a:t>Demo buyer agent on Gemini (ADK)</a:t>
            </a:r>
          </a:p>
          <a:p>
            <a:pPr algn="l" marL="128016" indent="-128016">
              <a:spcAft>
                <a:spcPts val="500"/>
              </a:spcAft>
              <a:buClr>
                <a:srgbClr val="1A73E8"/>
              </a:buClr>
              <a:buFont typeface="Arial"/>
              <a:buChar char="•"/>
            </a:pPr>
            <a:r>
              <a:rPr sz="1000" b="0" i="0">
                <a:solidFill>
                  <a:srgbClr val="202124"/>
                </a:solidFill>
                <a:latin typeface="Google Sans Flex"/>
              </a:rPr>
              <a:t>Payout hold and returns; mock QRIS and courier</a:t>
            </a:r>
          </a:p>
        </p:txBody>
      </p:sp>
      <p:sp>
        <p:nvSpPr>
          <p:cNvPr id="156" name="Phase dot 2"/>
          <p:cNvSpPr/>
          <p:nvPr/>
        </p:nvSpPr>
        <p:spPr>
          <a:xfrm>
            <a:off x="3314700" y="1161288"/>
            <a:ext cx="365760" cy="365760"/>
          </a:xfrm>
          <a:prstGeom prst="ellipse">
            <a:avLst/>
          </a:prstGeom>
          <a:solidFill>
            <a:srgbClr val="1880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ctr"/>
            <a:r>
              <a:rPr sz="1100" b="1" i="0">
                <a:solidFill>
                  <a:srgbClr val="FFFFFF"/>
                </a:solidFill>
                <a:latin typeface="Google Sans Flex"/>
              </a:rPr>
              <a:t>2</a:t>
            </a:r>
          </a:p>
        </p:txBody>
      </p:sp>
      <p:sp>
        <p:nvSpPr>
          <p:cNvPr id="157" name="Phase card 2"/>
          <p:cNvSpPr/>
          <p:nvPr/>
        </p:nvSpPr>
        <p:spPr>
          <a:xfrm>
            <a:off x="2505456" y="1691640"/>
            <a:ext cx="1984248" cy="2103120"/>
          </a:xfrm>
          <a:prstGeom prst="roundRect">
            <a:avLst>
              <a:gd name="adj" fmla="val 3686"/>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 name="TextBox 157"/>
          <p:cNvSpPr txBox="1"/>
          <p:nvPr/>
        </p:nvSpPr>
        <p:spPr>
          <a:xfrm>
            <a:off x="2633472" y="1801368"/>
            <a:ext cx="1746504" cy="1938528"/>
          </a:xfrm>
          <a:prstGeom prst="rect">
            <a:avLst/>
          </a:prstGeom>
          <a:noFill/>
        </p:spPr>
        <p:txBody>
          <a:bodyPr wrap="square" lIns="18288" rIns="18288" tIns="18288" bIns="18288" anchor="t">
            <a:noAutofit/>
          </a:bodyPr>
          <a:lstStyle/>
          <a:p>
            <a:pPr algn="l">
              <a:spcAft>
                <a:spcPts val="400"/>
              </a:spcAft>
            </a:pPr>
            <a:r>
              <a:rPr sz="1100" b="1" i="0">
                <a:solidFill>
                  <a:srgbClr val="188038"/>
                </a:solidFill>
                <a:latin typeface="Google Sans Flex"/>
              </a:rPr>
              <a:t>Indonesia pilot</a:t>
            </a:r>
          </a:p>
          <a:p>
            <a:pPr algn="l" marL="128016" indent="-128016">
              <a:spcAft>
                <a:spcPts val="500"/>
              </a:spcAft>
              <a:buClr>
                <a:srgbClr val="188038"/>
              </a:buClr>
              <a:buFont typeface="Arial"/>
              <a:buChar char="•"/>
            </a:pPr>
            <a:r>
              <a:rPr sz="1000" b="0" i="0">
                <a:solidFill>
                  <a:srgbClr val="202124"/>
                </a:solidFill>
                <a:latin typeface="Google Sans Flex"/>
              </a:rPr>
              <a:t>50–100 sellers onboarded</a:t>
            </a:r>
          </a:p>
          <a:p>
            <a:pPr algn="l" marL="128016" indent="-128016">
              <a:spcAft>
                <a:spcPts val="500"/>
              </a:spcAft>
              <a:buClr>
                <a:srgbClr val="188038"/>
              </a:buClr>
              <a:buFont typeface="Arial"/>
              <a:buChar char="•"/>
            </a:pPr>
            <a:r>
              <a:rPr sz="1000" b="0" i="0">
                <a:solidFill>
                  <a:srgbClr val="202124"/>
                </a:solidFill>
                <a:latin typeface="Google Sans Flex"/>
              </a:rPr>
              <a:t>Firestore, Pub/Sub, Cloud Tasks</a:t>
            </a:r>
          </a:p>
          <a:p>
            <a:pPr algn="l" marL="128016" indent="-128016">
              <a:spcAft>
                <a:spcPts val="500"/>
              </a:spcAft>
              <a:buClr>
                <a:srgbClr val="188038"/>
              </a:buClr>
              <a:buFont typeface="Arial"/>
              <a:buChar char="•"/>
            </a:pPr>
            <a:r>
              <a:rPr sz="1000" b="0" i="0">
                <a:solidFill>
                  <a:srgbClr val="202124"/>
                </a:solidFill>
                <a:latin typeface="Google Sans Flex"/>
              </a:rPr>
              <a:t>KYC and payouts via sub-accounts</a:t>
            </a:r>
          </a:p>
          <a:p>
            <a:pPr algn="l" marL="128016" indent="-128016">
              <a:spcAft>
                <a:spcPts val="500"/>
              </a:spcAft>
              <a:buClr>
                <a:srgbClr val="188038"/>
              </a:buClr>
              <a:buFont typeface="Arial"/>
              <a:buChar char="•"/>
            </a:pPr>
            <a:r>
              <a:rPr sz="1000" b="0" i="0">
                <a:solidFill>
                  <a:srgbClr val="202124"/>
                </a:solidFill>
                <a:latin typeface="Google Sans Flex"/>
              </a:rPr>
              <a:t>Sheets sync, Merchant Center feed</a:t>
            </a:r>
          </a:p>
        </p:txBody>
      </p:sp>
      <p:sp>
        <p:nvSpPr>
          <p:cNvPr id="159" name="Phase dot 3"/>
          <p:cNvSpPr/>
          <p:nvPr/>
        </p:nvSpPr>
        <p:spPr>
          <a:xfrm>
            <a:off x="5463540" y="1161288"/>
            <a:ext cx="365760" cy="365760"/>
          </a:xfrm>
          <a:prstGeom prst="ellipse">
            <a:avLst/>
          </a:prstGeom>
          <a:solidFill>
            <a:srgbClr val="B06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ctr"/>
            <a:r>
              <a:rPr sz="1100" b="1" i="0">
                <a:solidFill>
                  <a:srgbClr val="FFFFFF"/>
                </a:solidFill>
                <a:latin typeface="Google Sans Flex"/>
              </a:rPr>
              <a:t>3</a:t>
            </a:r>
          </a:p>
        </p:txBody>
      </p:sp>
      <p:sp>
        <p:nvSpPr>
          <p:cNvPr id="160" name="Phase card 3"/>
          <p:cNvSpPr/>
          <p:nvPr/>
        </p:nvSpPr>
        <p:spPr>
          <a:xfrm>
            <a:off x="4654296" y="1691640"/>
            <a:ext cx="1984248" cy="2103120"/>
          </a:xfrm>
          <a:prstGeom prst="roundRect">
            <a:avLst>
              <a:gd name="adj" fmla="val 3686"/>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 name="TextBox 160"/>
          <p:cNvSpPr txBox="1"/>
          <p:nvPr/>
        </p:nvSpPr>
        <p:spPr>
          <a:xfrm>
            <a:off x="4782312" y="1801368"/>
            <a:ext cx="1746504" cy="1938528"/>
          </a:xfrm>
          <a:prstGeom prst="rect">
            <a:avLst/>
          </a:prstGeom>
          <a:noFill/>
        </p:spPr>
        <p:txBody>
          <a:bodyPr wrap="square" lIns="18288" rIns="18288" tIns="18288" bIns="18288" anchor="t">
            <a:noAutofit/>
          </a:bodyPr>
          <a:lstStyle/>
          <a:p>
            <a:pPr algn="l">
              <a:spcAft>
                <a:spcPts val="400"/>
              </a:spcAft>
            </a:pPr>
            <a:r>
              <a:rPr sz="1100" b="1" i="0">
                <a:solidFill>
                  <a:srgbClr val="B06000"/>
                </a:solidFill>
                <a:latin typeface="Google Sans Flex"/>
              </a:rPr>
              <a:t>More channels</a:t>
            </a:r>
          </a:p>
          <a:p>
            <a:pPr algn="l" marL="128016" indent="-128016">
              <a:spcAft>
                <a:spcPts val="500"/>
              </a:spcAft>
              <a:buClr>
                <a:srgbClr val="B06000"/>
              </a:buClr>
              <a:buFont typeface="Arial"/>
              <a:buChar char="•"/>
            </a:pPr>
            <a:r>
              <a:rPr sz="1000" b="0" i="0">
                <a:solidFill>
                  <a:srgbClr val="202124"/>
                </a:solidFill>
                <a:latin typeface="Google Sans Flex"/>
              </a:rPr>
              <a:t>OMS adapters: Jubelio, Ginee</a:t>
            </a:r>
          </a:p>
          <a:p>
            <a:pPr algn="l" marL="128016" indent="-128016">
              <a:spcAft>
                <a:spcPts val="500"/>
              </a:spcAft>
              <a:buClr>
                <a:srgbClr val="B06000"/>
              </a:buClr>
              <a:buFont typeface="Arial"/>
              <a:buChar char="•"/>
            </a:pPr>
            <a:r>
              <a:rPr sz="1000" b="0" i="0">
                <a:solidFill>
                  <a:srgbClr val="202124"/>
                </a:solidFill>
                <a:latin typeface="Google Sans Flex"/>
              </a:rPr>
              <a:t>E-commerce plugins, WooCommerce first</a:t>
            </a:r>
          </a:p>
          <a:p>
            <a:pPr algn="l" marL="128016" indent="-128016">
              <a:spcAft>
                <a:spcPts val="500"/>
              </a:spcAft>
              <a:buClr>
                <a:srgbClr val="B06000"/>
              </a:buClr>
              <a:buFont typeface="Arial"/>
              <a:buChar char="•"/>
            </a:pPr>
            <a:r>
              <a:rPr sz="1000" b="0" i="0">
                <a:solidFill>
                  <a:srgbClr val="202124"/>
                </a:solidFill>
                <a:latin typeface="Google Sans Flex"/>
              </a:rPr>
              <a:t>Shopee and TikTok Shop API sync</a:t>
            </a:r>
          </a:p>
          <a:p>
            <a:pPr algn="l" marL="128016" indent="-128016">
              <a:spcAft>
                <a:spcPts val="500"/>
              </a:spcAft>
              <a:buClr>
                <a:srgbClr val="B06000"/>
              </a:buClr>
              <a:buFont typeface="Arial"/>
              <a:buChar char="•"/>
            </a:pPr>
            <a:r>
              <a:rPr sz="1000" b="0" i="0">
                <a:solidFill>
                  <a:srgbClr val="202124"/>
                </a:solidFill>
                <a:latin typeface="Google Sans Flex"/>
              </a:rPr>
              <a:t>Sales analytics for sellers</a:t>
            </a:r>
          </a:p>
        </p:txBody>
      </p:sp>
      <p:sp>
        <p:nvSpPr>
          <p:cNvPr id="162" name="Phase dot 4"/>
          <p:cNvSpPr/>
          <p:nvPr/>
        </p:nvSpPr>
        <p:spPr>
          <a:xfrm>
            <a:off x="7612380" y="1161288"/>
            <a:ext cx="365760" cy="365760"/>
          </a:xfrm>
          <a:prstGeom prst="ellipse">
            <a:avLst/>
          </a:prstGeom>
          <a:solidFill>
            <a:srgbClr val="D9302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ctr"/>
            <a:r>
              <a:rPr sz="1100" b="1" i="0">
                <a:solidFill>
                  <a:srgbClr val="FFFFFF"/>
                </a:solidFill>
                <a:latin typeface="Google Sans Flex"/>
              </a:rPr>
              <a:t>4</a:t>
            </a:r>
          </a:p>
        </p:txBody>
      </p:sp>
      <p:sp>
        <p:nvSpPr>
          <p:cNvPr id="163" name="Phase card 4"/>
          <p:cNvSpPr/>
          <p:nvPr/>
        </p:nvSpPr>
        <p:spPr>
          <a:xfrm>
            <a:off x="6803136" y="1691640"/>
            <a:ext cx="1984248" cy="2103120"/>
          </a:xfrm>
          <a:prstGeom prst="roundRect">
            <a:avLst>
              <a:gd name="adj" fmla="val 3686"/>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 name="TextBox 163"/>
          <p:cNvSpPr txBox="1"/>
          <p:nvPr/>
        </p:nvSpPr>
        <p:spPr>
          <a:xfrm>
            <a:off x="6931152" y="1801368"/>
            <a:ext cx="1746504" cy="1938528"/>
          </a:xfrm>
          <a:prstGeom prst="rect">
            <a:avLst/>
          </a:prstGeom>
          <a:noFill/>
        </p:spPr>
        <p:txBody>
          <a:bodyPr wrap="square" lIns="18288" rIns="18288" tIns="18288" bIns="18288" anchor="t">
            <a:noAutofit/>
          </a:bodyPr>
          <a:lstStyle/>
          <a:p>
            <a:pPr algn="l">
              <a:spcAft>
                <a:spcPts val="400"/>
              </a:spcAft>
            </a:pPr>
            <a:r>
              <a:rPr sz="1100" b="1" i="0">
                <a:solidFill>
                  <a:srgbClr val="D93025"/>
                </a:solidFill>
                <a:latin typeface="Google Sans Flex"/>
              </a:rPr>
              <a:t>Regional</a:t>
            </a:r>
          </a:p>
          <a:p>
            <a:pPr algn="l" marL="128016" indent="-128016">
              <a:spcAft>
                <a:spcPts val="500"/>
              </a:spcAft>
              <a:buClr>
                <a:srgbClr val="D93025"/>
              </a:buClr>
              <a:buFont typeface="Arial"/>
              <a:buChar char="•"/>
            </a:pPr>
            <a:r>
              <a:rPr sz="1000" b="0" i="0">
                <a:solidFill>
                  <a:srgbClr val="202124"/>
                </a:solidFill>
                <a:latin typeface="Google Sans Flex"/>
              </a:rPr>
              <a:t>Country packs: MY, PH, TH, VN</a:t>
            </a:r>
          </a:p>
          <a:p>
            <a:pPr algn="l" marL="128016" indent="-128016">
              <a:spcAft>
                <a:spcPts val="500"/>
              </a:spcAft>
              <a:buClr>
                <a:srgbClr val="D93025"/>
              </a:buClr>
              <a:buFont typeface="Arial"/>
              <a:buChar char="•"/>
            </a:pPr>
            <a:r>
              <a:rPr sz="1000" b="0" i="0">
                <a:solidFill>
                  <a:srgbClr val="202124"/>
                </a:solidFill>
                <a:latin typeface="Google Sans Flex"/>
              </a:rPr>
              <a:t>More chat adapters: Instagram DMs, LINE, Zalo</a:t>
            </a:r>
          </a:p>
          <a:p>
            <a:pPr algn="l" marL="128016" indent="-128016">
              <a:spcAft>
                <a:spcPts val="500"/>
              </a:spcAft>
              <a:buClr>
                <a:srgbClr val="D93025"/>
              </a:buClr>
              <a:buFont typeface="Arial"/>
              <a:buChar char="•"/>
            </a:pPr>
            <a:r>
              <a:rPr sz="1000" b="0" i="0">
                <a:solidFill>
                  <a:srgbClr val="202124"/>
                </a:solidFill>
                <a:latin typeface="Google Sans Flex"/>
              </a:rPr>
              <a:t>Stripe in supported markets</a:t>
            </a:r>
          </a:p>
          <a:p>
            <a:pPr algn="l" marL="128016" indent="-128016">
              <a:spcAft>
                <a:spcPts val="500"/>
              </a:spcAft>
              <a:buClr>
                <a:srgbClr val="D93025"/>
              </a:buClr>
              <a:buFont typeface="Arial"/>
              <a:buChar char="•"/>
            </a:pPr>
            <a:r>
              <a:rPr sz="1000" b="0" i="0">
                <a:solidFill>
                  <a:srgbClr val="202124"/>
                </a:solidFill>
                <a:latin typeface="Google Sans Flex"/>
              </a:rPr>
              <a:t>Cross-border shipping and duties</a:t>
            </a:r>
          </a:p>
        </p:txBody>
      </p:sp>
      <p:sp>
        <p:nvSpPr>
          <p:cNvPr id="165" name="Validation card"/>
          <p:cNvSpPr/>
          <p:nvPr/>
        </p:nvSpPr>
        <p:spPr>
          <a:xfrm>
            <a:off x="356616" y="3950208"/>
            <a:ext cx="8430767" cy="850391"/>
          </a:xfrm>
          <a:prstGeom prst="roundRect">
            <a:avLst>
              <a:gd name="adj" fmla="val 8602"/>
            </a:avLst>
          </a:prstGeom>
          <a:solidFill>
            <a:srgbClr val="FEF7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tIns="91440" bIns="91440">
            <a:noAutofit/>
          </a:bodyPr>
          <a:lstStyle/>
          <a:p>
            <a:pPr algn="l">
              <a:spcAft>
                <a:spcPts val="300"/>
              </a:spcAft>
            </a:pPr>
            <a:r>
              <a:rPr sz="1000" b="1" i="0">
                <a:solidFill>
                  <a:srgbClr val="B06000"/>
                </a:solidFill>
                <a:latin typeface="Google Sans Flex"/>
              </a:rPr>
              <a:t>What we will validate next</a:t>
            </a:r>
          </a:p>
          <a:p>
            <a:pPr algn="l"/>
            <a:r>
              <a:rPr sz="900" b="0" i="0">
                <a:solidFill>
                  <a:srgbClr val="202124"/>
                </a:solidFill>
                <a:latin typeface="Google Sans Flex"/>
              </a:rPr>
              <a:t>Ten seller interviews: willingness to pay and to wait for the payout, orders per month (break-even ≈ 20), return rates · whether the payment provider can enforce the payout hold, and its legal classification · which door buyers use (recorded per order: store link, MCP, UCP) · UCP timing in Indonesia · extraction quality with Gemini</a:t>
            </a: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5" name="Shape 155"/>
        <p:cNvGrpSpPr/>
        <p:nvPr/>
      </p:nvGrpSpPr>
      <p:grpSpPr>
        <a:xfrm>
          <a:off x="0" y="0"/>
          <a:ext cx="0" cy="0"/>
          <a:chOff x="0" y="0"/>
          <a:chExt cx="0" cy="0"/>
        </a:xfrm>
      </p:grpSpPr>
      <p:pic>
        <p:nvPicPr>
          <p:cNvPr id="156" name="Google Shape;156;p26"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57" name="Google Shape;157;p26"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58" name="Google Shape;158;p26"/>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59" name="Google Shape;159;p26"/>
          <p:cNvSpPr txBox="1"/>
          <p:nvPr/>
        </p:nvSpPr>
        <p:spPr>
          <a:xfrm>
            <a:off x="265350" y="663825"/>
            <a:ext cx="8943000" cy="4572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Provide links to your:</a:t>
            </a:r>
            <a:endParaRPr sz="1600">
              <a:latin typeface="Google Sans Flex Medium"/>
              <a:ea typeface="Google Sans Flex Medium"/>
              <a:cs typeface="Google Sans Flex Medium"/>
              <a:sym typeface="Google Sans Flex Medium"/>
            </a:endParaRPr>
          </a:p>
        </p:txBody>
      </p:sp>
      <p:sp>
        <p:nvSpPr>
          <p:cNvPr id="160" name="Link row 1"/>
          <p:cNvSpPr/>
          <p:nvPr/>
        </p:nvSpPr>
        <p:spPr>
          <a:xfrm>
            <a:off x="356616" y="1252728"/>
            <a:ext cx="8430767" cy="548640"/>
          </a:xfrm>
          <a:prstGeom prst="roundRect">
            <a:avLst>
              <a:gd name="adj" fmla="val 13333"/>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 name="TextBox 160"/>
          <p:cNvSpPr txBox="1"/>
          <p:nvPr/>
        </p:nvSpPr>
        <p:spPr>
          <a:xfrm>
            <a:off x="539496" y="1252728"/>
            <a:ext cx="2743200" cy="548640"/>
          </a:xfrm>
          <a:prstGeom prst="rect">
            <a:avLst/>
          </a:prstGeom>
          <a:noFill/>
        </p:spPr>
        <p:txBody>
          <a:bodyPr wrap="square" lIns="18288" rIns="18288" tIns="18288" bIns="18288" anchor="ctr">
            <a:noAutofit/>
          </a:bodyPr>
          <a:lstStyle/>
          <a:p>
            <a:pPr algn="l"/>
            <a:r>
              <a:rPr sz="1100" b="1" i="0">
                <a:solidFill>
                  <a:srgbClr val="202124"/>
                </a:solidFill>
                <a:latin typeface="Google Sans Flex"/>
              </a:rPr>
              <a:t>GitHub public repository</a:t>
            </a:r>
          </a:p>
        </p:txBody>
      </p:sp>
      <p:sp>
        <p:nvSpPr>
          <p:cNvPr id="162" name="TextBox 161"/>
          <p:cNvSpPr txBox="1"/>
          <p:nvPr/>
        </p:nvSpPr>
        <p:spPr>
          <a:xfrm>
            <a:off x="3374136" y="1252728"/>
            <a:ext cx="5230367" cy="548640"/>
          </a:xfrm>
          <a:prstGeom prst="rect">
            <a:avLst/>
          </a:prstGeom>
          <a:noFill/>
        </p:spPr>
        <p:txBody>
          <a:bodyPr wrap="square" lIns="18288" rIns="18288" tIns="18288" bIns="18288" anchor="ctr">
            <a:noAutofit/>
          </a:bodyPr>
          <a:lstStyle/>
          <a:p>
            <a:pPr algn="l"/>
            <a:r>
              <a:rPr sz="1100" b="0" i="0">
                <a:solidFill>
                  <a:srgbClr val="1A73E8"/>
                </a:solidFill>
                <a:latin typeface="Google Sans Flex"/>
                <a:hlinkClick r:id="rId5"/>
              </a:rPr>
              <a:t>github.com/galihsatriawan/etalase</a:t>
            </a:r>
          </a:p>
        </p:txBody>
      </p:sp>
      <p:sp>
        <p:nvSpPr>
          <p:cNvPr id="163" name="Link row 2"/>
          <p:cNvSpPr/>
          <p:nvPr/>
        </p:nvSpPr>
        <p:spPr>
          <a:xfrm>
            <a:off x="356616" y="1938528"/>
            <a:ext cx="8430767" cy="548640"/>
          </a:xfrm>
          <a:prstGeom prst="roundRect">
            <a:avLst>
              <a:gd name="adj" fmla="val 13333"/>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 name="TextBox 163"/>
          <p:cNvSpPr txBox="1"/>
          <p:nvPr/>
        </p:nvSpPr>
        <p:spPr>
          <a:xfrm>
            <a:off x="539496" y="1938528"/>
            <a:ext cx="2743200" cy="548640"/>
          </a:xfrm>
          <a:prstGeom prst="rect">
            <a:avLst/>
          </a:prstGeom>
          <a:noFill/>
        </p:spPr>
        <p:txBody>
          <a:bodyPr wrap="square" lIns="18288" rIns="18288" tIns="18288" bIns="18288" anchor="ctr">
            <a:noAutofit/>
          </a:bodyPr>
          <a:lstStyle/>
          <a:p>
            <a:pPr algn="l"/>
            <a:r>
              <a:rPr sz="1100" b="1" i="0">
                <a:solidFill>
                  <a:srgbClr val="202124"/>
                </a:solidFill>
                <a:latin typeface="Google Sans Flex"/>
              </a:rPr>
              <a:t>Demo video (under 3 minutes)</a:t>
            </a:r>
          </a:p>
        </p:txBody>
      </p:sp>
      <p:sp>
        <p:nvSpPr>
          <p:cNvPr id="165" name="TextBox 164"/>
          <p:cNvSpPr txBox="1"/>
          <p:nvPr/>
        </p:nvSpPr>
        <p:spPr>
          <a:xfrm>
            <a:off x="3374136" y="1938528"/>
            <a:ext cx="5230367" cy="548640"/>
          </a:xfrm>
          <a:prstGeom prst="rect">
            <a:avLst/>
          </a:prstGeom>
          <a:noFill/>
        </p:spPr>
        <p:txBody>
          <a:bodyPr wrap="square" lIns="18288" rIns="18288" tIns="18288" bIns="18288" anchor="ctr">
            <a:noAutofit/>
          </a:bodyPr>
          <a:lstStyle/>
          <a:p>
            <a:pPr algn="l"/>
            <a:r>
              <a:rPr sz="1100" b="0" i="0">
                <a:solidFill>
                  <a:srgbClr val="1A73E8"/>
                </a:solidFill>
                <a:latin typeface="Google Sans Flex"/>
              </a:rPr>
              <a:t>[Add YouTube / Drive link]</a:t>
            </a:r>
          </a:p>
        </p:txBody>
      </p:sp>
      <p:sp>
        <p:nvSpPr>
          <p:cNvPr id="166" name="Link row 3"/>
          <p:cNvSpPr/>
          <p:nvPr/>
        </p:nvSpPr>
        <p:spPr>
          <a:xfrm>
            <a:off x="356616" y="2624328"/>
            <a:ext cx="8430767" cy="548640"/>
          </a:xfrm>
          <a:prstGeom prst="roundRect">
            <a:avLst>
              <a:gd name="adj" fmla="val 13333"/>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 name="TextBox 166"/>
          <p:cNvSpPr txBox="1"/>
          <p:nvPr/>
        </p:nvSpPr>
        <p:spPr>
          <a:xfrm>
            <a:off x="539496" y="2624328"/>
            <a:ext cx="2743200" cy="548640"/>
          </a:xfrm>
          <a:prstGeom prst="rect">
            <a:avLst/>
          </a:prstGeom>
          <a:noFill/>
        </p:spPr>
        <p:txBody>
          <a:bodyPr wrap="square" lIns="18288" rIns="18288" tIns="18288" bIns="18288" anchor="ctr">
            <a:noAutofit/>
          </a:bodyPr>
          <a:lstStyle/>
          <a:p>
            <a:pPr algn="l"/>
            <a:r>
              <a:rPr sz="1100" b="1" i="0">
                <a:solidFill>
                  <a:srgbClr val="202124"/>
                </a:solidFill>
                <a:latin typeface="Google Sans Flex"/>
              </a:rPr>
              <a:t>Final product link</a:t>
            </a:r>
          </a:p>
        </p:txBody>
      </p:sp>
      <p:sp>
        <p:nvSpPr>
          <p:cNvPr id="168" name="TextBox 167"/>
          <p:cNvSpPr txBox="1"/>
          <p:nvPr/>
        </p:nvSpPr>
        <p:spPr>
          <a:xfrm>
            <a:off x="3374136" y="2624328"/>
            <a:ext cx="5230367" cy="548640"/>
          </a:xfrm>
          <a:prstGeom prst="rect">
            <a:avLst/>
          </a:prstGeom>
          <a:noFill/>
        </p:spPr>
        <p:txBody>
          <a:bodyPr wrap="square" lIns="18288" rIns="18288" tIns="18288" bIns="18288" anchor="ctr">
            <a:noAutofit/>
          </a:bodyPr>
          <a:lstStyle/>
          <a:p>
            <a:pPr algn="l"/>
            <a:r>
              <a:rPr sz="1100" b="0" i="0">
                <a:solidFill>
                  <a:srgbClr val="1A73E8"/>
                </a:solidFill>
                <a:latin typeface="Google Sans Flex"/>
                <a:hlinkClick r:id="rId6"/>
              </a:rPr>
              <a:t>etalase-demo-2gzn7hbgwa-et.a.run.app/demo</a:t>
            </a: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0" name="Shape 170"/>
        <p:cNvGrpSpPr/>
        <p:nvPr/>
      </p:nvGrpSpPr>
      <p:grpSpPr>
        <a:xfrm>
          <a:off x="0" y="0"/>
          <a:ext cx="0" cy="0"/>
          <a:chOff x="0" y="0"/>
          <a:chExt cx="0" cy="0"/>
        </a:xfrm>
      </p:grpSpPr>
      <p:pic>
        <p:nvPicPr>
          <p:cNvPr id="171" name="Google Shape;171;p28"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72" name="Google Shape;172;p28" title="Frame 145.png"/>
          <p:cNvPicPr preferRelativeResize="0"/>
          <p:nvPr/>
        </p:nvPicPr>
        <p:blipFill>
          <a:blip r:embed="rId4">
            <a:alphaModFix/>
          </a:blip>
          <a:stretch>
            <a:fillRect/>
          </a:stretch>
        </p:blipFill>
        <p:spPr>
          <a:xfrm>
            <a:off x="0" y="0"/>
            <a:ext cx="9144000" cy="5143516"/>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